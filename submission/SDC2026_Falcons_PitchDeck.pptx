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evening. We are Falcons, from Xiamen University Malaysia. Ten minutes, five people, one order.  /  不报全队名字，不念标题。手放到翻页键上。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message arrived at six in the evening, on a micro-wholesaler's phone. Two bags of one-kilo sugar. Ten trays of eggs, if we have them. Six facts must be settled before anything can be picked. Which pack size. Which tier price. How much onion is left. Whether “if we have them” means fewer, or none. Whether two-eighty is below her tier price. Which egg grade. None of the six is in the text. The missing facts are the hard part.  /  六个问题一条一顿。最后一句停 1 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this for? A micro wholesaler. One clerk takes the order. One owner sets the price. One phone holds the message. Twenty to eighty orders a day. No ERP. No integration. No IT person — and no one to configure it. Today she settles all six from memory. That works — until eleven messages land at once.  /  One clerk. One owner. A phone. 三个短句拆开，每句留半拍。twenty to eighty 放慢。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answers already exist. A human is accurate but slow. A translating bot makes the message look solved, and the pack size is still wrong. Pack size is not a language problem. A flag-everything checker stops the work and hands it back. A red flag is a question, not an answer. All three improve the message. The facts are somewhere else.  /  每列指一下屏幕，不要逐字念小字。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the model proposes, rules settle, a named person decides. One — the model never prices. It proposes a product, a unit, a pack size, or says UNKNOWN. It cannot approve, and it cannot issue a delivery order. Two — the facts are computed, not generated. Tier price and stock come from her own catalogue. Three — when the data cannot settle a question, the draft stops, at a named desk. The next four minutes take one layer each.  /  One / Two / Three 重读。最后一句是交棒的桥，说完停顿。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is a business and not a demo. This is a second shop — a hardware and cleaning distributor. Same build, different configuration. Forty products, then sixteen. Zero lines of application code changed. Changing merchant means changing configuration, not code. That is what lets one build sell to a hundred shops. That is the commercial case, not a feature.  /  Zero lines… 说完停一拍。不要说成已有客户。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approved delivery order. Never per seat. Parsing is free. Fallback is free. Rejection is free. We charge only when she approved one. Measured cost: about forty cents per thousand orders, model time only. The price is not set — freemium, then per order. We will not print a number we cannot defend.  /  顺序：计费单位 → 成本 → 承认没定价。Never per seat 后停半拍。</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Minghao, backend and rules. The model never prices. It can propose a product, a unit, a pack size, or say UNKNOWN. Every number you see is computed from her own catalogue: her price, her stock, her pack size. If the data cannot evidence a field, it blocks. It does not guess. Under that is an approval state machine. Unsaved edits cannot be approved. A below-tier price cannot pass without the owner. A cross-tenant read returns 404. Forty-one permission checks. Six concurrent runs, one delivery order each. Every one of them carries a human signature. That is where the numbers come from.  /  60 秒。先讲规则，再讲状态机；三张图依次对应审批卡住、跨租户 404、41/41 矩阵，指到再报数。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Peicheng, AI and deployment. A good demo proves the happy path; production is judged on the bad day. Our innovation is making failure visible: deterministic fallback, on-screen mode, no silent guess. The core is an evidence-bound AI contract. Qwen proposes product, quantity, unit and pack; unsupported fields are blocked, not guessed. The model never sets price, stock or approval. The 4.1-second timeout follows measured p95 plus one second and triggers fallback. A historical scale-from-zero cold start took 198.5 seconds. Warm p95: 3.15 seconds over twenty warm calls, zero fallbacks. That is reliability, not accuracy; a system, not just a demo.  /  60 秒。p95 用 3.15，不要再提 3.08。198.5 是历史真实冷启动，终端里的 2.73 是预热首调，不要并列。两张图按「顺利路径 → 终端与控制台」的顺序指。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first screen] I am Lianghui, responsible for the frontend. Look at this order: ten trays of eggs, but no grade. The screen shows both options instead of choosing for the clerk. [point to Which grade?] Here it asks “Which grade?” and prepares a question for the customer. The next step is “Resolve checks.” Approval must wait.  /  指图与语音同步，不另加解释。这一页 30 秒，翻页前把手停在「Resolve checks」上。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warehouse screen] Now look at the warehouse view: products, pack sizes, quantities, and units. No prices or customer contacts. [turn to the judges] My job is to make uncertainty actionable, and give each role the information needed for the next step. These screenshots show the local demo workflow.  /  英文共 91 词，按 105 词/分约 52 秒，必须带两次画面切换掐表排练。仓库截图是预置 DO，不要说成是鸡蛋草稿生成的单据。</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warehouse screen] Now look at the warehouse view: products, pack sizes, quantities, and units. No prices or customer contacts. [turn to the judges] My job is to make uncertainty actionable, and give each role the information needed for the next step. These screenshots show the local demo workflow.  /  英文共 91 词，按 105 词/分约 52 秒，必须带两次画面切换掐表排练。仓库截图是预置 DO，不要说成是鸡蛋草稿生成的单据。</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Jingxi, data and quality. Anyone can build a demo that looks right. The question is who wrote the answer. Ours was written by us, against the business rules — not copied from the model. The scoring is strict: a case passes only when all six fields are right at once. Eight of twenty-three do. Small sample. We built it. I will not round it up. Every frozen file carries a SHA-256, so a re-run can be checked. Two tenants, one build. That is the only accuracy number we have, and we publish it.  /  60 秒。这张图是冻结的预期判定（GREEN 8），必须同时说「全部用例仍是 NOT_RUN」，不能说成这次跑过了。8/23 说完立刻补「小样本、自建」，不要等评委问。</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product, live. We start at the front door: dark or light, the same screen. Then the workspace — connected to the live API, and I am the clerk. One customer, one message. I paste exactly what she wrote.  /  10 秒。演示人 Ye，旁白 Zhan。说完立刻切浏览器；不在台上输 token、不登录。</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page. Use only if the live site fails. Narrate the steps on screen; never debug in front of the judges.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page. Use only if the live site fails. Narrate the steps on screen; never debug in front of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74320"/>
          </a:xfrm>
          <a:prstGeom prst="rect">
            <a:avLst/>
          </a:prstGeom>
          <a:noFill/>
        </p:spPr>
        <p:txBody>
          <a:bodyPr wrap="square" lIns="0" rIns="0" tIns="0" bIns="0" anchor="t">
            <a:spAutoFit/>
          </a:bodyPr>
          <a:lstStyle/>
          <a:p>
            <a:pPr algn="l"/>
            <a:r>
              <a:rPr sz="1040" b="0" i="0" spc="140">
                <a:solidFill>
                  <a:srgbClr val="9AA6B8"/>
                </a:solidFill>
                <a:latin typeface="Segoe UI"/>
              </a:rPr>
              <a:t>SDC HACKATHON 2026 · DOMAIN 2        ORBYTE SMART SME CHALLENGE</a:t>
            </a:r>
          </a:p>
        </p:txBody>
      </p:sp>
      <p:sp>
        <p:nvSpPr>
          <p:cNvPr id="4" name="TextBox 3"/>
          <p:cNvSpPr txBox="1"/>
          <p:nvPr/>
        </p:nvSpPr>
        <p:spPr>
          <a:xfrm>
            <a:off x="658368" y="1783080"/>
            <a:ext cx="10874959" cy="1406599"/>
          </a:xfrm>
          <a:prstGeom prst="rect">
            <a:avLst/>
          </a:prstGeom>
          <a:noFill/>
        </p:spPr>
        <p:txBody>
          <a:bodyPr wrap="square" lIns="0" rIns="0" tIns="0" bIns="0" anchor="t">
            <a:spAutoFit/>
          </a:bodyPr>
          <a:lstStyle/>
          <a:p>
            <a:pPr algn="ctr"/>
            <a:r>
              <a:rPr sz="8320" b="1" i="0">
                <a:solidFill>
                  <a:srgbClr val="F0ECE3"/>
                </a:solidFill>
                <a:latin typeface="Georgia"/>
              </a:rPr>
              <a:t>KiraOrder</a:t>
            </a:r>
          </a:p>
        </p:txBody>
      </p:sp>
      <p:sp>
        <p:nvSpPr>
          <p:cNvPr id="5" name="TextBox 4"/>
          <p:cNvSpPr txBox="1"/>
          <p:nvPr/>
        </p:nvSpPr>
        <p:spPr>
          <a:xfrm>
            <a:off x="658368" y="3273552"/>
            <a:ext cx="10874959" cy="365760"/>
          </a:xfrm>
          <a:prstGeom prst="rect">
            <a:avLst/>
          </a:prstGeom>
          <a:noFill/>
        </p:spPr>
        <p:txBody>
          <a:bodyPr wrap="square" lIns="0" rIns="0" tIns="0" bIns="0" anchor="t">
            <a:spAutoFit/>
          </a:bodyPr>
          <a:lstStyle/>
          <a:p>
            <a:pPr algn="ctr"/>
            <a:r>
              <a:rPr sz="1870" b="0" i="1">
                <a:solidFill>
                  <a:srgbClr val="C8A870"/>
                </a:solidFill>
                <a:latin typeface="Georgia"/>
              </a:rPr>
              <a:t>for</a:t>
            </a:r>
          </a:p>
        </p:txBody>
      </p:sp>
      <p:sp>
        <p:nvSpPr>
          <p:cNvPr id="6" name="TextBox 5"/>
          <p:cNvSpPr txBox="1"/>
          <p:nvPr/>
        </p:nvSpPr>
        <p:spPr>
          <a:xfrm>
            <a:off x="658368" y="3712463"/>
            <a:ext cx="10874959" cy="640080"/>
          </a:xfrm>
          <a:prstGeom prst="rect">
            <a:avLst/>
          </a:prstGeom>
          <a:noFill/>
        </p:spPr>
        <p:txBody>
          <a:bodyPr wrap="square" lIns="0" rIns="0" tIns="0" bIns="0" anchor="t">
            <a:spAutoFit/>
          </a:bodyPr>
          <a:lstStyle/>
          <a:p>
            <a:pPr algn="ctr"/>
            <a:r>
              <a:rPr sz="3950" b="1" i="0">
                <a:solidFill>
                  <a:srgbClr val="F0ECE3"/>
                </a:solidFill>
                <a:latin typeface="Georgia"/>
              </a:rPr>
              <a:t>ORBYTE</a:t>
            </a:r>
          </a:p>
        </p:txBody>
      </p:sp>
      <p:sp>
        <p:nvSpPr>
          <p:cNvPr id="7" name="TextBox 6"/>
          <p:cNvSpPr txBox="1"/>
          <p:nvPr/>
        </p:nvSpPr>
        <p:spPr>
          <a:xfrm>
            <a:off x="658368" y="5074920"/>
            <a:ext cx="10874959" cy="365760"/>
          </a:xfrm>
          <a:prstGeom prst="rect">
            <a:avLst/>
          </a:prstGeom>
          <a:noFill/>
        </p:spPr>
        <p:txBody>
          <a:bodyPr wrap="square" lIns="0" rIns="0" tIns="0" bIns="0" anchor="t">
            <a:spAutoFit/>
          </a:bodyPr>
          <a:lstStyle/>
          <a:p>
            <a:pPr algn="ctr"/>
            <a:r>
              <a:rPr sz="1280" b="0" i="0" spc="120">
                <a:solidFill>
                  <a:srgbClr val="9AA6B8"/>
                </a:solidFill>
                <a:latin typeface="Segoe UI"/>
              </a:rPr>
              <a:t>It knows when not to guess — and who to ask.</a:t>
            </a:r>
          </a:p>
        </p:txBody>
      </p:sp>
      <p:sp>
        <p:nvSpPr>
          <p:cNvPr id="8" name="TextBox 7"/>
          <p:cNvSpPr txBox="1"/>
          <p:nvPr/>
        </p:nvSpPr>
        <p:spPr>
          <a:xfrm>
            <a:off x="658368" y="5504688"/>
            <a:ext cx="10874959" cy="365760"/>
          </a:xfrm>
          <a:prstGeom prst="rect">
            <a:avLst/>
          </a:prstGeom>
          <a:noFill/>
        </p:spPr>
        <p:txBody>
          <a:bodyPr wrap="square" lIns="0" rIns="0" tIns="0" bIns="0" anchor="t">
            <a:spAutoFit/>
          </a:bodyPr>
          <a:lstStyle/>
          <a:p>
            <a:pPr algn="ctr"/>
            <a:r>
              <a:rPr sz="1160" b="0" i="0" spc="100">
                <a:solidFill>
                  <a:srgbClr val="C8A870"/>
                </a:solidFill>
                <a:latin typeface="Segoe UI"/>
              </a:rPr>
              <a:t>Falcons · Xiamen University Malaysia · 1 November 2026</a:t>
            </a:r>
          </a:p>
        </p:txBody>
      </p:sp>
      <p:sp>
        <p:nvSpPr>
          <p:cNvPr id="9" name="TextBox 8"/>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18:04 · ONE MESSAGE · SIX QUESTIONS IT DOES NOT ANSWER</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02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914400"/>
          </a:xfrm>
          <a:prstGeom prst="rect">
            <a:avLst/>
          </a:prstGeom>
          <a:noFill/>
        </p:spPr>
        <p:txBody>
          <a:bodyPr wrap="square" lIns="0" rIns="0" tIns="0" bIns="0" anchor="t">
            <a:spAutoFit/>
          </a:bodyPr>
          <a:lstStyle/>
          <a:p>
            <a:pPr algn="l"/>
            <a:r>
              <a:rPr sz="2700" b="0" i="0">
                <a:solidFill>
                  <a:srgbClr val="F0ECE3"/>
                </a:solidFill>
                <a:latin typeface="Georgia"/>
              </a:rPr>
              <a:t>The order is not the hard part. The missing facts are.</a:t>
            </a:r>
          </a:p>
        </p:txBody>
      </p:sp>
      <p:sp>
        <p:nvSpPr>
          <p:cNvPr id="7" name="TextBox 6"/>
          <p:cNvSpPr txBox="1"/>
          <p:nvPr/>
        </p:nvSpPr>
        <p:spPr>
          <a:xfrm>
            <a:off x="658368" y="202996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8" name="TextBox 7"/>
          <p:cNvSpPr txBox="1"/>
          <p:nvPr/>
        </p:nvSpPr>
        <p:spPr>
          <a:xfrm>
            <a:off x="1161288" y="2029968"/>
            <a:ext cx="10326319" cy="320040"/>
          </a:xfrm>
          <a:prstGeom prst="rect">
            <a:avLst/>
          </a:prstGeom>
          <a:noFill/>
        </p:spPr>
        <p:txBody>
          <a:bodyPr wrap="square" lIns="0" rIns="0" tIns="0" bIns="0" anchor="t">
            <a:spAutoFit/>
          </a:bodyPr>
          <a:lstStyle/>
          <a:p>
            <a:pPr algn="l"/>
            <a:r>
              <a:rPr sz="1560" b="0" i="0">
                <a:solidFill>
                  <a:srgbClr val="F0ECE3"/>
                </a:solidFill>
                <a:latin typeface="Georgia"/>
              </a:rPr>
              <a:t>Which Gula — the 1 kg pack or the 2 kg pack?</a:t>
            </a:r>
          </a:p>
        </p:txBody>
      </p:sp>
      <p:cxnSp>
        <p:nvCxnSpPr>
          <p:cNvPr id="9" name="Connector 8"/>
          <p:cNvCxnSpPr/>
          <p:nvPr/>
        </p:nvCxnSpPr>
        <p:spPr>
          <a:xfrm>
            <a:off x="658368" y="243230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53288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1" name="TextBox 10"/>
          <p:cNvSpPr txBox="1"/>
          <p:nvPr/>
        </p:nvSpPr>
        <p:spPr>
          <a:xfrm>
            <a:off x="1161288" y="2532888"/>
            <a:ext cx="10326319" cy="320040"/>
          </a:xfrm>
          <a:prstGeom prst="rect">
            <a:avLst/>
          </a:prstGeom>
          <a:noFill/>
        </p:spPr>
        <p:txBody>
          <a:bodyPr wrap="square" lIns="0" rIns="0" tIns="0" bIns="0" anchor="t">
            <a:spAutoFit/>
          </a:bodyPr>
          <a:lstStyle/>
          <a:p>
            <a:pPr algn="l"/>
            <a:r>
              <a:rPr sz="1560" b="0" i="0">
                <a:solidFill>
                  <a:srgbClr val="F0ECE3"/>
                </a:solidFill>
                <a:latin typeface="Georgia"/>
              </a:rPr>
              <a:t>Which tier price does this customer buy on?</a:t>
            </a:r>
          </a:p>
        </p:txBody>
      </p:sp>
      <p:cxnSp>
        <p:nvCxnSpPr>
          <p:cNvPr id="12" name="Connector 11"/>
          <p:cNvCxnSpPr/>
          <p:nvPr/>
        </p:nvCxnSpPr>
        <p:spPr>
          <a:xfrm>
            <a:off x="658368" y="293522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03580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4" name="TextBox 13"/>
          <p:cNvSpPr txBox="1"/>
          <p:nvPr/>
        </p:nvSpPr>
        <p:spPr>
          <a:xfrm>
            <a:off x="1161288" y="3035808"/>
            <a:ext cx="10326319" cy="320040"/>
          </a:xfrm>
          <a:prstGeom prst="rect">
            <a:avLst/>
          </a:prstGeom>
          <a:noFill/>
        </p:spPr>
        <p:txBody>
          <a:bodyPr wrap="square" lIns="0" rIns="0" tIns="0" bIns="0" anchor="t">
            <a:spAutoFit/>
          </a:bodyPr>
          <a:lstStyle/>
          <a:p>
            <a:pPr algn="l"/>
            <a:r>
              <a:rPr sz="1560" b="0" i="0">
                <a:solidFill>
                  <a:srgbClr val="F0ECE3"/>
                </a:solidFill>
                <a:latin typeface="Georgia"/>
              </a:rPr>
              <a:t>Is the onion in stock, and how much of it?</a:t>
            </a:r>
          </a:p>
        </p:txBody>
      </p:sp>
      <p:cxnSp>
        <p:nvCxnSpPr>
          <p:cNvPr id="15" name="Connector 14"/>
          <p:cNvCxnSpPr/>
          <p:nvPr/>
        </p:nvCxnSpPr>
        <p:spPr>
          <a:xfrm>
            <a:off x="658368" y="343814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353872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7" name="TextBox 16"/>
          <p:cNvSpPr txBox="1"/>
          <p:nvPr/>
        </p:nvSpPr>
        <p:spPr>
          <a:xfrm>
            <a:off x="1161288" y="3538728"/>
            <a:ext cx="10326319" cy="320040"/>
          </a:xfrm>
          <a:prstGeom prst="rect">
            <a:avLst/>
          </a:prstGeom>
          <a:noFill/>
        </p:spPr>
        <p:txBody>
          <a:bodyPr wrap="square" lIns="0" rIns="0" tIns="0" bIns="0" anchor="t">
            <a:spAutoFit/>
          </a:bodyPr>
          <a:lstStyle/>
          <a:p>
            <a:pPr algn="l"/>
            <a:r>
              <a:rPr sz="1560" b="0" i="0">
                <a:solidFill>
                  <a:srgbClr val="F0ECE3"/>
                </a:solidFill>
                <a:latin typeface="Georgia"/>
              </a:rPr>
              <a:t>Does “kalau ada” reduce the line, or drop it?</a:t>
            </a:r>
          </a:p>
        </p:txBody>
      </p:sp>
      <p:cxnSp>
        <p:nvCxnSpPr>
          <p:cNvPr id="18" name="Connector 17"/>
          <p:cNvCxnSpPr/>
          <p:nvPr/>
        </p:nvCxnSpPr>
        <p:spPr>
          <a:xfrm>
            <a:off x="658368" y="394106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404164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20" name="TextBox 19"/>
          <p:cNvSpPr txBox="1"/>
          <p:nvPr/>
        </p:nvSpPr>
        <p:spPr>
          <a:xfrm>
            <a:off x="1161288" y="4041648"/>
            <a:ext cx="10326319" cy="320040"/>
          </a:xfrm>
          <a:prstGeom prst="rect">
            <a:avLst/>
          </a:prstGeom>
          <a:noFill/>
        </p:spPr>
        <p:txBody>
          <a:bodyPr wrap="square" lIns="0" rIns="0" tIns="0" bIns="0" anchor="t">
            <a:spAutoFit/>
          </a:bodyPr>
          <a:lstStyle/>
          <a:p>
            <a:pPr algn="l"/>
            <a:r>
              <a:rPr sz="1560" b="0" i="0">
                <a:solidFill>
                  <a:srgbClr val="F0ECE3"/>
                </a:solidFill>
                <a:latin typeface="Georgia"/>
              </a:rPr>
              <a:t>Does RM2.80 sit below her tier price?</a:t>
            </a:r>
          </a:p>
        </p:txBody>
      </p:sp>
      <p:cxnSp>
        <p:nvCxnSpPr>
          <p:cNvPr id="21" name="Connector 20"/>
          <p:cNvCxnSpPr/>
          <p:nvPr/>
        </p:nvCxnSpPr>
        <p:spPr>
          <a:xfrm>
            <a:off x="658368" y="444398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4544568"/>
            <a:ext cx="45720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23" name="TextBox 22"/>
          <p:cNvSpPr txBox="1"/>
          <p:nvPr/>
        </p:nvSpPr>
        <p:spPr>
          <a:xfrm>
            <a:off x="1161288" y="4544568"/>
            <a:ext cx="10326319" cy="320040"/>
          </a:xfrm>
          <a:prstGeom prst="rect">
            <a:avLst/>
          </a:prstGeom>
          <a:noFill/>
        </p:spPr>
        <p:txBody>
          <a:bodyPr wrap="square" lIns="0" rIns="0" tIns="0" bIns="0" anchor="t">
            <a:spAutoFit/>
          </a:bodyPr>
          <a:lstStyle/>
          <a:p>
            <a:pPr algn="l"/>
            <a:r>
              <a:rPr sz="1560" b="0" i="0">
                <a:solidFill>
                  <a:srgbClr val="F0ECE3"/>
                </a:solidFill>
                <a:latin typeface="Georgia"/>
              </a:rPr>
              <a:t>Which egg grade — A, B or C?</a:t>
            </a:r>
          </a:p>
        </p:txBody>
      </p:sp>
      <p:cxnSp>
        <p:nvCxnSpPr>
          <p:cNvPr id="24" name="Connector 23"/>
          <p:cNvCxnSpPr/>
          <p:nvPr/>
        </p:nvCxnSpPr>
        <p:spPr>
          <a:xfrm>
            <a:off x="658368" y="494690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5138928"/>
            <a:ext cx="9787463" cy="548640"/>
          </a:xfrm>
          <a:prstGeom prst="rect">
            <a:avLst/>
          </a:prstGeom>
          <a:noFill/>
        </p:spPr>
        <p:txBody>
          <a:bodyPr wrap="square" lIns="0" rIns="0" tIns="0" bIns="0" anchor="t">
            <a:spAutoFit/>
          </a:bodyPr>
          <a:lstStyle/>
          <a:p>
            <a:pPr algn="l"/>
            <a:r>
              <a:rPr sz="1220" b="0" i="0">
                <a:solidFill>
                  <a:srgbClr val="9AA6B8"/>
                </a:solidFill>
                <a:latin typeface="Georgia"/>
              </a:rPr>
              <a:t>Six facts. The message is synthetic; the six questions are ours. One clerk settles all six today — from memory, at the end of the day.</a:t>
            </a:r>
          </a:p>
        </p:txBody>
      </p:sp>
      <p:sp>
        <p:nvSpPr>
          <p:cNvPr id="26" name="TextBox 25"/>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THE DESK WE BUILD FOR</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03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874959" cy="822960"/>
          </a:xfrm>
          <a:prstGeom prst="rect">
            <a:avLst/>
          </a:prstGeom>
          <a:noFill/>
        </p:spPr>
        <p:txBody>
          <a:bodyPr wrap="square" lIns="0" rIns="0" tIns="0" bIns="0" anchor="t">
            <a:spAutoFit/>
          </a:bodyPr>
          <a:lstStyle/>
          <a:p>
            <a:pPr algn="l"/>
            <a:r>
              <a:rPr sz="3120" b="0" i="0">
                <a:solidFill>
                  <a:srgbClr val="F0ECE3"/>
                </a:solidFill>
                <a:latin typeface="Georgia"/>
              </a:rPr>
              <a:t>One clerk. One owner. A phone.</a:t>
            </a:r>
          </a:p>
        </p:txBody>
      </p:sp>
      <p:cxnSp>
        <p:nvCxnSpPr>
          <p:cNvPr id="7" name="Connector 6"/>
          <p:cNvCxnSpPr/>
          <p:nvPr/>
        </p:nvCxnSpPr>
        <p:spPr>
          <a:xfrm>
            <a:off x="658368" y="2103120"/>
            <a:ext cx="244441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240280"/>
            <a:ext cx="2444419" cy="457200"/>
          </a:xfrm>
          <a:prstGeom prst="rect">
            <a:avLst/>
          </a:prstGeom>
          <a:noFill/>
        </p:spPr>
        <p:txBody>
          <a:bodyPr wrap="square" lIns="0" rIns="0" tIns="0" bIns="0" anchor="t">
            <a:spAutoFit/>
          </a:bodyPr>
          <a:lstStyle/>
          <a:p>
            <a:pPr algn="l"/>
            <a:r>
              <a:rPr sz="2500" b="0" i="0">
                <a:solidFill>
                  <a:srgbClr val="C8A870"/>
                </a:solidFill>
                <a:latin typeface="Georgia"/>
              </a:rPr>
              <a:t>01</a:t>
            </a:r>
          </a:p>
        </p:txBody>
      </p:sp>
      <p:sp>
        <p:nvSpPr>
          <p:cNvPr id="9" name="TextBox 8"/>
          <p:cNvSpPr txBox="1"/>
          <p:nvPr/>
        </p:nvSpPr>
        <p:spPr>
          <a:xfrm>
            <a:off x="658368" y="2743200"/>
            <a:ext cx="2444419" cy="320040"/>
          </a:xfrm>
          <a:prstGeom prst="rect">
            <a:avLst/>
          </a:prstGeom>
          <a:noFill/>
        </p:spPr>
        <p:txBody>
          <a:bodyPr wrap="square" lIns="0" rIns="0" tIns="0" bIns="0" anchor="t">
            <a:spAutoFit/>
          </a:bodyPr>
          <a:lstStyle/>
          <a:p>
            <a:pPr algn="l"/>
            <a:r>
              <a:rPr sz="1560" b="1" i="0">
                <a:solidFill>
                  <a:srgbClr val="F0ECE3"/>
                </a:solidFill>
                <a:latin typeface="Segoe UI"/>
              </a:rPr>
              <a:t>One clerk</a:t>
            </a:r>
          </a:p>
        </p:txBody>
      </p:sp>
      <p:sp>
        <p:nvSpPr>
          <p:cNvPr id="10" name="TextBox 9"/>
          <p:cNvSpPr txBox="1"/>
          <p:nvPr/>
        </p:nvSpPr>
        <p:spPr>
          <a:xfrm>
            <a:off x="658368" y="3108960"/>
            <a:ext cx="2444419" cy="731520"/>
          </a:xfrm>
          <a:prstGeom prst="rect">
            <a:avLst/>
          </a:prstGeom>
          <a:noFill/>
        </p:spPr>
        <p:txBody>
          <a:bodyPr wrap="square" lIns="0" rIns="0" tIns="0" bIns="0" anchor="t">
            <a:spAutoFit/>
          </a:bodyPr>
          <a:lstStyle/>
          <a:p>
            <a:pPr algn="l"/>
            <a:r>
              <a:rPr sz="1160" b="0" i="0">
                <a:solidFill>
                  <a:srgbClr val="9AA6B8"/>
                </a:solidFill>
                <a:latin typeface="Segoe UI"/>
              </a:rPr>
              <a:t>Takes the order. Settles six facts at once.</a:t>
            </a:r>
          </a:p>
        </p:txBody>
      </p:sp>
      <p:cxnSp>
        <p:nvCxnSpPr>
          <p:cNvPr id="11" name="Connector 10"/>
          <p:cNvCxnSpPr/>
          <p:nvPr/>
        </p:nvCxnSpPr>
        <p:spPr>
          <a:xfrm>
            <a:off x="3468547" y="2103120"/>
            <a:ext cx="244442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68547" y="2240280"/>
            <a:ext cx="2444419" cy="457200"/>
          </a:xfrm>
          <a:prstGeom prst="rect">
            <a:avLst/>
          </a:prstGeom>
          <a:noFill/>
        </p:spPr>
        <p:txBody>
          <a:bodyPr wrap="square" lIns="0" rIns="0" tIns="0" bIns="0" anchor="t">
            <a:spAutoFit/>
          </a:bodyPr>
          <a:lstStyle/>
          <a:p>
            <a:pPr algn="l"/>
            <a:r>
              <a:rPr sz="2500" b="0" i="0">
                <a:solidFill>
                  <a:srgbClr val="C8A870"/>
                </a:solidFill>
                <a:latin typeface="Georgia"/>
              </a:rPr>
              <a:t>02</a:t>
            </a:r>
          </a:p>
        </p:txBody>
      </p:sp>
      <p:sp>
        <p:nvSpPr>
          <p:cNvPr id="13" name="TextBox 12"/>
          <p:cNvSpPr txBox="1"/>
          <p:nvPr/>
        </p:nvSpPr>
        <p:spPr>
          <a:xfrm>
            <a:off x="3468547" y="2743200"/>
            <a:ext cx="2444419" cy="320040"/>
          </a:xfrm>
          <a:prstGeom prst="rect">
            <a:avLst/>
          </a:prstGeom>
          <a:noFill/>
        </p:spPr>
        <p:txBody>
          <a:bodyPr wrap="square" lIns="0" rIns="0" tIns="0" bIns="0" anchor="t">
            <a:spAutoFit/>
          </a:bodyPr>
          <a:lstStyle/>
          <a:p>
            <a:pPr algn="l"/>
            <a:r>
              <a:rPr sz="1560" b="1" i="0">
                <a:solidFill>
                  <a:srgbClr val="F0ECE3"/>
                </a:solidFill>
                <a:latin typeface="Segoe UI"/>
              </a:rPr>
              <a:t>One owner</a:t>
            </a:r>
          </a:p>
        </p:txBody>
      </p:sp>
      <p:sp>
        <p:nvSpPr>
          <p:cNvPr id="14" name="TextBox 13"/>
          <p:cNvSpPr txBox="1"/>
          <p:nvPr/>
        </p:nvSpPr>
        <p:spPr>
          <a:xfrm>
            <a:off x="3468547" y="3108960"/>
            <a:ext cx="2444419" cy="731520"/>
          </a:xfrm>
          <a:prstGeom prst="rect">
            <a:avLst/>
          </a:prstGeom>
          <a:noFill/>
        </p:spPr>
        <p:txBody>
          <a:bodyPr wrap="square" lIns="0" rIns="0" tIns="0" bIns="0" anchor="t">
            <a:spAutoFit/>
          </a:bodyPr>
          <a:lstStyle/>
          <a:p>
            <a:pPr algn="l"/>
            <a:r>
              <a:rPr sz="1160" b="0" i="0">
                <a:solidFill>
                  <a:srgbClr val="9AA6B8"/>
                </a:solidFill>
                <a:latin typeface="Segoe UI"/>
              </a:rPr>
              <a:t>Decides the price. Signs the exception.</a:t>
            </a:r>
          </a:p>
        </p:txBody>
      </p:sp>
      <p:cxnSp>
        <p:nvCxnSpPr>
          <p:cNvPr id="15" name="Connector 14"/>
          <p:cNvCxnSpPr/>
          <p:nvPr/>
        </p:nvCxnSpPr>
        <p:spPr>
          <a:xfrm>
            <a:off x="6278727" y="2103120"/>
            <a:ext cx="244442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78727" y="2240280"/>
            <a:ext cx="2444419" cy="457200"/>
          </a:xfrm>
          <a:prstGeom prst="rect">
            <a:avLst/>
          </a:prstGeom>
          <a:noFill/>
        </p:spPr>
        <p:txBody>
          <a:bodyPr wrap="square" lIns="0" rIns="0" tIns="0" bIns="0" anchor="t">
            <a:spAutoFit/>
          </a:bodyPr>
          <a:lstStyle/>
          <a:p>
            <a:pPr algn="l"/>
            <a:r>
              <a:rPr sz="2500" b="0" i="0">
                <a:solidFill>
                  <a:srgbClr val="C8A870"/>
                </a:solidFill>
                <a:latin typeface="Georgia"/>
              </a:rPr>
              <a:t>03</a:t>
            </a:r>
          </a:p>
        </p:txBody>
      </p:sp>
      <p:sp>
        <p:nvSpPr>
          <p:cNvPr id="17" name="TextBox 16"/>
          <p:cNvSpPr txBox="1"/>
          <p:nvPr/>
        </p:nvSpPr>
        <p:spPr>
          <a:xfrm>
            <a:off x="6278727" y="2743200"/>
            <a:ext cx="2444419" cy="320040"/>
          </a:xfrm>
          <a:prstGeom prst="rect">
            <a:avLst/>
          </a:prstGeom>
          <a:noFill/>
        </p:spPr>
        <p:txBody>
          <a:bodyPr wrap="square" lIns="0" rIns="0" tIns="0" bIns="0" anchor="t">
            <a:spAutoFit/>
          </a:bodyPr>
          <a:lstStyle/>
          <a:p>
            <a:pPr algn="l"/>
            <a:r>
              <a:rPr sz="1560" b="1" i="0">
                <a:solidFill>
                  <a:srgbClr val="F0ECE3"/>
                </a:solidFill>
                <a:latin typeface="Segoe UI"/>
              </a:rPr>
              <a:t>One phone</a:t>
            </a:r>
          </a:p>
        </p:txBody>
      </p:sp>
      <p:sp>
        <p:nvSpPr>
          <p:cNvPr id="18" name="TextBox 17"/>
          <p:cNvSpPr txBox="1"/>
          <p:nvPr/>
        </p:nvSpPr>
        <p:spPr>
          <a:xfrm>
            <a:off x="6278727" y="3108960"/>
            <a:ext cx="2444419" cy="731520"/>
          </a:xfrm>
          <a:prstGeom prst="rect">
            <a:avLst/>
          </a:prstGeom>
          <a:noFill/>
        </p:spPr>
        <p:txBody>
          <a:bodyPr wrap="square" lIns="0" rIns="0" tIns="0" bIns="0" anchor="t">
            <a:spAutoFit/>
          </a:bodyPr>
          <a:lstStyle/>
          <a:p>
            <a:pPr algn="l"/>
            <a:r>
              <a:rPr sz="1160" b="0" i="0">
                <a:solidFill>
                  <a:srgbClr val="9AA6B8"/>
                </a:solidFill>
                <a:latin typeface="Segoe UI"/>
              </a:rPr>
              <a:t>The message lands here, in three languages.</a:t>
            </a:r>
          </a:p>
        </p:txBody>
      </p:sp>
      <p:cxnSp>
        <p:nvCxnSpPr>
          <p:cNvPr id="19" name="Connector 18"/>
          <p:cNvCxnSpPr/>
          <p:nvPr/>
        </p:nvCxnSpPr>
        <p:spPr>
          <a:xfrm>
            <a:off x="9088907" y="2103120"/>
            <a:ext cx="244442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88907" y="2240280"/>
            <a:ext cx="2444419" cy="457200"/>
          </a:xfrm>
          <a:prstGeom prst="rect">
            <a:avLst/>
          </a:prstGeom>
          <a:noFill/>
        </p:spPr>
        <p:txBody>
          <a:bodyPr wrap="square" lIns="0" rIns="0" tIns="0" bIns="0" anchor="t">
            <a:spAutoFit/>
          </a:bodyPr>
          <a:lstStyle/>
          <a:p>
            <a:pPr algn="l"/>
            <a:r>
              <a:rPr sz="2500" b="0" i="0">
                <a:solidFill>
                  <a:srgbClr val="C8A870"/>
                </a:solidFill>
                <a:latin typeface="Georgia"/>
              </a:rPr>
              <a:t>04</a:t>
            </a:r>
          </a:p>
        </p:txBody>
      </p:sp>
      <p:sp>
        <p:nvSpPr>
          <p:cNvPr id="21" name="TextBox 20"/>
          <p:cNvSpPr txBox="1"/>
          <p:nvPr/>
        </p:nvSpPr>
        <p:spPr>
          <a:xfrm>
            <a:off x="9088907" y="2743200"/>
            <a:ext cx="2444419" cy="320040"/>
          </a:xfrm>
          <a:prstGeom prst="rect">
            <a:avLst/>
          </a:prstGeom>
          <a:noFill/>
        </p:spPr>
        <p:txBody>
          <a:bodyPr wrap="square" lIns="0" rIns="0" tIns="0" bIns="0" anchor="t">
            <a:spAutoFit/>
          </a:bodyPr>
          <a:lstStyle/>
          <a:p>
            <a:pPr algn="l"/>
            <a:r>
              <a:rPr sz="1560" b="1" i="0">
                <a:solidFill>
                  <a:srgbClr val="F0ECE3"/>
                </a:solidFill>
                <a:latin typeface="Segoe UI"/>
              </a:rPr>
              <a:t>20–80 a day</a:t>
            </a:r>
          </a:p>
        </p:txBody>
      </p:sp>
      <p:sp>
        <p:nvSpPr>
          <p:cNvPr id="22" name="TextBox 21"/>
          <p:cNvSpPr txBox="1"/>
          <p:nvPr/>
        </p:nvSpPr>
        <p:spPr>
          <a:xfrm>
            <a:off x="9088907" y="3108960"/>
            <a:ext cx="2444419" cy="731520"/>
          </a:xfrm>
          <a:prstGeom prst="rect">
            <a:avLst/>
          </a:prstGeom>
          <a:noFill/>
        </p:spPr>
        <p:txBody>
          <a:bodyPr wrap="square" lIns="0" rIns="0" tIns="0" bIns="0" anchor="t">
            <a:spAutoFit/>
          </a:bodyPr>
          <a:lstStyle/>
          <a:p>
            <a:pPr algn="l"/>
            <a:r>
              <a:rPr sz="1160" b="0" i="0">
                <a:solidFill>
                  <a:srgbClr val="9AA6B8"/>
                </a:solidFill>
                <a:latin typeface="Segoe UI"/>
              </a:rPr>
              <a:t>Orders. Six facts each.</a:t>
            </a:r>
          </a:p>
        </p:txBody>
      </p:sp>
      <p:cxnSp>
        <p:nvCxnSpPr>
          <p:cNvPr id="23" name="Connector 22"/>
          <p:cNvCxnSpPr/>
          <p:nvPr/>
        </p:nvCxnSpPr>
        <p:spPr>
          <a:xfrm>
            <a:off x="658368" y="4892040"/>
            <a:ext cx="1087495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5047488"/>
            <a:ext cx="10331211" cy="685800"/>
          </a:xfrm>
          <a:prstGeom prst="rect">
            <a:avLst/>
          </a:prstGeom>
          <a:noFill/>
        </p:spPr>
        <p:txBody>
          <a:bodyPr wrap="square" lIns="0" rIns="0" tIns="0" bIns="0" anchor="t">
            <a:spAutoFit/>
          </a:bodyPr>
          <a:lstStyle/>
          <a:p>
            <a:pPr algn="l"/>
            <a:r>
              <a:rPr sz="2910" b="0" i="0">
                <a:solidFill>
                  <a:srgbClr val="F0ECE3"/>
                </a:solidFill>
                <a:latin typeface="Georgia"/>
              </a:rPr>
              <a:t>No ERP. No integration. No IT person.</a:t>
            </a:r>
          </a:p>
        </p:txBody>
      </p:sp>
      <p:sp>
        <p:nvSpPr>
          <p:cNvPr id="25" name="TextBox 24"/>
          <p:cNvSpPr txBox="1"/>
          <p:nvPr/>
        </p:nvSpPr>
        <p:spPr>
          <a:xfrm>
            <a:off x="658368" y="5742432"/>
            <a:ext cx="10331211" cy="502920"/>
          </a:xfrm>
          <a:prstGeom prst="rect">
            <a:avLst/>
          </a:prstGeom>
          <a:noFill/>
        </p:spPr>
        <p:txBody>
          <a:bodyPr wrap="square" lIns="0" rIns="0" tIns="0" bIns="0" anchor="t">
            <a:spAutoFit/>
          </a:bodyPr>
          <a:lstStyle/>
          <a:p>
            <a:pPr algn="l"/>
            <a:r>
              <a:rPr sz="1390" b="0" i="0">
                <a:solidFill>
                  <a:srgbClr val="9AA6B8"/>
                </a:solidFill>
                <a:latin typeface="Georgia"/>
              </a:rPr>
              <a:t>And no one to configure it — so nothing here may ask her to set something up.</a:t>
            </a:r>
          </a:p>
        </p:txBody>
      </p:sp>
      <p:sp>
        <p:nvSpPr>
          <p:cNvPr id="26" name="TextBox 25"/>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THREE ANSWERS ALREADY EXIST</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04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914400"/>
          </a:xfrm>
          <a:prstGeom prst="rect">
            <a:avLst/>
          </a:prstGeom>
          <a:noFill/>
        </p:spPr>
        <p:txBody>
          <a:bodyPr wrap="square" lIns="0" rIns="0" tIns="0" bIns="0" anchor="t">
            <a:spAutoFit/>
          </a:bodyPr>
          <a:lstStyle/>
          <a:p>
            <a:pPr algn="l"/>
            <a:r>
              <a:rPr sz="2180" b="0" i="0">
                <a:solidFill>
                  <a:srgbClr val="F0ECE3"/>
                </a:solidFill>
                <a:latin typeface="Georgia"/>
              </a:rPr>
              <a:t>All three optimise the message. None can supply a fact the message does not contain.</a:t>
            </a:r>
          </a:p>
        </p:txBody>
      </p:sp>
      <p:sp>
        <p:nvSpPr>
          <p:cNvPr id="7" name="TextBox 6"/>
          <p:cNvSpPr txBox="1"/>
          <p:nvPr/>
        </p:nvSpPr>
        <p:spPr>
          <a:xfrm>
            <a:off x="658368"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01</a:t>
            </a:r>
          </a:p>
        </p:txBody>
      </p:sp>
      <p:sp>
        <p:nvSpPr>
          <p:cNvPr id="8" name="TextBox 7"/>
          <p:cNvSpPr txBox="1"/>
          <p:nvPr/>
        </p:nvSpPr>
        <p:spPr>
          <a:xfrm>
            <a:off x="658368"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By hand</a:t>
            </a:r>
          </a:p>
        </p:txBody>
      </p:sp>
      <p:sp>
        <p:nvSpPr>
          <p:cNvPr id="9" name="TextBox 8"/>
          <p:cNvSpPr txBox="1"/>
          <p:nvPr/>
        </p:nvSpPr>
        <p:spPr>
          <a:xfrm>
            <a:off x="658368"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Ask the customer, read the price file, walk to the whiteboard, type the delivery order.</a:t>
            </a:r>
          </a:p>
        </p:txBody>
      </p:sp>
      <p:sp>
        <p:nvSpPr>
          <p:cNvPr id="10" name="TextBox 9"/>
          <p:cNvSpPr txBox="1"/>
          <p:nvPr/>
        </p:nvSpPr>
        <p:spPr>
          <a:xfrm>
            <a:off x="658368"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Nothing is wrong except the time — and it collapses when eleven messages land at once.</a:t>
            </a:r>
          </a:p>
        </p:txBody>
      </p:sp>
      <p:cxnSp>
        <p:nvCxnSpPr>
          <p:cNvPr id="11" name="Connector 10"/>
          <p:cNvCxnSpPr/>
          <p:nvPr/>
        </p:nvCxnSpPr>
        <p:spPr>
          <a:xfrm>
            <a:off x="4207154" y="1938528"/>
            <a:ext cx="0" cy="3959352"/>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35754"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02</a:t>
            </a:r>
          </a:p>
        </p:txBody>
      </p:sp>
      <p:sp>
        <p:nvSpPr>
          <p:cNvPr id="13" name="TextBox 12"/>
          <p:cNvSpPr txBox="1"/>
          <p:nvPr/>
        </p:nvSpPr>
        <p:spPr>
          <a:xfrm>
            <a:off x="4435754"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A translating bot</a:t>
            </a:r>
          </a:p>
        </p:txBody>
      </p:sp>
      <p:sp>
        <p:nvSpPr>
          <p:cNvPr id="14" name="TextBox 13"/>
          <p:cNvSpPr txBox="1"/>
          <p:nvPr/>
        </p:nvSpPr>
        <p:spPr>
          <a:xfrm>
            <a:off x="4435754"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Malay, Chinese and English become a clean, structured order list.</a:t>
            </a:r>
          </a:p>
        </p:txBody>
      </p:sp>
      <p:sp>
        <p:nvSpPr>
          <p:cNvPr id="15" name="TextBox 14"/>
          <p:cNvSpPr txBox="1"/>
          <p:nvPr/>
        </p:nvSpPr>
        <p:spPr>
          <a:xfrm>
            <a:off x="4435754"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The list looks perfect and is still wrong. Pack size is not a language problem.</a:t>
            </a:r>
          </a:p>
        </p:txBody>
      </p:sp>
      <p:cxnSp>
        <p:nvCxnSpPr>
          <p:cNvPr id="16" name="Connector 15"/>
          <p:cNvCxnSpPr/>
          <p:nvPr/>
        </p:nvCxnSpPr>
        <p:spPr>
          <a:xfrm>
            <a:off x="7984540" y="1938528"/>
            <a:ext cx="0" cy="3959352"/>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13140"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03</a:t>
            </a:r>
          </a:p>
        </p:txBody>
      </p:sp>
      <p:sp>
        <p:nvSpPr>
          <p:cNvPr id="18" name="TextBox 17"/>
          <p:cNvSpPr txBox="1"/>
          <p:nvPr/>
        </p:nvSpPr>
        <p:spPr>
          <a:xfrm>
            <a:off x="8213140"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A flag-everything checker</a:t>
            </a:r>
          </a:p>
        </p:txBody>
      </p:sp>
      <p:sp>
        <p:nvSpPr>
          <p:cNvPr id="19" name="TextBox 18"/>
          <p:cNvSpPr txBox="1"/>
          <p:nvPr/>
        </p:nvSpPr>
        <p:spPr>
          <a:xfrm>
            <a:off x="8213140"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Suspicious lines turn red and the flow stops for a human.</a:t>
            </a:r>
          </a:p>
        </p:txBody>
      </p:sp>
      <p:sp>
        <p:nvSpPr>
          <p:cNvPr id="20" name="TextBox 19"/>
          <p:cNvSpPr txBox="1"/>
          <p:nvPr/>
        </p:nvSpPr>
        <p:spPr>
          <a:xfrm>
            <a:off x="8213140"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A red flag is a question, not an answer. The work still ends with the clerk.</a:t>
            </a:r>
          </a:p>
        </p:txBody>
      </p:sp>
      <p:sp>
        <p:nvSpPr>
          <p:cNvPr id="21" name="TextBox 20"/>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WHAT WE DO DIFFERENTLY</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05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914400"/>
          </a:xfrm>
          <a:prstGeom prst="rect">
            <a:avLst/>
          </a:prstGeom>
          <a:noFill/>
        </p:spPr>
        <p:txBody>
          <a:bodyPr wrap="square" lIns="0" rIns="0" tIns="0" bIns="0" anchor="t">
            <a:spAutoFit/>
          </a:bodyPr>
          <a:lstStyle/>
          <a:p>
            <a:pPr algn="l"/>
            <a:r>
              <a:rPr sz="2180" b="0" i="0">
                <a:solidFill>
                  <a:srgbClr val="F0ECE3"/>
                </a:solidFill>
                <a:latin typeface="Georgia"/>
              </a:rPr>
              <a:t>The model proposes. Rules settle. A named person decides.</a:t>
            </a:r>
          </a:p>
        </p:txBody>
      </p:sp>
      <p:sp>
        <p:nvSpPr>
          <p:cNvPr id="7" name="TextBox 6"/>
          <p:cNvSpPr txBox="1"/>
          <p:nvPr/>
        </p:nvSpPr>
        <p:spPr>
          <a:xfrm>
            <a:off x="658368"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01 · The model</a:t>
            </a:r>
          </a:p>
        </p:txBody>
      </p:sp>
      <p:sp>
        <p:nvSpPr>
          <p:cNvPr id="8" name="TextBox 7"/>
          <p:cNvSpPr txBox="1"/>
          <p:nvPr/>
        </p:nvSpPr>
        <p:spPr>
          <a:xfrm>
            <a:off x="658368"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It proposes. It never prices.</a:t>
            </a:r>
          </a:p>
        </p:txBody>
      </p:sp>
      <p:sp>
        <p:nvSpPr>
          <p:cNvPr id="9" name="TextBox 8"/>
          <p:cNvSpPr txBox="1"/>
          <p:nvPr/>
        </p:nvSpPr>
        <p:spPr>
          <a:xfrm>
            <a:off x="658368"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Product candidates, quantities, units, pack sizes and source spans — restricted to the tenant catalogue, or an explicit UNKNOWN.</a:t>
            </a:r>
          </a:p>
        </p:txBody>
      </p:sp>
      <p:sp>
        <p:nvSpPr>
          <p:cNvPr id="10" name="TextBox 9"/>
          <p:cNvSpPr txBox="1"/>
          <p:nvPr/>
        </p:nvSpPr>
        <p:spPr>
          <a:xfrm>
            <a:off x="658368"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It cannot set a price, approve an order, or issue a delivery order.</a:t>
            </a:r>
          </a:p>
        </p:txBody>
      </p:sp>
      <p:cxnSp>
        <p:nvCxnSpPr>
          <p:cNvPr id="11" name="Connector 10"/>
          <p:cNvCxnSpPr/>
          <p:nvPr/>
        </p:nvCxnSpPr>
        <p:spPr>
          <a:xfrm>
            <a:off x="4207154" y="1938528"/>
            <a:ext cx="0" cy="3959352"/>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35754"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02 · The rules</a:t>
            </a:r>
          </a:p>
        </p:txBody>
      </p:sp>
      <p:sp>
        <p:nvSpPr>
          <p:cNvPr id="13" name="TextBox 12"/>
          <p:cNvSpPr txBox="1"/>
          <p:nvPr/>
        </p:nvSpPr>
        <p:spPr>
          <a:xfrm>
            <a:off x="4435754"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Facts come from her own data.</a:t>
            </a:r>
          </a:p>
        </p:txBody>
      </p:sp>
      <p:sp>
        <p:nvSpPr>
          <p:cNvPr id="14" name="TextBox 13"/>
          <p:cNvSpPr txBox="1"/>
          <p:nvPr/>
        </p:nvSpPr>
        <p:spPr>
          <a:xfrm>
            <a:off x="4435754"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Tier price, stock and pack size are computed from the merchant’s own catalogue and price file, never generated.</a:t>
            </a:r>
          </a:p>
        </p:txBody>
      </p:sp>
      <p:sp>
        <p:nvSpPr>
          <p:cNvPr id="15" name="TextBox 14"/>
          <p:cNvSpPr txBox="1"/>
          <p:nvPr/>
        </p:nvSpPr>
        <p:spPr>
          <a:xfrm>
            <a:off x="4435754"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A field the data cannot evidence becomes a blocking issue, never a plausible guess.</a:t>
            </a:r>
          </a:p>
        </p:txBody>
      </p:sp>
      <p:cxnSp>
        <p:nvCxnSpPr>
          <p:cNvPr id="16" name="Connector 15"/>
          <p:cNvCxnSpPr/>
          <p:nvPr/>
        </p:nvCxnSpPr>
        <p:spPr>
          <a:xfrm>
            <a:off x="7984540" y="1938528"/>
            <a:ext cx="0" cy="3959352"/>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13140" y="2011680"/>
            <a:ext cx="3183026" cy="256032"/>
          </a:xfrm>
          <a:prstGeom prst="rect">
            <a:avLst/>
          </a:prstGeom>
          <a:noFill/>
        </p:spPr>
        <p:txBody>
          <a:bodyPr wrap="square" lIns="0" rIns="0" tIns="0" bIns="0" anchor="t">
            <a:spAutoFit/>
          </a:bodyPr>
          <a:lstStyle/>
          <a:p>
            <a:pPr algn="l"/>
            <a:r>
              <a:rPr sz="990" b="1" i="0" spc="150">
                <a:solidFill>
                  <a:srgbClr val="C8A870"/>
                </a:solidFill>
                <a:latin typeface="Segoe UI"/>
              </a:rPr>
              <a:t>03 · The people</a:t>
            </a:r>
          </a:p>
        </p:txBody>
      </p:sp>
      <p:sp>
        <p:nvSpPr>
          <p:cNvPr id="18" name="TextBox 17"/>
          <p:cNvSpPr txBox="1"/>
          <p:nvPr/>
        </p:nvSpPr>
        <p:spPr>
          <a:xfrm>
            <a:off x="8213140" y="2304288"/>
            <a:ext cx="3183026" cy="685800"/>
          </a:xfrm>
          <a:prstGeom prst="rect">
            <a:avLst/>
          </a:prstGeom>
          <a:noFill/>
        </p:spPr>
        <p:txBody>
          <a:bodyPr wrap="square" lIns="0" rIns="0" tIns="0" bIns="0" anchor="t">
            <a:spAutoFit/>
          </a:bodyPr>
          <a:lstStyle/>
          <a:p>
            <a:pPr algn="l"/>
            <a:r>
              <a:rPr sz="1560" b="1" i="0">
                <a:solidFill>
                  <a:srgbClr val="F0ECE3"/>
                </a:solidFill>
                <a:latin typeface="Georgia"/>
              </a:rPr>
              <a:t>A named person signs.</a:t>
            </a:r>
          </a:p>
        </p:txBody>
      </p:sp>
      <p:sp>
        <p:nvSpPr>
          <p:cNvPr id="19" name="TextBox 18"/>
          <p:cNvSpPr txBox="1"/>
          <p:nvPr/>
        </p:nvSpPr>
        <p:spPr>
          <a:xfrm>
            <a:off x="8213140" y="3035808"/>
            <a:ext cx="3183026" cy="1371600"/>
          </a:xfrm>
          <a:prstGeom prst="rect">
            <a:avLst/>
          </a:prstGeom>
          <a:noFill/>
        </p:spPr>
        <p:txBody>
          <a:bodyPr wrap="square" lIns="0" rIns="0" tIns="0" bIns="0" anchor="t">
            <a:spAutoFit/>
          </a:bodyPr>
          <a:lstStyle/>
          <a:p>
            <a:pPr algn="l"/>
            <a:r>
              <a:rPr sz="1220" b="0" i="0">
                <a:solidFill>
                  <a:srgbClr val="9AA6B8"/>
                </a:solidFill>
                <a:latin typeface="Segoe UI"/>
              </a:rPr>
              <a:t>A clerk clears routine orders. The owner decides a below-tier price, and can reject with a reason.</a:t>
            </a:r>
          </a:p>
        </p:txBody>
      </p:sp>
      <p:sp>
        <p:nvSpPr>
          <p:cNvPr id="20" name="TextBox 19"/>
          <p:cNvSpPr txBox="1"/>
          <p:nvPr/>
        </p:nvSpPr>
        <p:spPr>
          <a:xfrm>
            <a:off x="8213140" y="5257800"/>
            <a:ext cx="3183026" cy="822960"/>
          </a:xfrm>
          <a:prstGeom prst="rect">
            <a:avLst/>
          </a:prstGeom>
          <a:noFill/>
        </p:spPr>
        <p:txBody>
          <a:bodyPr wrap="square" lIns="0" rIns="0" tIns="0" bIns="0" anchor="t">
            <a:spAutoFit/>
          </a:bodyPr>
          <a:lstStyle/>
          <a:p>
            <a:pPr algn="l"/>
            <a:r>
              <a:rPr sz="1100" b="0" i="1">
                <a:solidFill>
                  <a:srgbClr val="C8A870"/>
                </a:solidFill>
                <a:latin typeface="Georgia"/>
              </a:rPr>
              <a:t>The warehouse sees picking detail with no prices and no contact numbers.</a:t>
            </a:r>
          </a:p>
        </p:txBody>
      </p:sp>
      <p:sp>
        <p:nvSpPr>
          <p:cNvPr id="21" name="TextBox 20"/>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COMMERCIAL VALUE · ONE CODEBASE, MANY SHOPS</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06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731520"/>
          </a:xfrm>
          <a:prstGeom prst="rect">
            <a:avLst/>
          </a:prstGeom>
          <a:noFill/>
        </p:spPr>
        <p:txBody>
          <a:bodyPr wrap="square" lIns="0" rIns="0" tIns="0" bIns="0" anchor="t">
            <a:spAutoFit/>
          </a:bodyPr>
          <a:lstStyle/>
          <a:p>
            <a:pPr algn="l"/>
            <a:r>
              <a:rPr sz="2700" b="0" i="0">
                <a:solidFill>
                  <a:srgbClr val="F0ECE3"/>
                </a:solidFill>
                <a:latin typeface="Georgia"/>
              </a:rPr>
              <a:t>A different shop, the same build.</a:t>
            </a:r>
          </a:p>
        </p:txBody>
      </p:sp>
      <p:sp>
        <p:nvSpPr>
          <p:cNvPr id="7" name="TextBox 6"/>
          <p:cNvSpPr txBox="1"/>
          <p:nvPr/>
        </p:nvSpPr>
        <p:spPr>
          <a:xfrm>
            <a:off x="658368" y="1600200"/>
            <a:ext cx="10004962" cy="548640"/>
          </a:xfrm>
          <a:prstGeom prst="rect">
            <a:avLst/>
          </a:prstGeom>
          <a:noFill/>
        </p:spPr>
        <p:txBody>
          <a:bodyPr wrap="square" lIns="0" rIns="0" tIns="0" bIns="0" anchor="t">
            <a:spAutoFit/>
          </a:bodyPr>
          <a:lstStyle/>
          <a:p>
            <a:pPr algn="l"/>
            <a:r>
              <a:rPr sz="1280" b="0" i="0">
                <a:solidFill>
                  <a:srgbClr val="9AA6B8"/>
                </a:solidFill>
                <a:latin typeface="Georgia"/>
              </a:rPr>
              <a:t>Changing merchant means changing configuration — seed data, catalogue, aliases, policy. Not code. That is what lets one build sell to a hundred shops.</a:t>
            </a:r>
          </a:p>
        </p:txBody>
      </p:sp>
      <p:graphicFrame>
        <p:nvGraphicFramePr>
          <p:cNvPr id="8" name="Table 7"/>
          <p:cNvGraphicFramePr>
            <a:graphicFrameLocks noGrp="1"/>
          </p:cNvGraphicFramePr>
          <p:nvPr/>
        </p:nvGraphicFramePr>
        <p:xfrm>
          <a:off x="658368" y="2331720"/>
          <a:ext cx="10874959" cy="2743200"/>
        </p:xfrm>
        <a:graphic>
          <a:graphicData uri="http://schemas.openxmlformats.org/drawingml/2006/table">
            <a:tbl>
              <a:tblPr firstRow="1" bandRow="1">
                <a:tableStyleId>{5C22544A-7EE6-4342-B048-85BDC9FD1C3A}</a:tableStyleId>
              </a:tblPr>
              <a:tblGrid>
                <a:gridCol w="3108960"/>
                <a:gridCol w="3931920"/>
                <a:gridCol w="3834079"/>
              </a:tblGrid>
              <a:tr h="457200">
                <a:tc>
                  <a:txBody>
                    <a:bodyPr wrap="square"/>
                    <a:lstStyle/>
                    <a:p>
                      <a:pPr algn="l"/>
                      <a:r>
                        <a:rPr sz="990" b="1">
                          <a:solidFill>
                            <a:srgbClr val="C8A870"/>
                          </a:solidFill>
                          <a:latin typeface="Segoe UI"/>
                        </a:rPr>
                        <a:t/>
                      </a:r>
                    </a:p>
                  </a:txBody>
                  <a:tcPr marL="91440" marR="54864" marT="18288" marB="18288" anchor="ctr">
                    <a:noFill/>
                    <a:lnB w="9525" cap="flat" cmpd="sng" algn="ctr">
                      <a:solidFill>
                        <a:srgbClr val="2E3D5C"/>
                      </a:solidFill>
                    </a:lnB>
                  </a:tcPr>
                </a:tc>
                <a:tc>
                  <a:txBody>
                    <a:bodyPr wrap="square"/>
                    <a:lstStyle/>
                    <a:p>
                      <a:pPr algn="l"/>
                      <a:r>
                        <a:rPr sz="990" b="1">
                          <a:solidFill>
                            <a:srgbClr val="C8A870"/>
                          </a:solidFill>
                          <a:latin typeface="Segoe UI"/>
                        </a:rPr>
                        <a:t>SINARAN FOOD SUPPLY  (T1)</a:t>
                      </a:r>
                    </a:p>
                  </a:txBody>
                  <a:tcPr marL="91440" marR="54864" marT="18288" marB="18288" anchor="ctr">
                    <a:noFill/>
                    <a:lnB w="9525" cap="flat" cmpd="sng" algn="ctr">
                      <a:solidFill>
                        <a:srgbClr val="2E3D5C"/>
                      </a:solidFill>
                    </a:lnB>
                  </a:tcPr>
                </a:tc>
                <a:tc>
                  <a:txBody>
                    <a:bodyPr wrap="square"/>
                    <a:lstStyle/>
                    <a:p>
                      <a:pPr algn="l"/>
                      <a:r>
                        <a:rPr sz="990" b="1">
                          <a:solidFill>
                            <a:srgbClr val="C8A870"/>
                          </a:solidFill>
                          <a:latin typeface="Segoe UI"/>
                        </a:rPr>
                        <a:t>KILAT HARDWARE &amp; CLEANING  (T2)</a:t>
                      </a:r>
                    </a:p>
                  </a:txBody>
                  <a:tcPr marL="91440" marR="54864" marT="18288" marB="18288" anchor="ctr">
                    <a:noFill/>
                    <a:lnB w="9525" cap="flat" cmpd="sng" algn="ctr">
                      <a:solidFill>
                        <a:srgbClr val="2E3D5C"/>
                      </a:solidFill>
                    </a:lnB>
                  </a:tcPr>
                </a:tc>
              </a:tr>
              <a:tr h="457200">
                <a:tc>
                  <a:txBody>
                    <a:bodyPr wrap="square"/>
                    <a:lstStyle/>
                    <a:p>
                      <a:pPr algn="l"/>
                      <a:r>
                        <a:rPr sz="1280" i="1">
                          <a:solidFill>
                            <a:srgbClr val="9AA6B8"/>
                          </a:solidFill>
                          <a:latin typeface="Georgia"/>
                        </a:rPr>
                        <a:t>Category</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Food wholesale</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Hardware and cleaning supplies</a:t>
                      </a:r>
                    </a:p>
                  </a:txBody>
                  <a:tcPr marL="91440" marR="54864" marT="18288" marB="18288" anchor="ctr">
                    <a:noFill/>
                    <a:lnB w="9525" cap="flat" cmpd="sng" algn="ctr">
                      <a:solidFill>
                        <a:srgbClr val="2E3D5C"/>
                      </a:solidFill>
                    </a:lnB>
                  </a:tcPr>
                </a:tc>
              </a:tr>
              <a:tr h="457200">
                <a:tc>
                  <a:txBody>
                    <a:bodyPr wrap="square"/>
                    <a:lstStyle/>
                    <a:p>
                      <a:pPr algn="l"/>
                      <a:r>
                        <a:rPr sz="1280" i="1">
                          <a:solidFill>
                            <a:srgbClr val="9AA6B8"/>
                          </a:solidFill>
                          <a:latin typeface="Georgia"/>
                        </a:rPr>
                        <a:t>Products</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40</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16</a:t>
                      </a:r>
                    </a:p>
                  </a:txBody>
                  <a:tcPr marL="91440" marR="54864" marT="18288" marB="18288" anchor="ctr">
                    <a:noFill/>
                    <a:lnB w="9525" cap="flat" cmpd="sng" algn="ctr">
                      <a:solidFill>
                        <a:srgbClr val="2E3D5C"/>
                      </a:solidFill>
                    </a:lnB>
                  </a:tcPr>
                </a:tc>
              </a:tr>
              <a:tr h="457200">
                <a:tc>
                  <a:txBody>
                    <a:bodyPr wrap="square"/>
                    <a:lstStyle/>
                    <a:p>
                      <a:pPr algn="l"/>
                      <a:r>
                        <a:rPr sz="1280" i="1">
                          <a:solidFill>
                            <a:srgbClr val="9AA6B8"/>
                          </a:solidFill>
                          <a:latin typeface="Georgia"/>
                        </a:rPr>
                        <a:t>Inventory</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795 units</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450 units</a:t>
                      </a:r>
                    </a:p>
                  </a:txBody>
                  <a:tcPr marL="91440" marR="54864" marT="18288" marB="18288" anchor="ctr">
                    <a:noFill/>
                    <a:lnB w="9525" cap="flat" cmpd="sng" algn="ctr">
                      <a:solidFill>
                        <a:srgbClr val="2E3D5C"/>
                      </a:solidFill>
                    </a:lnB>
                  </a:tcPr>
                </a:tc>
              </a:tr>
              <a:tr h="457200">
                <a:tc>
                  <a:txBody>
                    <a:bodyPr wrap="square"/>
                    <a:lstStyle/>
                    <a:p>
                      <a:pPr algn="l"/>
                      <a:r>
                        <a:rPr sz="1280" i="1">
                          <a:solidFill>
                            <a:srgbClr val="9AA6B8"/>
                          </a:solidFill>
                          <a:latin typeface="Georgia"/>
                        </a:rPr>
                        <a:t>Customers</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8</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5</a:t>
                      </a:r>
                    </a:p>
                  </a:txBody>
                  <a:tcPr marL="91440" marR="54864" marT="18288" marB="18288" anchor="ctr">
                    <a:noFill/>
                    <a:lnB w="9525" cap="flat" cmpd="sng" algn="ctr">
                      <a:solidFill>
                        <a:srgbClr val="2E3D5C"/>
                      </a:solidFill>
                    </a:lnB>
                  </a:tcPr>
                </a:tc>
              </a:tr>
              <a:tr h="457200">
                <a:tc>
                  <a:txBody>
                    <a:bodyPr wrap="square"/>
                    <a:lstStyle/>
                    <a:p>
                      <a:pPr algn="l"/>
                      <a:r>
                        <a:rPr sz="1280" i="1">
                          <a:solidFill>
                            <a:srgbClr val="9AA6B8"/>
                          </a:solidFill>
                          <a:latin typeface="Georgia"/>
                        </a:rPr>
                        <a:t>Application code changed</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a:t>
                      </a:r>
                    </a:p>
                  </a:txBody>
                  <a:tcPr marL="91440" marR="54864" marT="18288" marB="18288" anchor="ctr">
                    <a:noFill/>
                    <a:lnB w="9525" cap="flat" cmpd="sng" algn="ctr">
                      <a:solidFill>
                        <a:srgbClr val="2E3D5C"/>
                      </a:solidFill>
                    </a:lnB>
                  </a:tcPr>
                </a:tc>
                <a:tc>
                  <a:txBody>
                    <a:bodyPr wrap="square"/>
                    <a:lstStyle/>
                    <a:p>
                      <a:pPr algn="l"/>
                      <a:r>
                        <a:rPr sz="1280" i="0">
                          <a:solidFill>
                            <a:srgbClr val="F0ECE3"/>
                          </a:solidFill>
                          <a:latin typeface="Segoe UI"/>
                        </a:rPr>
                        <a:t>None</a:t>
                      </a:r>
                    </a:p>
                  </a:txBody>
                  <a:tcPr marL="91440" marR="54864" marT="18288" marB="18288" anchor="ctr">
                    <a:noFill/>
                    <a:lnB w="9525" cap="flat" cmpd="sng" algn="ctr">
                      <a:solidFill>
                        <a:srgbClr val="2E3D5C"/>
                      </a:solidFill>
                    </a:lnB>
                  </a:tcPr>
                </a:tc>
              </a:tr>
            </a:tbl>
          </a:graphicData>
        </a:graphic>
      </p:graphicFrame>
      <p:sp>
        <p:nvSpPr>
          <p:cNvPr id="9" name="TextBox 8"/>
          <p:cNvSpPr txBox="1"/>
          <p:nvPr/>
        </p:nvSpPr>
        <p:spPr>
          <a:xfrm>
            <a:off x="658368" y="5440680"/>
            <a:ext cx="10004962" cy="548640"/>
          </a:xfrm>
          <a:prstGeom prst="rect">
            <a:avLst/>
          </a:prstGeom>
          <a:noFill/>
        </p:spPr>
        <p:txBody>
          <a:bodyPr wrap="square" lIns="0" rIns="0" tIns="0" bIns="0" anchor="t">
            <a:spAutoFit/>
          </a:bodyPr>
          <a:lstStyle/>
          <a:p>
            <a:pPr algn="l"/>
            <a:r>
              <a:rPr sz="1220" b="0" i="0">
                <a:solidFill>
                  <a:srgbClr val="C8A870"/>
                </a:solidFill>
                <a:latin typeface="Georgia"/>
              </a:rPr>
              <a:t>Tenant isolation is enforced at the API: a T2 token asking for a T1 delivery order receives 404, with or without a tenant header.</a:t>
            </a:r>
          </a:p>
        </p:txBody>
      </p:sp>
      <p:sp>
        <p:nvSpPr>
          <p:cNvPr id="10" name="TextBox 9"/>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HOW WE EARN MONEY</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07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874959" cy="731520"/>
          </a:xfrm>
          <a:prstGeom prst="rect">
            <a:avLst/>
          </a:prstGeom>
          <a:noFill/>
        </p:spPr>
        <p:txBody>
          <a:bodyPr wrap="square" lIns="0" rIns="0" tIns="0" bIns="0" anchor="t">
            <a:spAutoFit/>
          </a:bodyPr>
          <a:lstStyle/>
          <a:p>
            <a:pPr algn="l"/>
            <a:r>
              <a:rPr sz="2700" b="0" i="0">
                <a:solidFill>
                  <a:srgbClr val="F0ECE3"/>
                </a:solidFill>
                <a:latin typeface="Georgia"/>
              </a:rPr>
              <a:t>Charged per approved order. Never per seat.</a:t>
            </a:r>
          </a:p>
        </p:txBody>
      </p:sp>
      <p:sp>
        <p:nvSpPr>
          <p:cNvPr id="7" name="TextBox 6"/>
          <p:cNvSpPr txBox="1"/>
          <p:nvPr/>
        </p:nvSpPr>
        <p:spPr>
          <a:xfrm>
            <a:off x="658368" y="1911095"/>
            <a:ext cx="36576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8" name="TextBox 7"/>
          <p:cNvSpPr txBox="1"/>
          <p:nvPr/>
        </p:nvSpPr>
        <p:spPr>
          <a:xfrm>
            <a:off x="1069848" y="1874519"/>
            <a:ext cx="10417759" cy="685800"/>
          </a:xfrm>
          <a:prstGeom prst="rect">
            <a:avLst/>
          </a:prstGeom>
          <a:noFill/>
        </p:spPr>
        <p:txBody>
          <a:bodyPr wrap="square" lIns="0" rIns="0" tIns="0" bIns="0" anchor="t">
            <a:spAutoFit/>
          </a:bodyPr>
          <a:lstStyle/>
          <a:p>
            <a:pPr algn="l"/>
            <a:r>
              <a:rPr sz="1330" b="0" i="0">
                <a:solidFill>
                  <a:srgbClr val="F0ECE3"/>
                </a:solidFill>
                <a:latin typeface="Segoe UI"/>
              </a:rPr>
              <a:t>Billing unit: one approved delivery order. Parsing, fallback, rejection and discard are free — we charge only when the merchant got a delivery order she approved.</a:t>
            </a:r>
          </a:p>
        </p:txBody>
      </p:sp>
      <p:cxnSp>
        <p:nvCxnSpPr>
          <p:cNvPr id="9" name="Connector 8"/>
          <p:cNvCxnSpPr/>
          <p:nvPr/>
        </p:nvCxnSpPr>
        <p:spPr>
          <a:xfrm>
            <a:off x="658368" y="2660903"/>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779776"/>
            <a:ext cx="36576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1" name="TextBox 10"/>
          <p:cNvSpPr txBox="1"/>
          <p:nvPr/>
        </p:nvSpPr>
        <p:spPr>
          <a:xfrm>
            <a:off x="1069848" y="2743200"/>
            <a:ext cx="10417759" cy="685800"/>
          </a:xfrm>
          <a:prstGeom prst="rect">
            <a:avLst/>
          </a:prstGeom>
          <a:noFill/>
        </p:spPr>
        <p:txBody>
          <a:bodyPr wrap="square" lIns="0" rIns="0" tIns="0" bIns="0" anchor="t">
            <a:spAutoFit/>
          </a:bodyPr>
          <a:lstStyle/>
          <a:p>
            <a:pPr algn="l"/>
            <a:r>
              <a:rPr sz="1330" b="0" i="0">
                <a:solidFill>
                  <a:srgbClr val="F0ECE3"/>
                </a:solidFill>
                <a:latin typeface="Segoe UI"/>
              </a:rPr>
              <a:t>A free tier runs on the rules path: no model call, so a merchant can adopt the discipline of approval and audit before paying anything.</a:t>
            </a:r>
          </a:p>
        </p:txBody>
      </p:sp>
      <p:cxnSp>
        <p:nvCxnSpPr>
          <p:cNvPr id="12" name="Connector 11"/>
          <p:cNvCxnSpPr/>
          <p:nvPr/>
        </p:nvCxnSpPr>
        <p:spPr>
          <a:xfrm>
            <a:off x="658368" y="352958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648456"/>
            <a:ext cx="36576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4" name="TextBox 13"/>
          <p:cNvSpPr txBox="1"/>
          <p:nvPr/>
        </p:nvSpPr>
        <p:spPr>
          <a:xfrm>
            <a:off x="1069848" y="3611880"/>
            <a:ext cx="10417759" cy="685800"/>
          </a:xfrm>
          <a:prstGeom prst="rect">
            <a:avLst/>
          </a:prstGeom>
          <a:noFill/>
        </p:spPr>
        <p:txBody>
          <a:bodyPr wrap="square" lIns="0" rIns="0" tIns="0" bIns="0" anchor="t">
            <a:spAutoFit/>
          </a:bodyPr>
          <a:lstStyle/>
          <a:p>
            <a:pPr algn="l"/>
            <a:r>
              <a:rPr sz="1330" b="0" i="0">
                <a:solidFill>
                  <a:srgbClr val="F0ECE3"/>
                </a:solidFill>
                <a:latin typeface="Segoe UI"/>
              </a:rPr>
              <a:t>Measured cost anchor: US$0.00019 per GPU-second on one 24 GB card; at p50 1.93 s per parse that is about US$0.4 per 1,000 orders — model time only, idle GPU excluded.</a:t>
            </a:r>
          </a:p>
        </p:txBody>
      </p:sp>
      <p:cxnSp>
        <p:nvCxnSpPr>
          <p:cNvPr id="15" name="Connector 14"/>
          <p:cNvCxnSpPr/>
          <p:nvPr/>
        </p:nvCxnSpPr>
        <p:spPr>
          <a:xfrm>
            <a:off x="658368" y="439826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4517136"/>
            <a:ext cx="365760" cy="274320"/>
          </a:xfrm>
          <a:prstGeom prst="rect">
            <a:avLst/>
          </a:prstGeom>
          <a:noFill/>
        </p:spPr>
        <p:txBody>
          <a:bodyPr wrap="square" lIns="0" rIns="0" tIns="0" bIns="0" anchor="t">
            <a:spAutoFit/>
          </a:bodyPr>
          <a:lstStyle/>
          <a:p>
            <a:pPr algn="l"/>
            <a:r>
              <a:rPr sz="1390" b="0" i="0">
                <a:solidFill>
                  <a:srgbClr val="C8A870"/>
                </a:solidFill>
                <a:latin typeface="Segoe UI"/>
              </a:rPr>
              <a:t>—</a:t>
            </a:r>
          </a:p>
        </p:txBody>
      </p:sp>
      <p:sp>
        <p:nvSpPr>
          <p:cNvPr id="17" name="TextBox 16"/>
          <p:cNvSpPr txBox="1"/>
          <p:nvPr/>
        </p:nvSpPr>
        <p:spPr>
          <a:xfrm>
            <a:off x="1069848" y="4480560"/>
            <a:ext cx="10417759" cy="685800"/>
          </a:xfrm>
          <a:prstGeom prst="rect">
            <a:avLst/>
          </a:prstGeom>
          <a:noFill/>
        </p:spPr>
        <p:txBody>
          <a:bodyPr wrap="square" lIns="0" rIns="0" tIns="0" bIns="0" anchor="t">
            <a:spAutoFit/>
          </a:bodyPr>
          <a:lstStyle/>
          <a:p>
            <a:pPr algn="l"/>
            <a:r>
              <a:rPr sz="1330" b="0" i="0">
                <a:solidFill>
                  <a:srgbClr val="F0ECE3"/>
                </a:solidFill>
                <a:latin typeface="Segoe UI"/>
              </a:rPr>
              <a:t>The price is not set. Freemium — N free orders a month, then per order — is validated by interview in the pilot. We will not print a number we cannot defend.</a:t>
            </a:r>
          </a:p>
        </p:txBody>
      </p:sp>
      <p:cxnSp>
        <p:nvCxnSpPr>
          <p:cNvPr id="18" name="Connector 17"/>
          <p:cNvCxnSpPr/>
          <p:nvPr/>
        </p:nvCxnSpPr>
        <p:spPr>
          <a:xfrm>
            <a:off x="658368" y="526694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5715000"/>
            <a:ext cx="9787463" cy="457200"/>
          </a:xfrm>
          <a:prstGeom prst="rect">
            <a:avLst/>
          </a:prstGeom>
          <a:noFill/>
        </p:spPr>
        <p:txBody>
          <a:bodyPr wrap="square" lIns="0" rIns="0" tIns="0" bIns="0" anchor="t">
            <a:spAutoFit/>
          </a:bodyPr>
          <a:lstStyle/>
          <a:p>
            <a:pPr algn="l"/>
            <a:r>
              <a:rPr sz="1280" b="0" i="1">
                <a:solidFill>
                  <a:srgbClr val="C8A870"/>
                </a:solidFill>
                <a:latin typeface="Georgia"/>
              </a:rPr>
              <a:t>Per-order revenue follows work the merchant actually accepts, not seats she hopes to fill.</a:t>
            </a:r>
          </a:p>
        </p:txBody>
      </p:sp>
      <p:sp>
        <p:nvSpPr>
          <p:cNvPr id="20" name="TextBox 19"/>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FOUR LAYERS · ONE ORDER</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08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874959" cy="822960"/>
          </a:xfrm>
          <a:prstGeom prst="rect">
            <a:avLst/>
          </a:prstGeom>
          <a:noFill/>
        </p:spPr>
        <p:txBody>
          <a:bodyPr wrap="square" lIns="0" rIns="0" tIns="0" bIns="0" anchor="t">
            <a:spAutoFit/>
          </a:bodyPr>
          <a:lstStyle/>
          <a:p>
            <a:pPr algn="l"/>
            <a:r>
              <a:rPr sz="3120" b="0" i="0">
                <a:solidFill>
                  <a:srgbClr val="F0ECE3"/>
                </a:solidFill>
                <a:latin typeface="Georgia"/>
              </a:rPr>
              <a:t>One order, four layers.</a:t>
            </a:r>
          </a:p>
        </p:txBody>
      </p:sp>
      <p:sp>
        <p:nvSpPr>
          <p:cNvPr id="7" name="Rounded Rectangle 6"/>
          <p:cNvSpPr/>
          <p:nvPr/>
        </p:nvSpPr>
        <p:spPr>
          <a:xfrm>
            <a:off x="658368" y="1965960"/>
            <a:ext cx="2512999" cy="3063240"/>
          </a:xfrm>
          <a:prstGeom prst="roundRect">
            <a:avLst>
              <a:gd name="adj" fmla="val 5000"/>
            </a:avLst>
          </a:prstGeom>
          <a:solidFill>
            <a:srgbClr val="243057"/>
          </a:solidFill>
          <a:ln w="9525">
            <a:solidFill>
              <a:srgbClr val="2E3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58368" y="1965960"/>
            <a:ext cx="251299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59536" y="2176272"/>
            <a:ext cx="2110663" cy="219456"/>
          </a:xfrm>
          <a:prstGeom prst="rect">
            <a:avLst/>
          </a:prstGeom>
          <a:noFill/>
        </p:spPr>
        <p:txBody>
          <a:bodyPr wrap="square" lIns="0" rIns="0" tIns="0" bIns="0" anchor="t">
            <a:spAutoFit/>
          </a:bodyPr>
          <a:lstStyle/>
          <a:p>
            <a:pPr algn="l"/>
            <a:r>
              <a:rPr sz="930" b="1" i="0" spc="130">
                <a:solidFill>
                  <a:srgbClr val="C8A870"/>
                </a:solidFill>
                <a:latin typeface="Segoe UI"/>
              </a:rPr>
              <a:t>BACKEND &amp; RULES</a:t>
            </a:r>
          </a:p>
        </p:txBody>
      </p:sp>
      <p:sp>
        <p:nvSpPr>
          <p:cNvPr id="10" name="TextBox 9"/>
          <p:cNvSpPr txBox="1"/>
          <p:nvPr/>
        </p:nvSpPr>
        <p:spPr>
          <a:xfrm>
            <a:off x="859536" y="2432304"/>
            <a:ext cx="2110663" cy="310896"/>
          </a:xfrm>
          <a:prstGeom prst="rect">
            <a:avLst/>
          </a:prstGeom>
          <a:noFill/>
        </p:spPr>
        <p:txBody>
          <a:bodyPr wrap="square" lIns="0" rIns="0" tIns="0" bIns="0" anchor="t">
            <a:spAutoFit/>
          </a:bodyPr>
          <a:lstStyle/>
          <a:p>
            <a:pPr algn="l"/>
            <a:r>
              <a:rPr sz="1660" b="1" i="0">
                <a:solidFill>
                  <a:srgbClr val="F0ECE3"/>
                </a:solidFill>
                <a:latin typeface="Georgia"/>
              </a:rPr>
              <a:t>He Minghao</a:t>
            </a:r>
          </a:p>
        </p:txBody>
      </p:sp>
      <p:sp>
        <p:nvSpPr>
          <p:cNvPr id="11" name="TextBox 10"/>
          <p:cNvSpPr txBox="1"/>
          <p:nvPr/>
        </p:nvSpPr>
        <p:spPr>
          <a:xfrm>
            <a:off x="859536" y="2871216"/>
            <a:ext cx="2110663" cy="1828800"/>
          </a:xfrm>
          <a:prstGeom prst="rect">
            <a:avLst/>
          </a:prstGeom>
          <a:noFill/>
        </p:spPr>
        <p:txBody>
          <a:bodyPr wrap="square" lIns="0" rIns="0" tIns="0" bIns="0" anchor="t">
            <a:spAutoFit/>
          </a:bodyPr>
          <a:lstStyle/>
          <a:p>
            <a:pPr algn="l"/>
            <a:r>
              <a:rPr sz="1160" b="0" i="0">
                <a:solidFill>
                  <a:srgbClr val="9AA6B8"/>
                </a:solidFill>
                <a:latin typeface="Segoe UI"/>
              </a:rPr>
              <a:t>Where every number comes from — the catalogue, the tier price, the stock — and the approval state machine that refuses a stale edit.</a:t>
            </a:r>
          </a:p>
        </p:txBody>
      </p:sp>
      <p:sp>
        <p:nvSpPr>
          <p:cNvPr id="12" name="Rounded Rectangle 11"/>
          <p:cNvSpPr/>
          <p:nvPr/>
        </p:nvSpPr>
        <p:spPr>
          <a:xfrm>
            <a:off x="3445687" y="1965960"/>
            <a:ext cx="2512999" cy="3063240"/>
          </a:xfrm>
          <a:prstGeom prst="roundRect">
            <a:avLst>
              <a:gd name="adj" fmla="val 5000"/>
            </a:avLst>
          </a:prstGeom>
          <a:solidFill>
            <a:srgbClr val="243057"/>
          </a:solidFill>
          <a:ln w="9525">
            <a:solidFill>
              <a:srgbClr val="2E3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445687" y="1965960"/>
            <a:ext cx="251300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46855" y="2176272"/>
            <a:ext cx="2110663" cy="219456"/>
          </a:xfrm>
          <a:prstGeom prst="rect">
            <a:avLst/>
          </a:prstGeom>
          <a:noFill/>
        </p:spPr>
        <p:txBody>
          <a:bodyPr wrap="square" lIns="0" rIns="0" tIns="0" bIns="0" anchor="t">
            <a:spAutoFit/>
          </a:bodyPr>
          <a:lstStyle/>
          <a:p>
            <a:pPr algn="l"/>
            <a:r>
              <a:rPr sz="930" b="1" i="0" spc="130">
                <a:solidFill>
                  <a:srgbClr val="C8A870"/>
                </a:solidFill>
                <a:latin typeface="Segoe UI"/>
              </a:rPr>
              <a:t>AI &amp; DEPLOYMENT</a:t>
            </a:r>
          </a:p>
        </p:txBody>
      </p:sp>
      <p:sp>
        <p:nvSpPr>
          <p:cNvPr id="15" name="TextBox 14"/>
          <p:cNvSpPr txBox="1"/>
          <p:nvPr/>
        </p:nvSpPr>
        <p:spPr>
          <a:xfrm>
            <a:off x="3646855" y="2432304"/>
            <a:ext cx="2110663" cy="310896"/>
          </a:xfrm>
          <a:prstGeom prst="rect">
            <a:avLst/>
          </a:prstGeom>
          <a:noFill/>
        </p:spPr>
        <p:txBody>
          <a:bodyPr wrap="square" lIns="0" rIns="0" tIns="0" bIns="0" anchor="t">
            <a:spAutoFit/>
          </a:bodyPr>
          <a:lstStyle/>
          <a:p>
            <a:pPr algn="l"/>
            <a:r>
              <a:rPr sz="1660" b="1" i="0">
                <a:solidFill>
                  <a:srgbClr val="F0ECE3"/>
                </a:solidFill>
                <a:latin typeface="Georgia"/>
              </a:rPr>
              <a:t>Xiong Peicheng</a:t>
            </a:r>
          </a:p>
        </p:txBody>
      </p:sp>
      <p:sp>
        <p:nvSpPr>
          <p:cNvPr id="16" name="TextBox 15"/>
          <p:cNvSpPr txBox="1"/>
          <p:nvPr/>
        </p:nvSpPr>
        <p:spPr>
          <a:xfrm>
            <a:off x="3646855" y="2871216"/>
            <a:ext cx="2110663" cy="1828800"/>
          </a:xfrm>
          <a:prstGeom prst="rect">
            <a:avLst/>
          </a:prstGeom>
          <a:noFill/>
        </p:spPr>
        <p:txBody>
          <a:bodyPr wrap="square" lIns="0" rIns="0" tIns="0" bIns="0" anchor="t">
            <a:spAutoFit/>
          </a:bodyPr>
          <a:lstStyle/>
          <a:p>
            <a:pPr algn="l"/>
            <a:r>
              <a:rPr sz="1160" b="0" i="0">
                <a:solidFill>
                  <a:srgbClr val="9AA6B8"/>
                </a:solidFill>
                <a:latin typeface="Segoe UI"/>
              </a:rPr>
              <a:t>What happens when the model fails: the fallback path, the mode on screen, and a timeout derived from a measured p95.</a:t>
            </a:r>
          </a:p>
        </p:txBody>
      </p:sp>
      <p:sp>
        <p:nvSpPr>
          <p:cNvPr id="17" name="Rounded Rectangle 16"/>
          <p:cNvSpPr/>
          <p:nvPr/>
        </p:nvSpPr>
        <p:spPr>
          <a:xfrm>
            <a:off x="6233007" y="1965960"/>
            <a:ext cx="2512999" cy="3063240"/>
          </a:xfrm>
          <a:prstGeom prst="roundRect">
            <a:avLst>
              <a:gd name="adj" fmla="val 5000"/>
            </a:avLst>
          </a:prstGeom>
          <a:solidFill>
            <a:srgbClr val="243057"/>
          </a:solidFill>
          <a:ln w="9525">
            <a:solidFill>
              <a:srgbClr val="2E3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6233007" y="1965960"/>
            <a:ext cx="251300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34175" y="2176272"/>
            <a:ext cx="2110663" cy="219456"/>
          </a:xfrm>
          <a:prstGeom prst="rect">
            <a:avLst/>
          </a:prstGeom>
          <a:noFill/>
        </p:spPr>
        <p:txBody>
          <a:bodyPr wrap="square" lIns="0" rIns="0" tIns="0" bIns="0" anchor="t">
            <a:spAutoFit/>
          </a:bodyPr>
          <a:lstStyle/>
          <a:p>
            <a:pPr algn="l"/>
            <a:r>
              <a:rPr sz="930" b="1" i="0" spc="130">
                <a:solidFill>
                  <a:srgbClr val="C8A870"/>
                </a:solidFill>
                <a:latin typeface="Segoe UI"/>
              </a:rPr>
              <a:t>FRONTEND</a:t>
            </a:r>
          </a:p>
        </p:txBody>
      </p:sp>
      <p:sp>
        <p:nvSpPr>
          <p:cNvPr id="20" name="TextBox 19"/>
          <p:cNvSpPr txBox="1"/>
          <p:nvPr/>
        </p:nvSpPr>
        <p:spPr>
          <a:xfrm>
            <a:off x="6434175" y="2432304"/>
            <a:ext cx="2110663" cy="310896"/>
          </a:xfrm>
          <a:prstGeom prst="rect">
            <a:avLst/>
          </a:prstGeom>
          <a:noFill/>
        </p:spPr>
        <p:txBody>
          <a:bodyPr wrap="square" lIns="0" rIns="0" tIns="0" bIns="0" anchor="t">
            <a:spAutoFit/>
          </a:bodyPr>
          <a:lstStyle/>
          <a:p>
            <a:pPr algn="l"/>
            <a:r>
              <a:rPr sz="1660" b="1" i="0">
                <a:solidFill>
                  <a:srgbClr val="F0ECE3"/>
                </a:solidFill>
                <a:latin typeface="Georgia"/>
              </a:rPr>
              <a:t>Ye Lianghui</a:t>
            </a:r>
          </a:p>
        </p:txBody>
      </p:sp>
      <p:sp>
        <p:nvSpPr>
          <p:cNvPr id="21" name="TextBox 20"/>
          <p:cNvSpPr txBox="1"/>
          <p:nvPr/>
        </p:nvSpPr>
        <p:spPr>
          <a:xfrm>
            <a:off x="6434175" y="2871216"/>
            <a:ext cx="2110663" cy="1828800"/>
          </a:xfrm>
          <a:prstGeom prst="rect">
            <a:avLst/>
          </a:prstGeom>
          <a:noFill/>
        </p:spPr>
        <p:txBody>
          <a:bodyPr wrap="square" lIns="0" rIns="0" tIns="0" bIns="0" anchor="t">
            <a:spAutoFit/>
          </a:bodyPr>
          <a:lstStyle/>
          <a:p>
            <a:pPr algn="l"/>
            <a:r>
              <a:rPr sz="1160" b="0" i="0">
                <a:solidFill>
                  <a:srgbClr val="9AA6B8"/>
                </a:solidFill>
                <a:latin typeface="Segoe UI"/>
              </a:rPr>
              <a:t>What a stop looks like: a line that will not settle becomes a card, a question, and a next step the clerk can take.</a:t>
            </a:r>
          </a:p>
        </p:txBody>
      </p:sp>
      <p:sp>
        <p:nvSpPr>
          <p:cNvPr id="22" name="Rounded Rectangle 21"/>
          <p:cNvSpPr/>
          <p:nvPr/>
        </p:nvSpPr>
        <p:spPr>
          <a:xfrm>
            <a:off x="9020327" y="1965960"/>
            <a:ext cx="2512999" cy="3063240"/>
          </a:xfrm>
          <a:prstGeom prst="roundRect">
            <a:avLst>
              <a:gd name="adj" fmla="val 5000"/>
            </a:avLst>
          </a:prstGeom>
          <a:solidFill>
            <a:srgbClr val="243057"/>
          </a:solidFill>
          <a:ln w="9525">
            <a:solidFill>
              <a:srgbClr val="2E3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020327" y="1965960"/>
            <a:ext cx="2513000"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21495" y="2176272"/>
            <a:ext cx="2110663" cy="219456"/>
          </a:xfrm>
          <a:prstGeom prst="rect">
            <a:avLst/>
          </a:prstGeom>
          <a:noFill/>
        </p:spPr>
        <p:txBody>
          <a:bodyPr wrap="square" lIns="0" rIns="0" tIns="0" bIns="0" anchor="t">
            <a:spAutoFit/>
          </a:bodyPr>
          <a:lstStyle/>
          <a:p>
            <a:pPr algn="l"/>
            <a:r>
              <a:rPr sz="930" b="1" i="0" spc="130">
                <a:solidFill>
                  <a:srgbClr val="C8A870"/>
                </a:solidFill>
                <a:latin typeface="Segoe UI"/>
              </a:rPr>
              <a:t>DATA &amp; QUALITY</a:t>
            </a:r>
          </a:p>
        </p:txBody>
      </p:sp>
      <p:sp>
        <p:nvSpPr>
          <p:cNvPr id="25" name="TextBox 24"/>
          <p:cNvSpPr txBox="1"/>
          <p:nvPr/>
        </p:nvSpPr>
        <p:spPr>
          <a:xfrm>
            <a:off x="9221495" y="2432304"/>
            <a:ext cx="2110663" cy="310896"/>
          </a:xfrm>
          <a:prstGeom prst="rect">
            <a:avLst/>
          </a:prstGeom>
          <a:noFill/>
        </p:spPr>
        <p:txBody>
          <a:bodyPr wrap="square" lIns="0" rIns="0" tIns="0" bIns="0" anchor="t">
            <a:spAutoFit/>
          </a:bodyPr>
          <a:lstStyle/>
          <a:p>
            <a:pPr algn="l"/>
            <a:r>
              <a:rPr sz="1660" b="1" i="0">
                <a:solidFill>
                  <a:srgbClr val="F0ECE3"/>
                </a:solidFill>
                <a:latin typeface="Georgia"/>
              </a:rPr>
              <a:t>Zhou Jingxi</a:t>
            </a:r>
          </a:p>
        </p:txBody>
      </p:sp>
      <p:sp>
        <p:nvSpPr>
          <p:cNvPr id="26" name="TextBox 25"/>
          <p:cNvSpPr txBox="1"/>
          <p:nvPr/>
        </p:nvSpPr>
        <p:spPr>
          <a:xfrm>
            <a:off x="9221495" y="2871216"/>
            <a:ext cx="2110663" cy="1828800"/>
          </a:xfrm>
          <a:prstGeom prst="rect">
            <a:avLst/>
          </a:prstGeom>
          <a:noFill/>
        </p:spPr>
        <p:txBody>
          <a:bodyPr wrap="square" lIns="0" rIns="0" tIns="0" bIns="0" anchor="t">
            <a:spAutoFit/>
          </a:bodyPr>
          <a:lstStyle/>
          <a:p>
            <a:pPr algn="l"/>
            <a:r>
              <a:rPr sz="1160" b="0" i="0">
                <a:solidFill>
                  <a:srgbClr val="9AA6B8"/>
                </a:solidFill>
                <a:latin typeface="Segoe UI"/>
              </a:rPr>
              <a:t>How we score ourselves: a frozen answer key, strict whole-case scoring, and two tenants on one build.</a:t>
            </a:r>
          </a:p>
        </p:txBody>
      </p:sp>
      <p:cxnSp>
        <p:nvCxnSpPr>
          <p:cNvPr id="27" name="Connector 26"/>
          <p:cNvCxnSpPr/>
          <p:nvPr/>
        </p:nvCxnSpPr>
        <p:spPr>
          <a:xfrm>
            <a:off x="658368" y="5285232"/>
            <a:ext cx="1087495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5431536"/>
            <a:ext cx="10222461" cy="457200"/>
          </a:xfrm>
          <a:prstGeom prst="rect">
            <a:avLst/>
          </a:prstGeom>
          <a:noFill/>
        </p:spPr>
        <p:txBody>
          <a:bodyPr wrap="square" lIns="0" rIns="0" tIns="0" bIns="0" anchor="t">
            <a:spAutoFit/>
          </a:bodyPr>
          <a:lstStyle/>
          <a:p>
            <a:pPr algn="l"/>
            <a:r>
              <a:rPr sz="1980" b="0" i="0">
                <a:solidFill>
                  <a:srgbClr val="F0ECE3"/>
                </a:solidFill>
                <a:latin typeface="Georgia"/>
              </a:rPr>
              <a:t>Each layer answers one question the order cannot.</a:t>
            </a:r>
          </a:p>
        </p:txBody>
      </p:sp>
      <p:sp>
        <p:nvSpPr>
          <p:cNvPr id="29" name="TextBox 28"/>
          <p:cNvSpPr txBox="1"/>
          <p:nvPr/>
        </p:nvSpPr>
        <p:spPr>
          <a:xfrm>
            <a:off x="658368" y="5925312"/>
            <a:ext cx="10222461" cy="274320"/>
          </a:xfrm>
          <a:prstGeom prst="rect">
            <a:avLst/>
          </a:prstGeom>
          <a:noFill/>
        </p:spPr>
        <p:txBody>
          <a:bodyPr wrap="square" lIns="0" rIns="0" tIns="0" bIns="0" anchor="t">
            <a:spAutoFit/>
          </a:bodyPr>
          <a:lstStyle/>
          <a:p>
            <a:pPr algn="l"/>
            <a:r>
              <a:rPr sz="1160" b="0" i="0">
                <a:solidFill>
                  <a:srgbClr val="9AA6B8"/>
                </a:solidFill>
                <a:latin typeface="Georgia"/>
              </a:rPr>
              <a:t>Numbers, failure, interface, evidence — in the order a single order travels.</a:t>
            </a:r>
          </a:p>
        </p:txBody>
      </p:sp>
      <p:sp>
        <p:nvSpPr>
          <p:cNvPr id="30" name="TextBox 29"/>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HE MINGHAO · BACKEND &amp; RULES</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09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822960"/>
          </a:xfrm>
          <a:prstGeom prst="rect">
            <a:avLst/>
          </a:prstGeom>
          <a:noFill/>
        </p:spPr>
        <p:txBody>
          <a:bodyPr wrap="square" lIns="0" rIns="0" tIns="0" bIns="0" anchor="t">
            <a:spAutoFit/>
          </a:bodyPr>
          <a:lstStyle/>
          <a:p>
            <a:pPr algn="l"/>
            <a:r>
              <a:rPr sz="2390" b="0" i="0">
                <a:solidFill>
                  <a:srgbClr val="F0ECE3"/>
                </a:solidFill>
                <a:latin typeface="Georgia"/>
              </a:rPr>
              <a:t>Where the numbers come from.</a:t>
            </a:r>
          </a:p>
        </p:txBody>
      </p:sp>
      <p:cxnSp>
        <p:nvCxnSpPr>
          <p:cNvPr id="7" name="Connector 6"/>
          <p:cNvCxnSpPr/>
          <p:nvPr/>
        </p:nvCxnSpPr>
        <p:spPr>
          <a:xfrm>
            <a:off x="6095847" y="1965960"/>
            <a:ext cx="0" cy="288036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INNOVATION</a:t>
            </a:r>
          </a:p>
        </p:txBody>
      </p:sp>
      <p:sp>
        <p:nvSpPr>
          <p:cNvPr id="9" name="TextBox 8"/>
          <p:cNvSpPr txBox="1"/>
          <p:nvPr/>
        </p:nvSpPr>
        <p:spPr>
          <a:xfrm>
            <a:off x="658368"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The model never prices.</a:t>
            </a:r>
          </a:p>
        </p:txBody>
      </p:sp>
      <p:sp>
        <p:nvSpPr>
          <p:cNvPr id="10" name="TextBox 9"/>
          <p:cNvSpPr txBox="1"/>
          <p:nvPr/>
        </p:nvSpPr>
        <p:spPr>
          <a:xfrm>
            <a:off x="658368" y="3163824"/>
            <a:ext cx="5117439" cy="825024"/>
          </a:xfrm>
          <a:prstGeom prst="rect">
            <a:avLst/>
          </a:prstGeom>
          <a:noFill/>
        </p:spPr>
        <p:txBody>
          <a:bodyPr wrap="square" lIns="0" rIns="0" tIns="0" bIns="0" anchor="t">
            <a:spAutoFit/>
          </a:bodyPr>
          <a:lstStyle/>
          <a:p>
            <a:pPr algn="l"/>
            <a:r>
              <a:rPr sz="1220" b="0" i="0">
                <a:solidFill>
                  <a:srgbClr val="9AA6B8"/>
                </a:solidFill>
                <a:latin typeface="Segoe UI"/>
              </a:rPr>
              <a:t>Every price, every stock quantity and every pack size is computed from the merchant’s own catalogue — never generated. A field the data cannot evidence becomes a blocking issue instead of a plausible guess.</a:t>
            </a:r>
          </a:p>
        </p:txBody>
      </p:sp>
      <p:sp>
        <p:nvSpPr>
          <p:cNvPr id="11" name="TextBox 10"/>
          <p:cNvSpPr txBox="1"/>
          <p:nvPr/>
        </p:nvSpPr>
        <p:spPr>
          <a:xfrm>
            <a:off x="6415887"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CORE TECHNOLOGY</a:t>
            </a:r>
          </a:p>
        </p:txBody>
      </p:sp>
      <p:sp>
        <p:nvSpPr>
          <p:cNvPr id="12" name="TextBox 11"/>
          <p:cNvSpPr txBox="1"/>
          <p:nvPr/>
        </p:nvSpPr>
        <p:spPr>
          <a:xfrm>
            <a:off x="6415887"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An approval state machine with a permission matrix.</a:t>
            </a:r>
          </a:p>
        </p:txBody>
      </p:sp>
      <p:sp>
        <p:nvSpPr>
          <p:cNvPr id="13" name="TextBox 12"/>
          <p:cNvSpPr txBox="1"/>
          <p:nvPr/>
        </p:nvSpPr>
        <p:spPr>
          <a:xfrm>
            <a:off x="6415887" y="3163824"/>
            <a:ext cx="5117439" cy="618768"/>
          </a:xfrm>
          <a:prstGeom prst="rect">
            <a:avLst/>
          </a:prstGeom>
          <a:noFill/>
        </p:spPr>
        <p:txBody>
          <a:bodyPr wrap="square" lIns="0" rIns="0" tIns="0" bIns="0" anchor="t">
            <a:spAutoFit/>
          </a:bodyPr>
          <a:lstStyle/>
          <a:p>
            <a:pPr algn="l"/>
            <a:r>
              <a:rPr sz="1220" b="0" i="0">
                <a:solidFill>
                  <a:srgbClr val="9AA6B8"/>
                </a:solidFill>
                <a:latin typeface="Segoe UI"/>
              </a:rPr>
              <a:t>Unsaved edits cannot be approved. A below-tier price cannot pass without the owner. A cross-tenant read returns 404 — enforced at the API, not hidden on the page.</a:t>
            </a:r>
          </a:p>
        </p:txBody>
      </p:sp>
      <p:cxnSp>
        <p:nvCxnSpPr>
          <p:cNvPr id="14" name="Connector 13"/>
          <p:cNvCxnSpPr/>
          <p:nvPr/>
        </p:nvCxnSpPr>
        <p:spPr>
          <a:xfrm>
            <a:off x="658368" y="373075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pic>
        <p:nvPicPr>
          <p:cNvPr id="15" name="Picture 14" descr="he-01-stop.png"/>
          <p:cNvPicPr>
            <a:picLocks noChangeAspect="1"/>
          </p:cNvPicPr>
          <p:nvPr/>
        </p:nvPicPr>
        <p:blipFill>
          <a:blip r:embed="rId2"/>
          <a:stretch>
            <a:fillRect/>
          </a:stretch>
        </p:blipFill>
        <p:spPr>
          <a:xfrm>
            <a:off x="737463" y="3822191"/>
            <a:ext cx="3438144" cy="2148840"/>
          </a:xfrm>
          <a:prstGeom prst="rect">
            <a:avLst/>
          </a:prstGeom>
        </p:spPr>
      </p:pic>
      <p:sp>
        <p:nvSpPr>
          <p:cNvPr id="16" name="TextBox 15"/>
          <p:cNvSpPr txBox="1"/>
          <p:nvPr/>
        </p:nvSpPr>
        <p:spPr>
          <a:xfrm>
            <a:off x="737463" y="6025895"/>
            <a:ext cx="3438144" cy="237744"/>
          </a:xfrm>
          <a:prstGeom prst="rect">
            <a:avLst/>
          </a:prstGeom>
          <a:noFill/>
        </p:spPr>
        <p:txBody>
          <a:bodyPr wrap="square" lIns="0" rIns="0" tIns="0" bIns="0" anchor="t">
            <a:spAutoFit/>
          </a:bodyPr>
          <a:lstStyle/>
          <a:p>
            <a:pPr algn="ctr"/>
            <a:r>
              <a:rPr sz="869" b="0" i="0" spc="60">
                <a:solidFill>
                  <a:srgbClr val="9AA6B8"/>
                </a:solidFill>
                <a:latin typeface="Segoe UI"/>
              </a:rPr>
              <a:t>01 · approval blocked, v1.4.0</a:t>
            </a:r>
          </a:p>
        </p:txBody>
      </p:sp>
      <p:pic>
        <p:nvPicPr>
          <p:cNvPr id="17" name="Picture 16" descr="he-02-404.png"/>
          <p:cNvPicPr>
            <a:picLocks noChangeAspect="1"/>
          </p:cNvPicPr>
          <p:nvPr/>
        </p:nvPicPr>
        <p:blipFill>
          <a:blip r:embed="rId3"/>
          <a:stretch>
            <a:fillRect/>
          </a:stretch>
        </p:blipFill>
        <p:spPr>
          <a:xfrm>
            <a:off x="4376775" y="3822191"/>
            <a:ext cx="3438144" cy="2148840"/>
          </a:xfrm>
          <a:prstGeom prst="rect">
            <a:avLst/>
          </a:prstGeom>
        </p:spPr>
      </p:pic>
      <p:sp>
        <p:nvSpPr>
          <p:cNvPr id="18" name="TextBox 17"/>
          <p:cNvSpPr txBox="1"/>
          <p:nvPr/>
        </p:nvSpPr>
        <p:spPr>
          <a:xfrm>
            <a:off x="4376775" y="6025895"/>
            <a:ext cx="3438144" cy="237744"/>
          </a:xfrm>
          <a:prstGeom prst="rect">
            <a:avLst/>
          </a:prstGeom>
          <a:noFill/>
        </p:spPr>
        <p:txBody>
          <a:bodyPr wrap="square" lIns="0" rIns="0" tIns="0" bIns="0" anchor="t">
            <a:spAutoFit/>
          </a:bodyPr>
          <a:lstStyle/>
          <a:p>
            <a:pPr algn="ctr"/>
            <a:r>
              <a:rPr sz="869" b="0" i="0" spc="60">
                <a:solidFill>
                  <a:srgbClr val="9AA6B8"/>
                </a:solidFill>
                <a:latin typeface="Segoe UI"/>
              </a:rPr>
              <a:t>02 · T2 reads T1 · 404</a:t>
            </a:r>
          </a:p>
        </p:txBody>
      </p:sp>
      <p:pic>
        <p:nvPicPr>
          <p:cNvPr id="19" name="Picture 18" descr="he-03-matrix.png"/>
          <p:cNvPicPr>
            <a:picLocks noChangeAspect="1"/>
          </p:cNvPicPr>
          <p:nvPr/>
        </p:nvPicPr>
        <p:blipFill>
          <a:blip r:embed="rId4"/>
          <a:stretch>
            <a:fillRect/>
          </a:stretch>
        </p:blipFill>
        <p:spPr>
          <a:xfrm>
            <a:off x="8016087" y="3822191"/>
            <a:ext cx="3438144" cy="2148840"/>
          </a:xfrm>
          <a:prstGeom prst="rect">
            <a:avLst/>
          </a:prstGeom>
        </p:spPr>
      </p:pic>
      <p:sp>
        <p:nvSpPr>
          <p:cNvPr id="20" name="TextBox 19"/>
          <p:cNvSpPr txBox="1"/>
          <p:nvPr/>
        </p:nvSpPr>
        <p:spPr>
          <a:xfrm>
            <a:off x="8016087" y="6025895"/>
            <a:ext cx="3438144" cy="237744"/>
          </a:xfrm>
          <a:prstGeom prst="rect">
            <a:avLst/>
          </a:prstGeom>
          <a:noFill/>
        </p:spPr>
        <p:txBody>
          <a:bodyPr wrap="square" lIns="0" rIns="0" tIns="0" bIns="0" anchor="t">
            <a:spAutoFit/>
          </a:bodyPr>
          <a:lstStyle/>
          <a:p>
            <a:pPr algn="ctr"/>
            <a:r>
              <a:rPr sz="869" b="0" i="0" spc="60">
                <a:solidFill>
                  <a:srgbClr val="9AA6B8"/>
                </a:solidFill>
                <a:latin typeface="Segoe UI"/>
              </a:rPr>
              <a:t>03 · 41 / 41 permission checks</a:t>
            </a:r>
          </a:p>
        </p:txBody>
      </p:sp>
      <p:sp>
        <p:nvSpPr>
          <p:cNvPr id="21" name="TextBox 20"/>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XIONG PEICHENG · AI &amp; DEPLOYMENT</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10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822960"/>
          </a:xfrm>
          <a:prstGeom prst="rect">
            <a:avLst/>
          </a:prstGeom>
          <a:noFill/>
        </p:spPr>
        <p:txBody>
          <a:bodyPr wrap="square" lIns="0" rIns="0" tIns="0" bIns="0" anchor="t">
            <a:spAutoFit/>
          </a:bodyPr>
          <a:lstStyle/>
          <a:p>
            <a:pPr algn="l"/>
            <a:r>
              <a:rPr sz="2390" b="0" i="0">
                <a:solidFill>
                  <a:srgbClr val="F0ECE3"/>
                </a:solidFill>
                <a:latin typeface="Georgia"/>
              </a:rPr>
              <a:t>When the model cannot answer, failure is visible.</a:t>
            </a:r>
          </a:p>
        </p:txBody>
      </p:sp>
      <p:cxnSp>
        <p:nvCxnSpPr>
          <p:cNvPr id="7" name="Connector 6"/>
          <p:cNvCxnSpPr/>
          <p:nvPr/>
        </p:nvCxnSpPr>
        <p:spPr>
          <a:xfrm>
            <a:off x="6095847" y="1965960"/>
            <a:ext cx="0" cy="288036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INNOVATION</a:t>
            </a:r>
          </a:p>
        </p:txBody>
      </p:sp>
      <p:sp>
        <p:nvSpPr>
          <p:cNvPr id="9" name="TextBox 8"/>
          <p:cNvSpPr txBox="1"/>
          <p:nvPr/>
        </p:nvSpPr>
        <p:spPr>
          <a:xfrm>
            <a:off x="658368"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Failure is visible.</a:t>
            </a:r>
          </a:p>
        </p:txBody>
      </p:sp>
      <p:sp>
        <p:nvSpPr>
          <p:cNvPr id="10" name="TextBox 9"/>
          <p:cNvSpPr txBox="1"/>
          <p:nvPr/>
        </p:nvSpPr>
        <p:spPr>
          <a:xfrm>
            <a:off x="658368" y="3163824"/>
            <a:ext cx="5117439" cy="825024"/>
          </a:xfrm>
          <a:prstGeom prst="rect">
            <a:avLst/>
          </a:prstGeom>
          <a:noFill/>
        </p:spPr>
        <p:txBody>
          <a:bodyPr wrap="square" lIns="0" rIns="0" tIns="0" bIns="0" anchor="t">
            <a:spAutoFit/>
          </a:bodyPr>
          <a:lstStyle/>
          <a:p>
            <a:pPr algn="l"/>
            <a:r>
              <a:rPr sz="1220" b="0" i="0">
                <a:solidFill>
                  <a:srgbClr val="9AA6B8"/>
                </a:solidFill>
                <a:latin typeface="Segoe UI"/>
              </a:rPr>
              <a:t>Deterministic fallback, the extraction mode on screen, and no silent guess. If the model is unavailable, the UI shows FALLBACK. If a field is not evidenced, it becomes a blocking issue — not a guess.</a:t>
            </a:r>
          </a:p>
        </p:txBody>
      </p:sp>
      <p:sp>
        <p:nvSpPr>
          <p:cNvPr id="11" name="TextBox 10"/>
          <p:cNvSpPr txBox="1"/>
          <p:nvPr/>
        </p:nvSpPr>
        <p:spPr>
          <a:xfrm>
            <a:off x="6415887"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CORE TECHNOLOGY</a:t>
            </a:r>
          </a:p>
        </p:txBody>
      </p:sp>
      <p:sp>
        <p:nvSpPr>
          <p:cNvPr id="12" name="TextBox 11"/>
          <p:cNvSpPr txBox="1"/>
          <p:nvPr/>
        </p:nvSpPr>
        <p:spPr>
          <a:xfrm>
            <a:off x="6415887"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An evidence-bound AI contract.</a:t>
            </a:r>
          </a:p>
        </p:txBody>
      </p:sp>
      <p:sp>
        <p:nvSpPr>
          <p:cNvPr id="13" name="TextBox 12"/>
          <p:cNvSpPr txBox="1"/>
          <p:nvPr/>
        </p:nvSpPr>
        <p:spPr>
          <a:xfrm>
            <a:off x="6415887" y="3163824"/>
            <a:ext cx="5117439" cy="825024"/>
          </a:xfrm>
          <a:prstGeom prst="rect">
            <a:avLst/>
          </a:prstGeom>
          <a:noFill/>
        </p:spPr>
        <p:txBody>
          <a:bodyPr wrap="square" lIns="0" rIns="0" tIns="0" bIns="0" anchor="t">
            <a:spAutoFit/>
          </a:bodyPr>
          <a:lstStyle/>
          <a:p>
            <a:pPr algn="l"/>
            <a:r>
              <a:rPr sz="1220" b="0" i="0">
                <a:solidFill>
                  <a:srgbClr val="9AA6B8"/>
                </a:solidFill>
                <a:latin typeface="Segoe UI"/>
              </a:rPr>
              <a:t>Qwen proposes product, quantity, unit and pack. The backend verifies each proposed field against the source span; unsupported fields are blocked, not guessed. Price, stock and approval are never decided by the model.</a:t>
            </a:r>
          </a:p>
        </p:txBody>
      </p:sp>
      <p:cxnSp>
        <p:nvCxnSpPr>
          <p:cNvPr id="14" name="Connector 13"/>
          <p:cNvCxnSpPr/>
          <p:nvPr/>
        </p:nvCxnSpPr>
        <p:spPr>
          <a:xfrm>
            <a:off x="658368" y="3703320"/>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pic>
        <p:nvPicPr>
          <p:cNvPr id="15" name="Picture 14" descr="xiong-01-review.jpg"/>
          <p:cNvPicPr>
            <a:picLocks noChangeAspect="1"/>
          </p:cNvPicPr>
          <p:nvPr/>
        </p:nvPicPr>
        <p:blipFill>
          <a:blip r:embed="rId2"/>
          <a:stretch>
            <a:fillRect/>
          </a:stretch>
        </p:blipFill>
        <p:spPr>
          <a:xfrm>
            <a:off x="1395028" y="3794760"/>
            <a:ext cx="3851338" cy="2103120"/>
          </a:xfrm>
          <a:prstGeom prst="rect">
            <a:avLst/>
          </a:prstGeom>
        </p:spPr>
      </p:pic>
      <p:pic>
        <p:nvPicPr>
          <p:cNvPr id="16" name="Picture 15" descr="xiong-04-combo.jpg"/>
          <p:cNvPicPr>
            <a:picLocks noChangeAspect="1"/>
          </p:cNvPicPr>
          <p:nvPr/>
        </p:nvPicPr>
        <p:blipFill>
          <a:blip r:embed="rId3"/>
          <a:stretch>
            <a:fillRect/>
          </a:stretch>
        </p:blipFill>
        <p:spPr>
          <a:xfrm>
            <a:off x="5447534" y="3794760"/>
            <a:ext cx="5349133" cy="2103120"/>
          </a:xfrm>
          <a:prstGeom prst="rect">
            <a:avLst/>
          </a:prstGeom>
        </p:spPr>
      </p:pic>
      <p:sp>
        <p:nvSpPr>
          <p:cNvPr id="17" name="TextBox 16"/>
          <p:cNvSpPr txBox="1"/>
          <p:nvPr/>
        </p:nvSpPr>
        <p:spPr>
          <a:xfrm>
            <a:off x="658368" y="5943600"/>
            <a:ext cx="3222650" cy="256032"/>
          </a:xfrm>
          <a:prstGeom prst="rect">
            <a:avLst/>
          </a:prstGeom>
          <a:noFill/>
        </p:spPr>
        <p:txBody>
          <a:bodyPr wrap="square" lIns="0" rIns="0" tIns="0" bIns="0" anchor="t">
            <a:spAutoFit/>
          </a:bodyPr>
          <a:lstStyle/>
          <a:p>
            <a:pPr algn="l"/>
            <a:r>
              <a:rPr sz="1460" b="0" i="0">
                <a:solidFill>
                  <a:srgbClr val="C8A870"/>
                </a:solidFill>
                <a:latin typeface="Georgia"/>
              </a:rPr>
              <a:t>198.5 s</a:t>
            </a:r>
          </a:p>
        </p:txBody>
      </p:sp>
      <p:sp>
        <p:nvSpPr>
          <p:cNvPr id="18" name="TextBox 17"/>
          <p:cNvSpPr txBox="1"/>
          <p:nvPr/>
        </p:nvSpPr>
        <p:spPr>
          <a:xfrm>
            <a:off x="658368" y="6217920"/>
            <a:ext cx="3222650" cy="182880"/>
          </a:xfrm>
          <a:prstGeom prst="rect">
            <a:avLst/>
          </a:prstGeom>
          <a:noFill/>
        </p:spPr>
        <p:txBody>
          <a:bodyPr wrap="square" lIns="0" rIns="0" tIns="0" bIns="0" anchor="t">
            <a:spAutoFit/>
          </a:bodyPr>
          <a:lstStyle/>
          <a:p>
            <a:pPr algn="l"/>
            <a:r>
              <a:rPr sz="810" b="0" i="0">
                <a:solidFill>
                  <a:srgbClr val="9AA6B8"/>
                </a:solidFill>
                <a:latin typeface="Segoe UI"/>
              </a:rPr>
              <a:t>historical true cold start</a:t>
            </a:r>
          </a:p>
        </p:txBody>
      </p:sp>
      <p:cxnSp>
        <p:nvCxnSpPr>
          <p:cNvPr id="19" name="Connector 18"/>
          <p:cNvCxnSpPr/>
          <p:nvPr/>
        </p:nvCxnSpPr>
        <p:spPr>
          <a:xfrm>
            <a:off x="4265066" y="5961888"/>
            <a:ext cx="0" cy="420624"/>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94250" y="5943600"/>
            <a:ext cx="3222650" cy="256032"/>
          </a:xfrm>
          <a:prstGeom prst="rect">
            <a:avLst/>
          </a:prstGeom>
          <a:noFill/>
        </p:spPr>
        <p:txBody>
          <a:bodyPr wrap="square" lIns="0" rIns="0" tIns="0" bIns="0" anchor="t">
            <a:spAutoFit/>
          </a:bodyPr>
          <a:lstStyle/>
          <a:p>
            <a:pPr algn="l"/>
            <a:r>
              <a:rPr sz="1460" b="0" i="0">
                <a:solidFill>
                  <a:srgbClr val="C8A870"/>
                </a:solidFill>
                <a:latin typeface="Georgia"/>
              </a:rPr>
              <a:t>3.15 s</a:t>
            </a:r>
          </a:p>
        </p:txBody>
      </p:sp>
      <p:sp>
        <p:nvSpPr>
          <p:cNvPr id="21" name="TextBox 20"/>
          <p:cNvSpPr txBox="1"/>
          <p:nvPr/>
        </p:nvSpPr>
        <p:spPr>
          <a:xfrm>
            <a:off x="4594250" y="6217920"/>
            <a:ext cx="3222650" cy="182880"/>
          </a:xfrm>
          <a:prstGeom prst="rect">
            <a:avLst/>
          </a:prstGeom>
          <a:noFill/>
        </p:spPr>
        <p:txBody>
          <a:bodyPr wrap="square" lIns="0" rIns="0" tIns="0" bIns="0" anchor="t">
            <a:spAutoFit/>
          </a:bodyPr>
          <a:lstStyle/>
          <a:p>
            <a:pPr algn="l"/>
            <a:r>
              <a:rPr sz="810" b="0" i="0">
                <a:solidFill>
                  <a:srgbClr val="9AA6B8"/>
                </a:solidFill>
                <a:latin typeface="Segoe UI"/>
              </a:rPr>
              <a:t>warm p95 · timeout 4.1 = round(p95 + 1 s)</a:t>
            </a:r>
          </a:p>
        </p:txBody>
      </p:sp>
      <p:cxnSp>
        <p:nvCxnSpPr>
          <p:cNvPr id="22" name="Connector 21"/>
          <p:cNvCxnSpPr/>
          <p:nvPr/>
        </p:nvCxnSpPr>
        <p:spPr>
          <a:xfrm>
            <a:off x="7890052" y="5961888"/>
            <a:ext cx="0" cy="420624"/>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19236" y="5943600"/>
            <a:ext cx="3222650" cy="256032"/>
          </a:xfrm>
          <a:prstGeom prst="rect">
            <a:avLst/>
          </a:prstGeom>
          <a:noFill/>
        </p:spPr>
        <p:txBody>
          <a:bodyPr wrap="square" lIns="0" rIns="0" tIns="0" bIns="0" anchor="t">
            <a:spAutoFit/>
          </a:bodyPr>
          <a:lstStyle/>
          <a:p>
            <a:pPr algn="l"/>
            <a:r>
              <a:rPr sz="1460" b="0" i="0">
                <a:solidFill>
                  <a:srgbClr val="C8A870"/>
                </a:solidFill>
                <a:latin typeface="Georgia"/>
              </a:rPr>
              <a:t>20 · 0</a:t>
            </a:r>
          </a:p>
        </p:txBody>
      </p:sp>
      <p:sp>
        <p:nvSpPr>
          <p:cNvPr id="24" name="TextBox 23"/>
          <p:cNvSpPr txBox="1"/>
          <p:nvPr/>
        </p:nvSpPr>
        <p:spPr>
          <a:xfrm>
            <a:off x="8219236" y="6217920"/>
            <a:ext cx="3222650" cy="182880"/>
          </a:xfrm>
          <a:prstGeom prst="rect">
            <a:avLst/>
          </a:prstGeom>
          <a:noFill/>
        </p:spPr>
        <p:txBody>
          <a:bodyPr wrap="square" lIns="0" rIns="0" tIns="0" bIns="0" anchor="t">
            <a:spAutoFit/>
          </a:bodyPr>
          <a:lstStyle/>
          <a:p>
            <a:pPr algn="l"/>
            <a:r>
              <a:rPr sz="810" b="0" i="0">
                <a:solidFill>
                  <a:srgbClr val="9AA6B8"/>
                </a:solidFill>
                <a:latin typeface="Segoe UI"/>
              </a:rPr>
              <a:t>warm calls · fallbacks — reliability, not accuracy</a:t>
            </a:r>
          </a:p>
        </p:txBody>
      </p:sp>
      <p:sp>
        <p:nvSpPr>
          <p:cNvPr id="25" name="TextBox 24"/>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YE LIANGHUI · FRONTEND</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11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822960"/>
          </a:xfrm>
          <a:prstGeom prst="rect">
            <a:avLst/>
          </a:prstGeom>
          <a:noFill/>
        </p:spPr>
        <p:txBody>
          <a:bodyPr wrap="square" lIns="0" rIns="0" tIns="0" bIns="0" anchor="t">
            <a:spAutoFit/>
          </a:bodyPr>
          <a:lstStyle/>
          <a:p>
            <a:pPr algn="l"/>
            <a:r>
              <a:rPr sz="2390" b="0" i="0">
                <a:solidFill>
                  <a:srgbClr val="F0ECE3"/>
                </a:solidFill>
                <a:latin typeface="Georgia"/>
              </a:rPr>
              <a:t>Make uncertainty actionable.</a:t>
            </a:r>
          </a:p>
        </p:txBody>
      </p:sp>
      <p:cxnSp>
        <p:nvCxnSpPr>
          <p:cNvPr id="7" name="Connector 6"/>
          <p:cNvCxnSpPr/>
          <p:nvPr/>
        </p:nvCxnSpPr>
        <p:spPr>
          <a:xfrm>
            <a:off x="6095847" y="1965960"/>
            <a:ext cx="0" cy="288036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INNOVATION</a:t>
            </a:r>
          </a:p>
        </p:txBody>
      </p:sp>
      <p:sp>
        <p:nvSpPr>
          <p:cNvPr id="9" name="TextBox 8"/>
          <p:cNvSpPr txBox="1"/>
          <p:nvPr/>
        </p:nvSpPr>
        <p:spPr>
          <a:xfrm>
            <a:off x="658368"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The screen shows both options.</a:t>
            </a:r>
          </a:p>
        </p:txBody>
      </p:sp>
      <p:sp>
        <p:nvSpPr>
          <p:cNvPr id="10" name="TextBox 9"/>
          <p:cNvSpPr txBox="1"/>
          <p:nvPr/>
        </p:nvSpPr>
        <p:spPr>
          <a:xfrm>
            <a:off x="658368" y="3163824"/>
            <a:ext cx="5117439" cy="618768"/>
          </a:xfrm>
          <a:prstGeom prst="rect">
            <a:avLst/>
          </a:prstGeom>
          <a:noFill/>
        </p:spPr>
        <p:txBody>
          <a:bodyPr wrap="square" lIns="0" rIns="0" tIns="0" bIns="0" anchor="t">
            <a:spAutoFit/>
          </a:bodyPr>
          <a:lstStyle/>
          <a:p>
            <a:pPr algn="l"/>
            <a:r>
              <a:rPr sz="1220" b="0" i="0">
                <a:solidFill>
                  <a:srgbClr val="9AA6B8"/>
                </a:solidFill>
                <a:latin typeface="Segoe UI"/>
              </a:rPr>
              <a:t>Ten trays of eggs, no grade. Instead of choosing for the clerk, the card puts the two catalogue options side by side — each with its own price and its own stock.</a:t>
            </a:r>
          </a:p>
        </p:txBody>
      </p:sp>
      <p:sp>
        <p:nvSpPr>
          <p:cNvPr id="11" name="TextBox 10"/>
          <p:cNvSpPr txBox="1"/>
          <p:nvPr/>
        </p:nvSpPr>
        <p:spPr>
          <a:xfrm>
            <a:off x="6415887" y="2011680"/>
            <a:ext cx="5117439" cy="256032"/>
          </a:xfrm>
          <a:prstGeom prst="rect">
            <a:avLst/>
          </a:prstGeom>
          <a:noFill/>
        </p:spPr>
        <p:txBody>
          <a:bodyPr wrap="square" lIns="0" rIns="0" tIns="0" bIns="0" anchor="t">
            <a:spAutoFit/>
          </a:bodyPr>
          <a:lstStyle/>
          <a:p>
            <a:pPr algn="l"/>
            <a:r>
              <a:rPr sz="990" b="1" i="0" spc="160">
                <a:solidFill>
                  <a:srgbClr val="C8A870"/>
                </a:solidFill>
                <a:latin typeface="Segoe UI"/>
              </a:rPr>
              <a:t>CORE TECHNOLOGY</a:t>
            </a:r>
          </a:p>
        </p:txBody>
      </p:sp>
      <p:sp>
        <p:nvSpPr>
          <p:cNvPr id="12" name="TextBox 11"/>
          <p:cNvSpPr txBox="1"/>
          <p:nvPr/>
        </p:nvSpPr>
        <p:spPr>
          <a:xfrm>
            <a:off x="6415887" y="2331720"/>
            <a:ext cx="5117439" cy="777240"/>
          </a:xfrm>
          <a:prstGeom prst="rect">
            <a:avLst/>
          </a:prstGeom>
          <a:noFill/>
        </p:spPr>
        <p:txBody>
          <a:bodyPr wrap="square" lIns="0" rIns="0" tIns="0" bIns="0" anchor="t">
            <a:spAutoFit/>
          </a:bodyPr>
          <a:lstStyle/>
          <a:p>
            <a:pPr algn="l"/>
            <a:r>
              <a:rPr sz="1770" b="1" i="0">
                <a:solidFill>
                  <a:srgbClr val="F0ECE3"/>
                </a:solidFill>
                <a:latin typeface="Georgia"/>
              </a:rPr>
              <a:t>A dispute becomes a card and a question.</a:t>
            </a:r>
          </a:p>
        </p:txBody>
      </p:sp>
      <p:sp>
        <p:nvSpPr>
          <p:cNvPr id="13" name="TextBox 12"/>
          <p:cNvSpPr txBox="1"/>
          <p:nvPr/>
        </p:nvSpPr>
        <p:spPr>
          <a:xfrm>
            <a:off x="6415887" y="3163824"/>
            <a:ext cx="5117439" cy="618768"/>
          </a:xfrm>
          <a:prstGeom prst="rect">
            <a:avLst/>
          </a:prstGeom>
          <a:noFill/>
        </p:spPr>
        <p:txBody>
          <a:bodyPr wrap="square" lIns="0" rIns="0" tIns="0" bIns="0" anchor="t">
            <a:spAutoFit/>
          </a:bodyPr>
          <a:lstStyle/>
          <a:p>
            <a:pPr algn="l"/>
            <a:r>
              <a:rPr sz="1220" b="0" i="0">
                <a:solidFill>
                  <a:srgbClr val="9AA6B8"/>
                </a:solidFill>
                <a:latin typeface="Segoe UI"/>
              </a:rPr>
              <a:t>The unresolved line names the field, keeps the span it came from, and drafts the question for the customer. The next step is “Resolve checks”. Approval must wait.</a:t>
            </a:r>
          </a:p>
        </p:txBody>
      </p:sp>
      <p:cxnSp>
        <p:nvCxnSpPr>
          <p:cNvPr id="14" name="Connector 13"/>
          <p:cNvCxnSpPr/>
          <p:nvPr/>
        </p:nvCxnSpPr>
        <p:spPr>
          <a:xfrm>
            <a:off x="658368" y="373075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pic>
        <p:nvPicPr>
          <p:cNvPr id="15" name="Picture 14" descr="ye-01-draft.png"/>
          <p:cNvPicPr>
            <a:picLocks noChangeAspect="1"/>
          </p:cNvPicPr>
          <p:nvPr/>
        </p:nvPicPr>
        <p:blipFill>
          <a:blip r:embed="rId2"/>
          <a:stretch>
            <a:fillRect/>
          </a:stretch>
        </p:blipFill>
        <p:spPr>
          <a:xfrm>
            <a:off x="4009130" y="3822191"/>
            <a:ext cx="2804418" cy="2148840"/>
          </a:xfrm>
          <a:prstGeom prst="rect">
            <a:avLst/>
          </a:prstGeom>
        </p:spPr>
      </p:pic>
      <p:sp>
        <p:nvSpPr>
          <p:cNvPr id="16" name="TextBox 15"/>
          <p:cNvSpPr txBox="1"/>
          <p:nvPr/>
        </p:nvSpPr>
        <p:spPr>
          <a:xfrm>
            <a:off x="4009130" y="6025895"/>
            <a:ext cx="2804418" cy="237744"/>
          </a:xfrm>
          <a:prstGeom prst="rect">
            <a:avLst/>
          </a:prstGeom>
          <a:noFill/>
        </p:spPr>
        <p:txBody>
          <a:bodyPr wrap="square" lIns="0" rIns="0" tIns="0" bIns="0" anchor="t">
            <a:spAutoFit/>
          </a:bodyPr>
          <a:lstStyle/>
          <a:p>
            <a:pPr algn="ctr"/>
            <a:r>
              <a:rPr sz="869" b="0" i="0" spc="60">
                <a:solidFill>
                  <a:srgbClr val="9AA6B8"/>
                </a:solidFill>
                <a:latin typeface="Segoe UI"/>
              </a:rPr>
              <a:t>01 · a line that will not settle</a:t>
            </a:r>
          </a:p>
        </p:txBody>
      </p:sp>
      <p:pic>
        <p:nvPicPr>
          <p:cNvPr id="17" name="Picture 16" descr="ye-02-ask.png"/>
          <p:cNvPicPr>
            <a:picLocks noChangeAspect="1"/>
          </p:cNvPicPr>
          <p:nvPr/>
        </p:nvPicPr>
        <p:blipFill>
          <a:blip r:embed="rId3"/>
          <a:stretch>
            <a:fillRect/>
          </a:stretch>
        </p:blipFill>
        <p:spPr>
          <a:xfrm>
            <a:off x="7014716" y="3822191"/>
            <a:ext cx="1167848" cy="2148840"/>
          </a:xfrm>
          <a:prstGeom prst="rect">
            <a:avLst/>
          </a:prstGeom>
        </p:spPr>
      </p:pic>
      <p:sp>
        <p:nvSpPr>
          <p:cNvPr id="18" name="TextBox 17"/>
          <p:cNvSpPr txBox="1"/>
          <p:nvPr/>
        </p:nvSpPr>
        <p:spPr>
          <a:xfrm>
            <a:off x="7014716" y="6025895"/>
            <a:ext cx="1167847" cy="293830"/>
          </a:xfrm>
          <a:prstGeom prst="rect">
            <a:avLst/>
          </a:prstGeom>
          <a:noFill/>
        </p:spPr>
        <p:txBody>
          <a:bodyPr wrap="square" lIns="0" rIns="0" tIns="0" bIns="0" anchor="t">
            <a:spAutoFit/>
          </a:bodyPr>
          <a:lstStyle/>
          <a:p>
            <a:pPr algn="ctr"/>
            <a:r>
              <a:rPr sz="869" b="0" i="0" spc="60">
                <a:solidFill>
                  <a:srgbClr val="9AA6B8"/>
                </a:solidFill>
                <a:latin typeface="Segoe UI"/>
              </a:rPr>
              <a:t>02 · the question, drafted</a:t>
            </a:r>
          </a:p>
        </p:txBody>
      </p:sp>
      <p:sp>
        <p:nvSpPr>
          <p:cNvPr id="19" name="TextBox 18"/>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YE LIANGHUI · FRONTEND</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12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822960"/>
          </a:xfrm>
          <a:prstGeom prst="rect">
            <a:avLst/>
          </a:prstGeom>
          <a:noFill/>
        </p:spPr>
        <p:txBody>
          <a:bodyPr wrap="square" lIns="0" rIns="0" tIns="0" bIns="0" anchor="t">
            <a:spAutoFit/>
          </a:bodyPr>
          <a:lstStyle/>
          <a:p>
            <a:pPr algn="l"/>
            <a:r>
              <a:rPr sz="2390" b="0" i="0">
                <a:solidFill>
                  <a:srgbClr val="F0ECE3"/>
                </a:solidFill>
                <a:latin typeface="Georgia"/>
              </a:rPr>
              <a:t>Each role gets only what it needs for the next step.</a:t>
            </a:r>
          </a:p>
        </p:txBody>
      </p:sp>
      <p:pic>
        <p:nvPicPr>
          <p:cNvPr id="7" name="Picture 6" descr="ye-03-warehouse.png"/>
          <p:cNvPicPr>
            <a:picLocks noChangeAspect="1"/>
          </p:cNvPicPr>
          <p:nvPr/>
        </p:nvPicPr>
        <p:blipFill>
          <a:blip r:embed="rId2"/>
          <a:stretch>
            <a:fillRect/>
          </a:stretch>
        </p:blipFill>
        <p:spPr>
          <a:xfrm>
            <a:off x="3657873" y="1783080"/>
            <a:ext cx="4875949" cy="3794760"/>
          </a:xfrm>
          <a:prstGeom prst="rect">
            <a:avLst/>
          </a:prstGeom>
        </p:spPr>
      </p:pic>
      <p:sp>
        <p:nvSpPr>
          <p:cNvPr id="8" name="TextBox 7"/>
          <p:cNvSpPr txBox="1"/>
          <p:nvPr/>
        </p:nvSpPr>
        <p:spPr>
          <a:xfrm>
            <a:off x="3657873" y="5632704"/>
            <a:ext cx="4875948" cy="237744"/>
          </a:xfrm>
          <a:prstGeom prst="rect">
            <a:avLst/>
          </a:prstGeom>
          <a:noFill/>
        </p:spPr>
        <p:txBody>
          <a:bodyPr wrap="square" lIns="0" rIns="0" tIns="0" bIns="0" anchor="t">
            <a:spAutoFit/>
          </a:bodyPr>
          <a:lstStyle/>
          <a:p>
            <a:pPr algn="ctr"/>
            <a:r>
              <a:rPr sz="869" b="0" i="0" spc="60">
                <a:solidFill>
                  <a:srgbClr val="9AA6B8"/>
                </a:solidFill>
                <a:latin typeface="Segoe UI"/>
              </a:rPr>
              <a:t>03 · warehouse, four fields</a:t>
            </a:r>
          </a:p>
        </p:txBody>
      </p:sp>
      <p:sp>
        <p:nvSpPr>
          <p:cNvPr id="9" name="TextBox 8"/>
          <p:cNvSpPr txBox="1"/>
          <p:nvPr/>
        </p:nvSpPr>
        <p:spPr>
          <a:xfrm>
            <a:off x="658368" y="6016752"/>
            <a:ext cx="10874959" cy="457200"/>
          </a:xfrm>
          <a:prstGeom prst="rect">
            <a:avLst/>
          </a:prstGeom>
          <a:noFill/>
        </p:spPr>
        <p:txBody>
          <a:bodyPr wrap="square" lIns="0" rIns="0" tIns="0" bIns="0" anchor="t">
            <a:spAutoFit/>
          </a:bodyPr>
          <a:lstStyle/>
          <a:p>
            <a:pPr algn="l"/>
            <a:r>
              <a:rPr sz="1280" b="0" i="0">
                <a:solidFill>
                  <a:srgbClr val="F0ECE3"/>
                </a:solidFill>
                <a:latin typeface="Georgia"/>
              </a:rPr>
              <a:t>No prices, no totals, no customer contacts — enforced by the API, not hidden on the page.</a:t>
            </a:r>
          </a:p>
        </p:txBody>
      </p:sp>
      <p:sp>
        <p:nvSpPr>
          <p:cNvPr id="10" name="TextBox 9"/>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ZHOU JINGXI · DATA &amp; QUALITY</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13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004962" cy="822960"/>
          </a:xfrm>
          <a:prstGeom prst="rect">
            <a:avLst/>
          </a:prstGeom>
          <a:noFill/>
        </p:spPr>
        <p:txBody>
          <a:bodyPr wrap="square" lIns="0" rIns="0" tIns="0" bIns="0" anchor="t">
            <a:spAutoFit/>
          </a:bodyPr>
          <a:lstStyle/>
          <a:p>
            <a:pPr algn="l"/>
            <a:r>
              <a:rPr sz="2390" b="0" i="0">
                <a:solidFill>
                  <a:srgbClr val="F0ECE3"/>
                </a:solidFill>
                <a:latin typeface="Georgia"/>
              </a:rPr>
              <a:t>We score against an answer key the model did not write.</a:t>
            </a:r>
          </a:p>
        </p:txBody>
      </p:sp>
      <p:sp>
        <p:nvSpPr>
          <p:cNvPr id="7" name="TextBox 6"/>
          <p:cNvSpPr txBox="1"/>
          <p:nvPr/>
        </p:nvSpPr>
        <p:spPr>
          <a:xfrm>
            <a:off x="658368" y="1755648"/>
            <a:ext cx="4846320" cy="219456"/>
          </a:xfrm>
          <a:prstGeom prst="rect">
            <a:avLst/>
          </a:prstGeom>
          <a:noFill/>
        </p:spPr>
        <p:txBody>
          <a:bodyPr wrap="square" lIns="0" rIns="0" tIns="0" bIns="0" anchor="t">
            <a:spAutoFit/>
          </a:bodyPr>
          <a:lstStyle/>
          <a:p>
            <a:pPr algn="l"/>
            <a:r>
              <a:rPr sz="930" b="1" i="0" spc="150">
                <a:solidFill>
                  <a:srgbClr val="C8A870"/>
                </a:solidFill>
                <a:latin typeface="Segoe UI"/>
              </a:rPr>
              <a:t>INNOVATION</a:t>
            </a:r>
          </a:p>
        </p:txBody>
      </p:sp>
      <p:sp>
        <p:nvSpPr>
          <p:cNvPr id="8" name="TextBox 7"/>
          <p:cNvSpPr txBox="1"/>
          <p:nvPr/>
        </p:nvSpPr>
        <p:spPr>
          <a:xfrm>
            <a:off x="658368" y="1956816"/>
            <a:ext cx="4846320" cy="502920"/>
          </a:xfrm>
          <a:prstGeom prst="rect">
            <a:avLst/>
          </a:prstGeom>
          <a:noFill/>
        </p:spPr>
        <p:txBody>
          <a:bodyPr wrap="square" lIns="0" rIns="0" tIns="0" bIns="0" anchor="t">
            <a:spAutoFit/>
          </a:bodyPr>
          <a:lstStyle/>
          <a:p>
            <a:pPr algn="l"/>
            <a:r>
              <a:rPr sz="1560" b="1" i="0">
                <a:solidFill>
                  <a:srgbClr val="F0ECE3"/>
                </a:solidFill>
                <a:latin typeface="Georgia"/>
              </a:rPr>
              <a:t>Strict whole-case scoring.</a:t>
            </a:r>
          </a:p>
        </p:txBody>
      </p:sp>
      <p:sp>
        <p:nvSpPr>
          <p:cNvPr id="9" name="TextBox 8"/>
          <p:cNvSpPr txBox="1"/>
          <p:nvPr/>
        </p:nvSpPr>
        <p:spPr>
          <a:xfrm>
            <a:off x="658368" y="2487168"/>
            <a:ext cx="4846320" cy="960120"/>
          </a:xfrm>
          <a:prstGeom prst="rect">
            <a:avLst/>
          </a:prstGeom>
          <a:noFill/>
        </p:spPr>
        <p:txBody>
          <a:bodyPr wrap="square" lIns="0" rIns="0" tIns="0" bIns="0" anchor="t">
            <a:spAutoFit/>
          </a:bodyPr>
          <a:lstStyle/>
          <a:p>
            <a:pPr algn="l"/>
            <a:r>
              <a:rPr sz="1160" b="0" i="0">
                <a:solidFill>
                  <a:srgbClr val="9AA6B8"/>
                </a:solidFill>
                <a:latin typeface="Segoe UI"/>
              </a:rPr>
              <a:t>A case passes only when all six fields are right at once. Eight of twenty-three do. Small sample, built by us — and we report the number as it is.</a:t>
            </a:r>
          </a:p>
        </p:txBody>
      </p:sp>
      <p:sp>
        <p:nvSpPr>
          <p:cNvPr id="10" name="TextBox 9"/>
          <p:cNvSpPr txBox="1"/>
          <p:nvPr/>
        </p:nvSpPr>
        <p:spPr>
          <a:xfrm>
            <a:off x="658368" y="3520440"/>
            <a:ext cx="4846320" cy="219456"/>
          </a:xfrm>
          <a:prstGeom prst="rect">
            <a:avLst/>
          </a:prstGeom>
          <a:noFill/>
        </p:spPr>
        <p:txBody>
          <a:bodyPr wrap="square" lIns="0" rIns="0" tIns="0" bIns="0" anchor="t">
            <a:spAutoFit/>
          </a:bodyPr>
          <a:lstStyle/>
          <a:p>
            <a:pPr algn="l"/>
            <a:r>
              <a:rPr sz="930" b="1" i="0" spc="150">
                <a:solidFill>
                  <a:srgbClr val="C8A870"/>
                </a:solidFill>
                <a:latin typeface="Segoe UI"/>
              </a:rPr>
              <a:t>CORE TECHNOLOGY</a:t>
            </a:r>
          </a:p>
        </p:txBody>
      </p:sp>
      <p:sp>
        <p:nvSpPr>
          <p:cNvPr id="11" name="TextBox 10"/>
          <p:cNvSpPr txBox="1"/>
          <p:nvPr/>
        </p:nvSpPr>
        <p:spPr>
          <a:xfrm>
            <a:off x="658368" y="3721608"/>
            <a:ext cx="4846320" cy="502920"/>
          </a:xfrm>
          <a:prstGeom prst="rect">
            <a:avLst/>
          </a:prstGeom>
          <a:noFill/>
        </p:spPr>
        <p:txBody>
          <a:bodyPr wrap="square" lIns="0" rIns="0" tIns="0" bIns="0" anchor="t">
            <a:spAutoFit/>
          </a:bodyPr>
          <a:lstStyle/>
          <a:p>
            <a:pPr algn="l"/>
            <a:r>
              <a:rPr sz="1560" b="1" i="0">
                <a:solidFill>
                  <a:srgbClr val="F0ECE3"/>
                </a:solidFill>
                <a:latin typeface="Georgia"/>
              </a:rPr>
              <a:t>A frozen set with hashes, and two tenants on one build.</a:t>
            </a:r>
          </a:p>
        </p:txBody>
      </p:sp>
      <p:sp>
        <p:nvSpPr>
          <p:cNvPr id="12" name="TextBox 11"/>
          <p:cNvSpPr txBox="1"/>
          <p:nvPr/>
        </p:nvSpPr>
        <p:spPr>
          <a:xfrm>
            <a:off x="658368" y="4251960"/>
            <a:ext cx="4846320" cy="960120"/>
          </a:xfrm>
          <a:prstGeom prst="rect">
            <a:avLst/>
          </a:prstGeom>
          <a:noFill/>
        </p:spPr>
        <p:txBody>
          <a:bodyPr wrap="square" lIns="0" rIns="0" tIns="0" bIns="0" anchor="t">
            <a:spAutoFit/>
          </a:bodyPr>
          <a:lstStyle/>
          <a:p>
            <a:pPr algn="l"/>
            <a:r>
              <a:rPr sz="1160" b="0" i="0">
                <a:solidFill>
                  <a:srgbClr val="9AA6B8"/>
                </a:solidFill>
                <a:latin typeface="Segoe UI"/>
              </a:rPr>
              <a:t>Every frozen file carries a SHA-256, so a re-run can be checked rather than trusted. The same build serves a food catalogue and a hardware catalogue.</a:t>
            </a:r>
          </a:p>
        </p:txBody>
      </p:sp>
      <p:sp>
        <p:nvSpPr>
          <p:cNvPr id="13" name="TextBox 12"/>
          <p:cNvSpPr txBox="1"/>
          <p:nvPr/>
        </p:nvSpPr>
        <p:spPr>
          <a:xfrm>
            <a:off x="658368" y="5303520"/>
            <a:ext cx="1542287" cy="310896"/>
          </a:xfrm>
          <a:prstGeom prst="rect">
            <a:avLst/>
          </a:prstGeom>
          <a:noFill/>
        </p:spPr>
        <p:txBody>
          <a:bodyPr wrap="square" lIns="0" rIns="0" tIns="0" bIns="0" anchor="t">
            <a:spAutoFit/>
          </a:bodyPr>
          <a:lstStyle/>
          <a:p>
            <a:pPr algn="l"/>
            <a:r>
              <a:rPr sz="1660" b="0" i="0">
                <a:solidFill>
                  <a:srgbClr val="C8A870"/>
                </a:solidFill>
                <a:latin typeface="Georgia"/>
              </a:rPr>
              <a:t>8/23</a:t>
            </a:r>
          </a:p>
        </p:txBody>
      </p:sp>
      <p:sp>
        <p:nvSpPr>
          <p:cNvPr id="14" name="TextBox 13"/>
          <p:cNvSpPr txBox="1"/>
          <p:nvPr/>
        </p:nvSpPr>
        <p:spPr>
          <a:xfrm>
            <a:off x="658368" y="5632704"/>
            <a:ext cx="1542287" cy="219456"/>
          </a:xfrm>
          <a:prstGeom prst="rect">
            <a:avLst/>
          </a:prstGeom>
          <a:noFill/>
        </p:spPr>
        <p:txBody>
          <a:bodyPr wrap="square" lIns="0" rIns="0" tIns="0" bIns="0" anchor="t">
            <a:spAutoFit/>
          </a:bodyPr>
          <a:lstStyle/>
          <a:p>
            <a:pPr algn="l"/>
            <a:r>
              <a:rPr sz="869" b="0" i="0">
                <a:solidFill>
                  <a:srgbClr val="9AA6B8"/>
                </a:solidFill>
                <a:latin typeface="Segoe UI"/>
              </a:rPr>
              <a:t>all six fields</a:t>
            </a:r>
          </a:p>
        </p:txBody>
      </p:sp>
      <p:sp>
        <p:nvSpPr>
          <p:cNvPr id="15" name="TextBox 14"/>
          <p:cNvSpPr txBox="1"/>
          <p:nvPr/>
        </p:nvSpPr>
        <p:spPr>
          <a:xfrm>
            <a:off x="2273807" y="5303520"/>
            <a:ext cx="1542287" cy="310896"/>
          </a:xfrm>
          <a:prstGeom prst="rect">
            <a:avLst/>
          </a:prstGeom>
          <a:noFill/>
        </p:spPr>
        <p:txBody>
          <a:bodyPr wrap="square" lIns="0" rIns="0" tIns="0" bIns="0" anchor="t">
            <a:spAutoFit/>
          </a:bodyPr>
          <a:lstStyle/>
          <a:p>
            <a:pPr algn="l"/>
            <a:r>
              <a:rPr sz="1660" b="0" i="0">
                <a:solidFill>
                  <a:srgbClr val="C8A870"/>
                </a:solidFill>
                <a:latin typeface="Georgia"/>
              </a:rPr>
              <a:t>24/31</a:t>
            </a:r>
          </a:p>
        </p:txBody>
      </p:sp>
      <p:sp>
        <p:nvSpPr>
          <p:cNvPr id="16" name="TextBox 15"/>
          <p:cNvSpPr txBox="1"/>
          <p:nvPr/>
        </p:nvSpPr>
        <p:spPr>
          <a:xfrm>
            <a:off x="2273807" y="5632704"/>
            <a:ext cx="1542287" cy="219456"/>
          </a:xfrm>
          <a:prstGeom prst="rect">
            <a:avLst/>
          </a:prstGeom>
          <a:noFill/>
        </p:spPr>
        <p:txBody>
          <a:bodyPr wrap="square" lIns="0" rIns="0" tIns="0" bIns="0" anchor="t">
            <a:spAutoFit/>
          </a:bodyPr>
          <a:lstStyle/>
          <a:p>
            <a:pPr algn="l"/>
            <a:r>
              <a:rPr sz="869" b="0" i="0">
                <a:solidFill>
                  <a:srgbClr val="9AA6B8"/>
                </a:solidFill>
                <a:latin typeface="Segoe UI"/>
              </a:rPr>
              <a:t>correct unit</a:t>
            </a:r>
          </a:p>
        </p:txBody>
      </p:sp>
      <p:sp>
        <p:nvSpPr>
          <p:cNvPr id="17" name="TextBox 16"/>
          <p:cNvSpPr txBox="1"/>
          <p:nvPr/>
        </p:nvSpPr>
        <p:spPr>
          <a:xfrm>
            <a:off x="3889247" y="5303520"/>
            <a:ext cx="1542287" cy="310896"/>
          </a:xfrm>
          <a:prstGeom prst="rect">
            <a:avLst/>
          </a:prstGeom>
          <a:noFill/>
        </p:spPr>
        <p:txBody>
          <a:bodyPr wrap="square" lIns="0" rIns="0" tIns="0" bIns="0" anchor="t">
            <a:spAutoFit/>
          </a:bodyPr>
          <a:lstStyle/>
          <a:p>
            <a:pPr algn="l"/>
            <a:r>
              <a:rPr sz="1660" b="0" i="0">
                <a:solidFill>
                  <a:srgbClr val="C8A870"/>
                </a:solidFill>
                <a:latin typeface="Georgia"/>
              </a:rPr>
              <a:t>2</a:t>
            </a:r>
          </a:p>
        </p:txBody>
      </p:sp>
      <p:sp>
        <p:nvSpPr>
          <p:cNvPr id="18" name="TextBox 17"/>
          <p:cNvSpPr txBox="1"/>
          <p:nvPr/>
        </p:nvSpPr>
        <p:spPr>
          <a:xfrm>
            <a:off x="3889247" y="5632704"/>
            <a:ext cx="1542287" cy="219456"/>
          </a:xfrm>
          <a:prstGeom prst="rect">
            <a:avLst/>
          </a:prstGeom>
          <a:noFill/>
        </p:spPr>
        <p:txBody>
          <a:bodyPr wrap="square" lIns="0" rIns="0" tIns="0" bIns="0" anchor="t">
            <a:spAutoFit/>
          </a:bodyPr>
          <a:lstStyle/>
          <a:p>
            <a:pPr algn="l"/>
            <a:r>
              <a:rPr sz="869" b="0" i="0">
                <a:solidFill>
                  <a:srgbClr val="9AA6B8"/>
                </a:solidFill>
                <a:latin typeface="Segoe UI"/>
              </a:rPr>
              <a:t>tenants, one build</a:t>
            </a:r>
          </a:p>
        </p:txBody>
      </p:sp>
      <p:pic>
        <p:nvPicPr>
          <p:cNvPr id="19" name="Picture 18" descr="zhou-01-matrix.png"/>
          <p:cNvPicPr>
            <a:picLocks noChangeAspect="1"/>
          </p:cNvPicPr>
          <p:nvPr/>
        </p:nvPicPr>
        <p:blipFill>
          <a:blip r:embed="rId2"/>
          <a:stretch>
            <a:fillRect/>
          </a:stretch>
        </p:blipFill>
        <p:spPr>
          <a:xfrm>
            <a:off x="5870448" y="1755648"/>
            <a:ext cx="5432981" cy="3474720"/>
          </a:xfrm>
          <a:prstGeom prst="rect">
            <a:avLst/>
          </a:prstGeom>
        </p:spPr>
      </p:pic>
      <p:sp>
        <p:nvSpPr>
          <p:cNvPr id="20" name="TextBox 19"/>
          <p:cNvSpPr txBox="1"/>
          <p:nvPr/>
        </p:nvSpPr>
        <p:spPr>
          <a:xfrm>
            <a:off x="5870448" y="5321808"/>
            <a:ext cx="5577840" cy="658368"/>
          </a:xfrm>
          <a:prstGeom prst="rect">
            <a:avLst/>
          </a:prstGeom>
          <a:noFill/>
        </p:spPr>
        <p:txBody>
          <a:bodyPr wrap="square" lIns="0" rIns="0" tIns="0" bIns="0" anchor="t">
            <a:spAutoFit/>
          </a:bodyPr>
          <a:lstStyle/>
          <a:p>
            <a:pPr algn="l"/>
            <a:r>
              <a:rPr sz="930" b="0" i="0">
                <a:solidFill>
                  <a:srgbClr val="9AA6B8"/>
                </a:solidFill>
                <a:latin typeface="Georgia"/>
              </a:rPr>
              <a:t>23 cases frozen before execution: eight expected to pass, eight blocked, six amber, one gray. Every case is still NOT_RUN. Hashes verified; 40 / 16 SKUs on one build.</a:t>
            </a:r>
          </a:p>
        </p:txBody>
      </p:sp>
      <p:sp>
        <p:nvSpPr>
          <p:cNvPr id="21" name="TextBox 20"/>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LIVE DEMO · FROM THE FRONT DOOR</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14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822960"/>
          </a:xfrm>
          <a:prstGeom prst="rect">
            <a:avLst/>
          </a:prstGeom>
          <a:noFill/>
        </p:spPr>
        <p:txBody>
          <a:bodyPr wrap="square" lIns="0" rIns="0" tIns="0" bIns="0" anchor="t">
            <a:spAutoFit/>
          </a:bodyPr>
          <a:lstStyle/>
          <a:p>
            <a:pPr algn="l"/>
            <a:r>
              <a:rPr sz="2390" b="0" i="0">
                <a:solidFill>
                  <a:srgbClr val="F0ECE3"/>
                </a:solidFill>
                <a:latin typeface="Georgia"/>
              </a:rPr>
              <a:t>Homepage, workspace, draft, delivery order.</a:t>
            </a:r>
          </a:p>
        </p:txBody>
      </p:sp>
      <p:sp>
        <p:nvSpPr>
          <p:cNvPr id="7" name="TextBox 6"/>
          <p:cNvSpPr txBox="1"/>
          <p:nvPr/>
        </p:nvSpPr>
        <p:spPr>
          <a:xfrm>
            <a:off x="658368" y="1920240"/>
            <a:ext cx="548640" cy="320040"/>
          </a:xfrm>
          <a:prstGeom prst="rect">
            <a:avLst/>
          </a:prstGeom>
          <a:noFill/>
        </p:spPr>
        <p:txBody>
          <a:bodyPr wrap="square" lIns="0" rIns="0" tIns="0" bIns="0" anchor="t">
            <a:spAutoFit/>
          </a:bodyPr>
          <a:lstStyle/>
          <a:p>
            <a:pPr algn="l"/>
            <a:r>
              <a:rPr sz="1350" b="0" i="0">
                <a:solidFill>
                  <a:srgbClr val="C8A870"/>
                </a:solidFill>
                <a:latin typeface="Georgia"/>
              </a:rPr>
              <a:t>01</a:t>
            </a:r>
          </a:p>
        </p:txBody>
      </p:sp>
      <p:sp>
        <p:nvSpPr>
          <p:cNvPr id="8" name="TextBox 7"/>
          <p:cNvSpPr txBox="1"/>
          <p:nvPr/>
        </p:nvSpPr>
        <p:spPr>
          <a:xfrm>
            <a:off x="1344168" y="1920240"/>
            <a:ext cx="10143439" cy="640080"/>
          </a:xfrm>
          <a:prstGeom prst="rect">
            <a:avLst/>
          </a:prstGeom>
          <a:noFill/>
        </p:spPr>
        <p:txBody>
          <a:bodyPr wrap="square" lIns="0" rIns="0" tIns="0" bIns="0" anchor="t">
            <a:spAutoFit/>
          </a:bodyPr>
          <a:lstStyle/>
          <a:p>
            <a:pPr algn="l"/>
            <a:r>
              <a:rPr sz="1350" b="0" i="0">
                <a:solidFill>
                  <a:srgbClr val="F0ECE3"/>
                </a:solidFill>
                <a:latin typeface="Segoe UI"/>
              </a:rPr>
              <a:t>Homepage — dark or light, the merchant's front door</a:t>
            </a:r>
          </a:p>
        </p:txBody>
      </p:sp>
      <p:cxnSp>
        <p:nvCxnSpPr>
          <p:cNvPr id="9" name="Connector 8"/>
          <p:cNvCxnSpPr/>
          <p:nvPr/>
        </p:nvCxnSpPr>
        <p:spPr>
          <a:xfrm>
            <a:off x="658368" y="254203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651760"/>
            <a:ext cx="548640" cy="320040"/>
          </a:xfrm>
          <a:prstGeom prst="rect">
            <a:avLst/>
          </a:prstGeom>
          <a:noFill/>
        </p:spPr>
        <p:txBody>
          <a:bodyPr wrap="square" lIns="0" rIns="0" tIns="0" bIns="0" anchor="t">
            <a:spAutoFit/>
          </a:bodyPr>
          <a:lstStyle/>
          <a:p>
            <a:pPr algn="l"/>
            <a:r>
              <a:rPr sz="1350" b="0" i="0">
                <a:solidFill>
                  <a:srgbClr val="C8A870"/>
                </a:solidFill>
                <a:latin typeface="Georgia"/>
              </a:rPr>
              <a:t>02</a:t>
            </a:r>
          </a:p>
        </p:txBody>
      </p:sp>
      <p:sp>
        <p:nvSpPr>
          <p:cNvPr id="11" name="TextBox 10"/>
          <p:cNvSpPr txBox="1"/>
          <p:nvPr/>
        </p:nvSpPr>
        <p:spPr>
          <a:xfrm>
            <a:off x="1344168" y="2651760"/>
            <a:ext cx="10143439" cy="640080"/>
          </a:xfrm>
          <a:prstGeom prst="rect">
            <a:avLst/>
          </a:prstGeom>
          <a:noFill/>
        </p:spPr>
        <p:txBody>
          <a:bodyPr wrap="square" lIns="0" rIns="0" tIns="0" bIns="0" anchor="t">
            <a:spAutoFit/>
          </a:bodyPr>
          <a:lstStyle/>
          <a:p>
            <a:pPr algn="l"/>
            <a:r>
              <a:rPr sz="1350" b="0" i="0">
                <a:solidFill>
                  <a:srgbClr val="F0ECE3"/>
                </a:solidFill>
                <a:latin typeface="Segoe UI"/>
              </a:rPr>
              <a:t>Workspace — LIVE API · role: CLERK</a:t>
            </a:r>
          </a:p>
        </p:txBody>
      </p:sp>
      <p:cxnSp>
        <p:nvCxnSpPr>
          <p:cNvPr id="12" name="Connector 11"/>
          <p:cNvCxnSpPr/>
          <p:nvPr/>
        </p:nvCxnSpPr>
        <p:spPr>
          <a:xfrm>
            <a:off x="658368" y="327355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383280"/>
            <a:ext cx="548640" cy="320040"/>
          </a:xfrm>
          <a:prstGeom prst="rect">
            <a:avLst/>
          </a:prstGeom>
          <a:noFill/>
        </p:spPr>
        <p:txBody>
          <a:bodyPr wrap="square" lIns="0" rIns="0" tIns="0" bIns="0" anchor="t">
            <a:spAutoFit/>
          </a:bodyPr>
          <a:lstStyle/>
          <a:p>
            <a:pPr algn="l"/>
            <a:r>
              <a:rPr sz="1350" b="0" i="0">
                <a:solidFill>
                  <a:srgbClr val="C8A870"/>
                </a:solidFill>
                <a:latin typeface="Georgia"/>
              </a:rPr>
              <a:t>03</a:t>
            </a:r>
          </a:p>
        </p:txBody>
      </p:sp>
      <p:sp>
        <p:nvSpPr>
          <p:cNvPr id="14" name="TextBox 13"/>
          <p:cNvSpPr txBox="1"/>
          <p:nvPr/>
        </p:nvSpPr>
        <p:spPr>
          <a:xfrm>
            <a:off x="1344168" y="3383280"/>
            <a:ext cx="10143439" cy="640080"/>
          </a:xfrm>
          <a:prstGeom prst="rect">
            <a:avLst/>
          </a:prstGeom>
          <a:noFill/>
        </p:spPr>
        <p:txBody>
          <a:bodyPr wrap="square" lIns="0" rIns="0" tIns="0" bIns="0" anchor="t">
            <a:spAutoFit/>
          </a:bodyPr>
          <a:lstStyle/>
          <a:p>
            <a:pPr algn="l"/>
            <a:r>
              <a:rPr sz="1350" b="0" i="0">
                <a:solidFill>
                  <a:srgbClr val="F0ECE3"/>
                </a:solidFill>
                <a:latin typeface="Segoe UI"/>
              </a:rPr>
              <a:t>Restoran Ali · paste 2 bag Gula 1kg · Create draft</a:t>
            </a:r>
          </a:p>
        </p:txBody>
      </p:sp>
      <p:cxnSp>
        <p:nvCxnSpPr>
          <p:cNvPr id="15" name="Connector 14"/>
          <p:cNvCxnSpPr/>
          <p:nvPr/>
        </p:nvCxnSpPr>
        <p:spPr>
          <a:xfrm>
            <a:off x="658368" y="400507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4114800"/>
            <a:ext cx="548640" cy="320040"/>
          </a:xfrm>
          <a:prstGeom prst="rect">
            <a:avLst/>
          </a:prstGeom>
          <a:noFill/>
        </p:spPr>
        <p:txBody>
          <a:bodyPr wrap="square" lIns="0" rIns="0" tIns="0" bIns="0" anchor="t">
            <a:spAutoFit/>
          </a:bodyPr>
          <a:lstStyle/>
          <a:p>
            <a:pPr algn="l"/>
            <a:r>
              <a:rPr sz="1350" b="0" i="0">
                <a:solidFill>
                  <a:srgbClr val="C8A870"/>
                </a:solidFill>
                <a:latin typeface="Georgia"/>
              </a:rPr>
              <a:t>04</a:t>
            </a:r>
          </a:p>
        </p:txBody>
      </p:sp>
      <p:sp>
        <p:nvSpPr>
          <p:cNvPr id="17" name="TextBox 16"/>
          <p:cNvSpPr txBox="1"/>
          <p:nvPr/>
        </p:nvSpPr>
        <p:spPr>
          <a:xfrm>
            <a:off x="1344168" y="4114800"/>
            <a:ext cx="10143439" cy="640080"/>
          </a:xfrm>
          <a:prstGeom prst="rect">
            <a:avLst/>
          </a:prstGeom>
          <a:noFill/>
        </p:spPr>
        <p:txBody>
          <a:bodyPr wrap="square" lIns="0" rIns="0" tIns="0" bIns="0" anchor="t">
            <a:spAutoFit/>
          </a:bodyPr>
          <a:lstStyle/>
          <a:p>
            <a:pPr algn="l"/>
            <a:r>
              <a:rPr sz="1350" b="0" i="0">
                <a:solidFill>
                  <a:srgbClr val="F0ECE3"/>
                </a:solidFill>
                <a:latin typeface="Segoe UI"/>
              </a:rPr>
              <a:t>Read the draft: product, pack size, unit, tier price, stock, source</a:t>
            </a:r>
          </a:p>
        </p:txBody>
      </p:sp>
      <p:cxnSp>
        <p:nvCxnSpPr>
          <p:cNvPr id="18" name="Connector 17"/>
          <p:cNvCxnSpPr/>
          <p:nvPr/>
        </p:nvCxnSpPr>
        <p:spPr>
          <a:xfrm>
            <a:off x="658368" y="473659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4846320"/>
            <a:ext cx="548640" cy="320040"/>
          </a:xfrm>
          <a:prstGeom prst="rect">
            <a:avLst/>
          </a:prstGeom>
          <a:noFill/>
        </p:spPr>
        <p:txBody>
          <a:bodyPr wrap="square" lIns="0" rIns="0" tIns="0" bIns="0" anchor="t">
            <a:spAutoFit/>
          </a:bodyPr>
          <a:lstStyle/>
          <a:p>
            <a:pPr algn="l"/>
            <a:r>
              <a:rPr sz="1350" b="0" i="0">
                <a:solidFill>
                  <a:srgbClr val="C8A870"/>
                </a:solidFill>
                <a:latin typeface="Georgia"/>
              </a:rPr>
              <a:t>05</a:t>
            </a:r>
          </a:p>
        </p:txBody>
      </p:sp>
      <p:sp>
        <p:nvSpPr>
          <p:cNvPr id="20" name="TextBox 19"/>
          <p:cNvSpPr txBox="1"/>
          <p:nvPr/>
        </p:nvSpPr>
        <p:spPr>
          <a:xfrm>
            <a:off x="1344168" y="4846320"/>
            <a:ext cx="10143439" cy="640080"/>
          </a:xfrm>
          <a:prstGeom prst="rect">
            <a:avLst/>
          </a:prstGeom>
          <a:noFill/>
        </p:spPr>
        <p:txBody>
          <a:bodyPr wrap="square" lIns="0" rIns="0" tIns="0" bIns="0" anchor="t">
            <a:spAutoFit/>
          </a:bodyPr>
          <a:lstStyle/>
          <a:p>
            <a:pPr algn="l"/>
            <a:r>
              <a:rPr sz="1350" b="0" i="0">
                <a:solidFill>
                  <a:srgbClr val="F0ECE3"/>
                </a:solidFill>
                <a:latin typeface="Segoe UI"/>
              </a:rPr>
              <a:t>Approve &amp; generate DO — read the number aloud</a:t>
            </a:r>
          </a:p>
        </p:txBody>
      </p:sp>
      <p:cxnSp>
        <p:nvCxnSpPr>
          <p:cNvPr id="21" name="Connector 20"/>
          <p:cNvCxnSpPr/>
          <p:nvPr/>
        </p:nvCxnSpPr>
        <p:spPr>
          <a:xfrm>
            <a:off x="658368" y="5468112"/>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 y="5760720"/>
            <a:ext cx="1087495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5870448"/>
            <a:ext cx="4784982" cy="548640"/>
          </a:xfrm>
          <a:prstGeom prst="rect">
            <a:avLst/>
          </a:prstGeom>
          <a:noFill/>
        </p:spPr>
        <p:txBody>
          <a:bodyPr wrap="square" lIns="0" rIns="0" tIns="0" bIns="0" anchor="t">
            <a:spAutoFit/>
          </a:bodyPr>
          <a:lstStyle/>
          <a:p>
            <a:pPr algn="l"/>
            <a:r>
              <a:rPr sz="1220" b="1" i="0">
                <a:solidFill>
                  <a:srgbClr val="C8A870"/>
                </a:solidFill>
                <a:latin typeface="Georgia"/>
              </a:rPr>
              <a:t>Point at what it filled — and at what it refused to fill.</a:t>
            </a:r>
          </a:p>
        </p:txBody>
      </p:sp>
      <p:sp>
        <p:nvSpPr>
          <p:cNvPr id="24" name="TextBox 23"/>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DEMO BACKUP · WHEN IT CANNOT BE SURE</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15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822960"/>
          </a:xfrm>
          <a:prstGeom prst="rect">
            <a:avLst/>
          </a:prstGeom>
          <a:noFill/>
        </p:spPr>
        <p:txBody>
          <a:bodyPr wrap="square" lIns="0" rIns="0" tIns="0" bIns="0" anchor="t">
            <a:spAutoFit/>
          </a:bodyPr>
          <a:lstStyle/>
          <a:p>
            <a:pPr algn="l"/>
            <a:r>
              <a:rPr sz="2390" b="0" i="0">
                <a:solidFill>
                  <a:srgbClr val="F0ECE3"/>
                </a:solidFill>
                <a:latin typeface="Georgia"/>
              </a:rPr>
              <a:t>It stops — and it stops at the right desk.</a:t>
            </a:r>
          </a:p>
        </p:txBody>
      </p:sp>
      <p:sp>
        <p:nvSpPr>
          <p:cNvPr id="7" name="TextBox 6"/>
          <p:cNvSpPr txBox="1"/>
          <p:nvPr/>
        </p:nvSpPr>
        <p:spPr>
          <a:xfrm>
            <a:off x="658368" y="1920240"/>
            <a:ext cx="548640" cy="320040"/>
          </a:xfrm>
          <a:prstGeom prst="rect">
            <a:avLst/>
          </a:prstGeom>
          <a:noFill/>
        </p:spPr>
        <p:txBody>
          <a:bodyPr wrap="square" lIns="0" rIns="0" tIns="0" bIns="0" anchor="t">
            <a:spAutoFit/>
          </a:bodyPr>
          <a:lstStyle/>
          <a:p>
            <a:pPr algn="l"/>
            <a:r>
              <a:rPr sz="1350" b="0" i="0">
                <a:solidFill>
                  <a:srgbClr val="C8A870"/>
                </a:solidFill>
                <a:latin typeface="Georgia"/>
              </a:rPr>
              <a:t>01</a:t>
            </a:r>
          </a:p>
        </p:txBody>
      </p:sp>
      <p:sp>
        <p:nvSpPr>
          <p:cNvPr id="8" name="TextBox 7"/>
          <p:cNvSpPr txBox="1"/>
          <p:nvPr/>
        </p:nvSpPr>
        <p:spPr>
          <a:xfrm>
            <a:off x="1344168" y="1920240"/>
            <a:ext cx="10143439" cy="640080"/>
          </a:xfrm>
          <a:prstGeom prst="rect">
            <a:avLst/>
          </a:prstGeom>
          <a:noFill/>
        </p:spPr>
        <p:txBody>
          <a:bodyPr wrap="square" lIns="0" rIns="0" tIns="0" bIns="0" anchor="t">
            <a:spAutoFit/>
          </a:bodyPr>
          <a:lstStyle/>
          <a:p>
            <a:pPr algn="l"/>
            <a:r>
              <a:rPr sz="1350" b="0" i="0">
                <a:solidFill>
                  <a:srgbClr val="F0ECE3"/>
                </a:solidFill>
                <a:latin typeface="Segoe UI"/>
              </a:rPr>
              <a:t>Edit a line but do not save → Approve stays disabled. Unsaved edits cannot be approved.</a:t>
            </a:r>
          </a:p>
        </p:txBody>
      </p:sp>
      <p:cxnSp>
        <p:nvCxnSpPr>
          <p:cNvPr id="9" name="Connector 8"/>
          <p:cNvCxnSpPr/>
          <p:nvPr/>
        </p:nvCxnSpPr>
        <p:spPr>
          <a:xfrm>
            <a:off x="658368" y="261518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724912"/>
            <a:ext cx="548640" cy="320040"/>
          </a:xfrm>
          <a:prstGeom prst="rect">
            <a:avLst/>
          </a:prstGeom>
          <a:noFill/>
        </p:spPr>
        <p:txBody>
          <a:bodyPr wrap="square" lIns="0" rIns="0" tIns="0" bIns="0" anchor="t">
            <a:spAutoFit/>
          </a:bodyPr>
          <a:lstStyle/>
          <a:p>
            <a:pPr algn="l"/>
            <a:r>
              <a:rPr sz="1350" b="0" i="0">
                <a:solidFill>
                  <a:srgbClr val="C8A870"/>
                </a:solidFill>
                <a:latin typeface="Georgia"/>
              </a:rPr>
              <a:t>02</a:t>
            </a:r>
          </a:p>
        </p:txBody>
      </p:sp>
      <p:sp>
        <p:nvSpPr>
          <p:cNvPr id="11" name="TextBox 10"/>
          <p:cNvSpPr txBox="1"/>
          <p:nvPr/>
        </p:nvSpPr>
        <p:spPr>
          <a:xfrm>
            <a:off x="1344168" y="2724912"/>
            <a:ext cx="10143439" cy="640080"/>
          </a:xfrm>
          <a:prstGeom prst="rect">
            <a:avLst/>
          </a:prstGeom>
          <a:noFill/>
        </p:spPr>
        <p:txBody>
          <a:bodyPr wrap="square" lIns="0" rIns="0" tIns="0" bIns="0" anchor="t">
            <a:spAutoFit/>
          </a:bodyPr>
          <a:lstStyle/>
          <a:p>
            <a:pPr algn="l"/>
            <a:r>
              <a:rPr sz="1350" b="0" i="0">
                <a:solidFill>
                  <a:srgbClr val="F0ECE3"/>
                </a:solidFill>
                <a:latin typeface="Segoe UI"/>
              </a:rPr>
              <a:t>Record a below-tier price on the Gula line → Send to owner → the draft locks while it waits.</a:t>
            </a:r>
          </a:p>
        </p:txBody>
      </p:sp>
      <p:cxnSp>
        <p:nvCxnSpPr>
          <p:cNvPr id="12" name="Connector 11"/>
          <p:cNvCxnSpPr/>
          <p:nvPr/>
        </p:nvCxnSpPr>
        <p:spPr>
          <a:xfrm>
            <a:off x="658368" y="341985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529584"/>
            <a:ext cx="548640" cy="320040"/>
          </a:xfrm>
          <a:prstGeom prst="rect">
            <a:avLst/>
          </a:prstGeom>
          <a:noFill/>
        </p:spPr>
        <p:txBody>
          <a:bodyPr wrap="square" lIns="0" rIns="0" tIns="0" bIns="0" anchor="t">
            <a:spAutoFit/>
          </a:bodyPr>
          <a:lstStyle/>
          <a:p>
            <a:pPr algn="l"/>
            <a:r>
              <a:rPr sz="1350" b="0" i="0">
                <a:solidFill>
                  <a:srgbClr val="C8A870"/>
                </a:solidFill>
                <a:latin typeface="Georgia"/>
              </a:rPr>
              <a:t>03</a:t>
            </a:r>
          </a:p>
        </p:txBody>
      </p:sp>
      <p:sp>
        <p:nvSpPr>
          <p:cNvPr id="14" name="TextBox 13"/>
          <p:cNvSpPr txBox="1"/>
          <p:nvPr/>
        </p:nvSpPr>
        <p:spPr>
          <a:xfrm>
            <a:off x="1344168" y="3529584"/>
            <a:ext cx="10143439" cy="640080"/>
          </a:xfrm>
          <a:prstGeom prst="rect">
            <a:avLst/>
          </a:prstGeom>
          <a:noFill/>
        </p:spPr>
        <p:txBody>
          <a:bodyPr wrap="square" lIns="0" rIns="0" tIns="0" bIns="0" anchor="t">
            <a:spAutoFit/>
          </a:bodyPr>
          <a:lstStyle/>
          <a:p>
            <a:pPr algn="l"/>
            <a:r>
              <a:rPr sz="1350" b="0" i="0">
                <a:solidFill>
                  <a:srgbClr val="F0ECE3"/>
                </a:solidFill>
                <a:latin typeface="Segoe UI"/>
              </a:rPr>
              <a:t>Owner role: an empty rejection reason is refused → reject with a reason → order closed.</a:t>
            </a:r>
          </a:p>
        </p:txBody>
      </p:sp>
      <p:cxnSp>
        <p:nvCxnSpPr>
          <p:cNvPr id="15" name="Connector 14"/>
          <p:cNvCxnSpPr/>
          <p:nvPr/>
        </p:nvCxnSpPr>
        <p:spPr>
          <a:xfrm>
            <a:off x="658368" y="4224528"/>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4334256"/>
            <a:ext cx="548640" cy="320040"/>
          </a:xfrm>
          <a:prstGeom prst="rect">
            <a:avLst/>
          </a:prstGeom>
          <a:noFill/>
        </p:spPr>
        <p:txBody>
          <a:bodyPr wrap="square" lIns="0" rIns="0" tIns="0" bIns="0" anchor="t">
            <a:spAutoFit/>
          </a:bodyPr>
          <a:lstStyle/>
          <a:p>
            <a:pPr algn="l"/>
            <a:r>
              <a:rPr sz="1350" b="0" i="0">
                <a:solidFill>
                  <a:srgbClr val="C8A870"/>
                </a:solidFill>
                <a:latin typeface="Georgia"/>
              </a:rPr>
              <a:t>04</a:t>
            </a:r>
          </a:p>
        </p:txBody>
      </p:sp>
      <p:sp>
        <p:nvSpPr>
          <p:cNvPr id="17" name="TextBox 16"/>
          <p:cNvSpPr txBox="1"/>
          <p:nvPr/>
        </p:nvSpPr>
        <p:spPr>
          <a:xfrm>
            <a:off x="1344168" y="4334256"/>
            <a:ext cx="10143439" cy="640080"/>
          </a:xfrm>
          <a:prstGeom prst="rect">
            <a:avLst/>
          </a:prstGeom>
          <a:noFill/>
        </p:spPr>
        <p:txBody>
          <a:bodyPr wrap="square" lIns="0" rIns="0" tIns="0" bIns="0" anchor="t">
            <a:spAutoFit/>
          </a:bodyPr>
          <a:lstStyle/>
          <a:p>
            <a:pPr algn="l"/>
            <a:r>
              <a:rPr sz="1350" b="0" i="0">
                <a:solidFill>
                  <a:srgbClr val="F0ECE3"/>
                </a:solidFill>
                <a:latin typeface="Segoe UI"/>
              </a:rPr>
              <a:t>Reopen the draft: closed. No approve, no save, no delivery order.</a:t>
            </a:r>
          </a:p>
        </p:txBody>
      </p:sp>
      <p:cxnSp>
        <p:nvCxnSpPr>
          <p:cNvPr id="18" name="Connector 17"/>
          <p:cNvCxnSpPr/>
          <p:nvPr/>
        </p:nvCxnSpPr>
        <p:spPr>
          <a:xfrm>
            <a:off x="658368" y="5029200"/>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8368" y="5760720"/>
            <a:ext cx="1087495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5870448"/>
            <a:ext cx="4784982" cy="548640"/>
          </a:xfrm>
          <a:prstGeom prst="rect">
            <a:avLst/>
          </a:prstGeom>
          <a:noFill/>
        </p:spPr>
        <p:txBody>
          <a:bodyPr wrap="square" lIns="0" rIns="0" tIns="0" bIns="0" anchor="t">
            <a:spAutoFit/>
          </a:bodyPr>
          <a:lstStyle/>
          <a:p>
            <a:pPr algn="l"/>
            <a:r>
              <a:rPr sz="1220" b="1" i="0">
                <a:solidFill>
                  <a:srgbClr val="C8A870"/>
                </a:solidFill>
                <a:latin typeface="Georgia"/>
              </a:rPr>
              <a:t>The point is the disabled button and the closed order, not the enabled one.</a:t>
            </a:r>
          </a:p>
        </p:txBody>
      </p:sp>
      <p:sp>
        <p:nvSpPr>
          <p:cNvPr id="21" name="TextBox 20"/>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9243715" cy="256032"/>
          </a:xfrm>
          <a:prstGeom prst="rect">
            <a:avLst/>
          </a:prstGeom>
          <a:noFill/>
        </p:spPr>
        <p:txBody>
          <a:bodyPr wrap="square" lIns="0" rIns="0" tIns="0" bIns="0" anchor="t">
            <a:spAutoFit/>
          </a:bodyPr>
          <a:lstStyle/>
          <a:p>
            <a:pPr algn="l"/>
            <a:r>
              <a:rPr sz="1040" b="1" i="0" spc="150">
                <a:solidFill>
                  <a:srgbClr val="C8A870"/>
                </a:solidFill>
                <a:latin typeface="Segoe UI"/>
              </a:rPr>
              <a:t>DEMO BACKUP · THE RECORD AND THE WAREHOUSE</a:t>
            </a:r>
          </a:p>
        </p:txBody>
      </p:sp>
      <p:sp>
        <p:nvSpPr>
          <p:cNvPr id="4" name="TextBox 3"/>
          <p:cNvSpPr txBox="1"/>
          <p:nvPr/>
        </p:nvSpPr>
        <p:spPr>
          <a:xfrm>
            <a:off x="10618927" y="457200"/>
            <a:ext cx="914400" cy="256032"/>
          </a:xfrm>
          <a:prstGeom prst="rect">
            <a:avLst/>
          </a:prstGeom>
          <a:noFill/>
        </p:spPr>
        <p:txBody>
          <a:bodyPr wrap="square" lIns="0" rIns="0" tIns="0" bIns="0" anchor="t">
            <a:spAutoFit/>
          </a:bodyPr>
          <a:lstStyle/>
          <a:p>
            <a:pPr algn="r"/>
            <a:r>
              <a:rPr sz="1040" b="0" i="0" spc="130">
                <a:solidFill>
                  <a:srgbClr val="9AA6B8"/>
                </a:solidFill>
                <a:latin typeface="Segoe UI"/>
              </a:rPr>
              <a:t>16 / 17</a:t>
            </a:r>
          </a:p>
        </p:txBody>
      </p:sp>
      <p:cxnSp>
        <p:nvCxnSpPr>
          <p:cNvPr id="5" name="Connector 4"/>
          <p:cNvCxnSpPr/>
          <p:nvPr/>
        </p:nvCxnSpPr>
        <p:spPr>
          <a:xfrm>
            <a:off x="658368" y="76809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932688"/>
            <a:ext cx="10222461" cy="822960"/>
          </a:xfrm>
          <a:prstGeom prst="rect">
            <a:avLst/>
          </a:prstGeom>
          <a:noFill/>
        </p:spPr>
        <p:txBody>
          <a:bodyPr wrap="square" lIns="0" rIns="0" tIns="0" bIns="0" anchor="t">
            <a:spAutoFit/>
          </a:bodyPr>
          <a:lstStyle/>
          <a:p>
            <a:pPr algn="l"/>
            <a:r>
              <a:rPr sz="2390" b="0" i="0">
                <a:solidFill>
                  <a:srgbClr val="F0ECE3"/>
                </a:solidFill>
                <a:latin typeface="Georgia"/>
              </a:rPr>
              <a:t>What just happened is written down. Not everyone sees everything.</a:t>
            </a:r>
          </a:p>
        </p:txBody>
      </p:sp>
      <p:sp>
        <p:nvSpPr>
          <p:cNvPr id="7" name="TextBox 6"/>
          <p:cNvSpPr txBox="1"/>
          <p:nvPr/>
        </p:nvSpPr>
        <p:spPr>
          <a:xfrm>
            <a:off x="658368" y="1920240"/>
            <a:ext cx="548640" cy="320040"/>
          </a:xfrm>
          <a:prstGeom prst="rect">
            <a:avLst/>
          </a:prstGeom>
          <a:noFill/>
        </p:spPr>
        <p:txBody>
          <a:bodyPr wrap="square" lIns="0" rIns="0" tIns="0" bIns="0" anchor="t">
            <a:spAutoFit/>
          </a:bodyPr>
          <a:lstStyle/>
          <a:p>
            <a:pPr algn="l"/>
            <a:r>
              <a:rPr sz="1350" b="0" i="0">
                <a:solidFill>
                  <a:srgbClr val="C8A870"/>
                </a:solidFill>
                <a:latin typeface="Georgia"/>
              </a:rPr>
              <a:t>01</a:t>
            </a:r>
          </a:p>
        </p:txBody>
      </p:sp>
      <p:sp>
        <p:nvSpPr>
          <p:cNvPr id="8" name="TextBox 7"/>
          <p:cNvSpPr txBox="1"/>
          <p:nvPr/>
        </p:nvSpPr>
        <p:spPr>
          <a:xfrm>
            <a:off x="1344168" y="1920240"/>
            <a:ext cx="10143439" cy="640080"/>
          </a:xfrm>
          <a:prstGeom prst="rect">
            <a:avLst/>
          </a:prstGeom>
          <a:noFill/>
        </p:spPr>
        <p:txBody>
          <a:bodyPr wrap="square" lIns="0" rIns="0" tIns="0" bIns="0" anchor="t">
            <a:spAutoFit/>
          </a:bodyPr>
          <a:lstStyle/>
          <a:p>
            <a:pPr algn="l"/>
            <a:r>
              <a:rPr sz="1350" b="0" i="0">
                <a:solidFill>
                  <a:srgbClr val="F0ECE3"/>
                </a:solidFill>
                <a:latin typeface="Segoe UI"/>
              </a:rPr>
              <a:t>Draft activity — read the save, deduct and approve timestamps off the screen, as they are</a:t>
            </a:r>
          </a:p>
        </p:txBody>
      </p:sp>
      <p:cxnSp>
        <p:nvCxnSpPr>
          <p:cNvPr id="9" name="Connector 8"/>
          <p:cNvCxnSpPr/>
          <p:nvPr/>
        </p:nvCxnSpPr>
        <p:spPr>
          <a:xfrm>
            <a:off x="658368" y="2615184"/>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724912"/>
            <a:ext cx="548640" cy="320040"/>
          </a:xfrm>
          <a:prstGeom prst="rect">
            <a:avLst/>
          </a:prstGeom>
          <a:noFill/>
        </p:spPr>
        <p:txBody>
          <a:bodyPr wrap="square" lIns="0" rIns="0" tIns="0" bIns="0" anchor="t">
            <a:spAutoFit/>
          </a:bodyPr>
          <a:lstStyle/>
          <a:p>
            <a:pPr algn="l"/>
            <a:r>
              <a:rPr sz="1350" b="0" i="0">
                <a:solidFill>
                  <a:srgbClr val="C8A870"/>
                </a:solidFill>
                <a:latin typeface="Georgia"/>
              </a:rPr>
              <a:t>02</a:t>
            </a:r>
          </a:p>
        </p:txBody>
      </p:sp>
      <p:sp>
        <p:nvSpPr>
          <p:cNvPr id="11" name="TextBox 10"/>
          <p:cNvSpPr txBox="1"/>
          <p:nvPr/>
        </p:nvSpPr>
        <p:spPr>
          <a:xfrm>
            <a:off x="1344168" y="2724912"/>
            <a:ext cx="10143439" cy="640080"/>
          </a:xfrm>
          <a:prstGeom prst="rect">
            <a:avLst/>
          </a:prstGeom>
          <a:noFill/>
        </p:spPr>
        <p:txBody>
          <a:bodyPr wrap="square" lIns="0" rIns="0" tIns="0" bIns="0" anchor="t">
            <a:spAutoFit/>
          </a:bodyPr>
          <a:lstStyle/>
          <a:p>
            <a:pPr algn="l"/>
            <a:r>
              <a:rPr sz="1350" b="0" i="0">
                <a:solidFill>
                  <a:srgbClr val="F0ECE3"/>
                </a:solidFill>
                <a:latin typeface="Segoe UI"/>
              </a:rPr>
              <a:t>Change record — a matching source becomes MANUAL_SELECTED; pack size 1 kg</a:t>
            </a:r>
          </a:p>
        </p:txBody>
      </p:sp>
      <p:cxnSp>
        <p:nvCxnSpPr>
          <p:cNvPr id="12" name="Connector 11"/>
          <p:cNvCxnSpPr/>
          <p:nvPr/>
        </p:nvCxnSpPr>
        <p:spPr>
          <a:xfrm>
            <a:off x="658368" y="3419856"/>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3529584"/>
            <a:ext cx="548640" cy="320040"/>
          </a:xfrm>
          <a:prstGeom prst="rect">
            <a:avLst/>
          </a:prstGeom>
          <a:noFill/>
        </p:spPr>
        <p:txBody>
          <a:bodyPr wrap="square" lIns="0" rIns="0" tIns="0" bIns="0" anchor="t">
            <a:spAutoFit/>
          </a:bodyPr>
          <a:lstStyle/>
          <a:p>
            <a:pPr algn="l"/>
            <a:r>
              <a:rPr sz="1350" b="0" i="0">
                <a:solidFill>
                  <a:srgbClr val="C8A870"/>
                </a:solidFill>
                <a:latin typeface="Georgia"/>
              </a:rPr>
              <a:t>03</a:t>
            </a:r>
          </a:p>
        </p:txBody>
      </p:sp>
      <p:sp>
        <p:nvSpPr>
          <p:cNvPr id="14" name="TextBox 13"/>
          <p:cNvSpPr txBox="1"/>
          <p:nvPr/>
        </p:nvSpPr>
        <p:spPr>
          <a:xfrm>
            <a:off x="1344168" y="3529584"/>
            <a:ext cx="10143439" cy="640080"/>
          </a:xfrm>
          <a:prstGeom prst="rect">
            <a:avLst/>
          </a:prstGeom>
          <a:noFill/>
        </p:spPr>
        <p:txBody>
          <a:bodyPr wrap="square" lIns="0" rIns="0" tIns="0" bIns="0" anchor="t">
            <a:spAutoFit/>
          </a:bodyPr>
          <a:lstStyle/>
          <a:p>
            <a:pPr algn="l"/>
            <a:r>
              <a:rPr sz="1350" b="0" i="0">
                <a:solidFill>
                  <a:srgbClr val="F0ECE3"/>
                </a:solidFill>
                <a:latin typeface="Segoe UI"/>
              </a:rPr>
              <a:t>Warehouse role — find the DO by number: four fields, no price, no total, no contact detail</a:t>
            </a:r>
          </a:p>
        </p:txBody>
      </p:sp>
      <p:cxnSp>
        <p:nvCxnSpPr>
          <p:cNvPr id="15" name="Connector 14"/>
          <p:cNvCxnSpPr/>
          <p:nvPr/>
        </p:nvCxnSpPr>
        <p:spPr>
          <a:xfrm>
            <a:off x="658368" y="4224528"/>
            <a:ext cx="10874959" cy="0"/>
          </a:xfrm>
          <a:prstGeom prst="line">
            <a:avLst/>
          </a:prstGeom>
          <a:ln w="9525">
            <a:solidFill>
              <a:srgbClr val="2E3D5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 y="5760720"/>
            <a:ext cx="10874959" cy="0"/>
          </a:xfrm>
          <a:prstGeom prst="line">
            <a:avLst/>
          </a:prstGeom>
          <a:ln w="19050">
            <a:solidFill>
              <a:srgbClr val="C8A87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8368" y="5870448"/>
            <a:ext cx="4784982" cy="548640"/>
          </a:xfrm>
          <a:prstGeom prst="rect">
            <a:avLst/>
          </a:prstGeom>
          <a:noFill/>
        </p:spPr>
        <p:txBody>
          <a:bodyPr wrap="square" lIns="0" rIns="0" tIns="0" bIns="0" anchor="t">
            <a:spAutoFit/>
          </a:bodyPr>
          <a:lstStyle/>
          <a:p>
            <a:pPr algn="l"/>
            <a:r>
              <a:rPr sz="1220" b="1" i="0">
                <a:solidFill>
                  <a:srgbClr val="C8A870"/>
                </a:solidFill>
                <a:latin typeface="Georgia"/>
              </a:rPr>
              <a:t>Say the actor’s name out loud — the log is our answer to “who did this?”</a:t>
            </a:r>
          </a:p>
        </p:txBody>
      </p:sp>
      <p:sp>
        <p:nvSpPr>
          <p:cNvPr id="18" name="TextBox 17"/>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6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417320"/>
            <a:ext cx="10874959" cy="274320"/>
          </a:xfrm>
          <a:prstGeom prst="rect">
            <a:avLst/>
          </a:prstGeom>
          <a:noFill/>
        </p:spPr>
        <p:txBody>
          <a:bodyPr wrap="square" lIns="0" rIns="0" tIns="0" bIns="0" anchor="t">
            <a:spAutoFit/>
          </a:bodyPr>
          <a:lstStyle/>
          <a:p>
            <a:pPr algn="l"/>
            <a:r>
              <a:rPr sz="1040" b="1" i="0" spc="180">
                <a:solidFill>
                  <a:srgbClr val="C8A870"/>
                </a:solidFill>
                <a:latin typeface="Segoe UI"/>
              </a:rPr>
              <a:t>CLOSING</a:t>
            </a:r>
          </a:p>
        </p:txBody>
      </p:sp>
      <p:sp>
        <p:nvSpPr>
          <p:cNvPr id="4" name="TextBox 3"/>
          <p:cNvSpPr txBox="1"/>
          <p:nvPr/>
        </p:nvSpPr>
        <p:spPr>
          <a:xfrm>
            <a:off x="658368" y="1828800"/>
            <a:ext cx="10874959" cy="1463040"/>
          </a:xfrm>
          <a:prstGeom prst="rect">
            <a:avLst/>
          </a:prstGeom>
          <a:noFill/>
        </p:spPr>
        <p:txBody>
          <a:bodyPr wrap="square" lIns="0" rIns="0" tIns="0" bIns="0" anchor="t">
            <a:spAutoFit/>
          </a:bodyPr>
          <a:lstStyle/>
          <a:p>
            <a:pPr algn="l"/>
            <a:r>
              <a:rPr sz="3540" b="1" i="0">
                <a:solidFill>
                  <a:srgbClr val="F0ECE3"/>
                </a:solidFill>
                <a:latin typeface="Georgia"/>
              </a:rPr>
              <a:t>A wrong delivery costs more trust than a slow one.</a:t>
            </a:r>
          </a:p>
        </p:txBody>
      </p:sp>
      <p:sp>
        <p:nvSpPr>
          <p:cNvPr id="5" name="TextBox 4"/>
          <p:cNvSpPr txBox="1"/>
          <p:nvPr/>
        </p:nvSpPr>
        <p:spPr>
          <a:xfrm>
            <a:off x="658368" y="3520440"/>
            <a:ext cx="9243715" cy="731520"/>
          </a:xfrm>
          <a:prstGeom prst="rect">
            <a:avLst/>
          </a:prstGeom>
          <a:noFill/>
        </p:spPr>
        <p:txBody>
          <a:bodyPr wrap="square" lIns="0" rIns="0" tIns="0" bIns="0" anchor="t">
            <a:spAutoFit/>
          </a:bodyPr>
          <a:lstStyle/>
          <a:p>
            <a:pPr algn="l"/>
            <a:r>
              <a:rPr sz="1560" b="0" i="1">
                <a:solidFill>
                  <a:srgbClr val="C8A870"/>
                </a:solidFill>
                <a:latin typeface="Georgia"/>
              </a:rPr>
              <a:t>KiraOrder stops where a guess would cost money — and shows you exactly who it asked.</a:t>
            </a:r>
          </a:p>
        </p:txBody>
      </p:sp>
      <p:sp>
        <p:nvSpPr>
          <p:cNvPr id="6" name="TextBox 5"/>
          <p:cNvSpPr txBox="1"/>
          <p:nvPr/>
        </p:nvSpPr>
        <p:spPr>
          <a:xfrm>
            <a:off x="658368" y="4526280"/>
            <a:ext cx="10874959" cy="320040"/>
          </a:xfrm>
          <a:prstGeom prst="rect">
            <a:avLst/>
          </a:prstGeom>
          <a:noFill/>
        </p:spPr>
        <p:txBody>
          <a:bodyPr wrap="square" lIns="0" rIns="0" tIns="0" bIns="0" anchor="t">
            <a:spAutoFit/>
          </a:bodyPr>
          <a:lstStyle/>
          <a:p>
            <a:pPr algn="l"/>
            <a:r>
              <a:rPr sz="1220" b="0" i="0" spc="60">
                <a:solidFill>
                  <a:srgbClr val="9AA6B8"/>
                </a:solidFill>
                <a:latin typeface="Segoe UI"/>
              </a:rPr>
              <a:t>Zhou Jingxi · He Minghao · Xiong Peicheng · Ye Lianghui · Zhan Zhengrong</a:t>
            </a:r>
          </a:p>
        </p:txBody>
      </p:sp>
      <p:sp>
        <p:nvSpPr>
          <p:cNvPr id="7" name="TextBox 6"/>
          <p:cNvSpPr txBox="1"/>
          <p:nvPr/>
        </p:nvSpPr>
        <p:spPr>
          <a:xfrm>
            <a:off x="658368" y="4892040"/>
            <a:ext cx="10874959" cy="320040"/>
          </a:xfrm>
          <a:prstGeom prst="rect">
            <a:avLst/>
          </a:prstGeom>
          <a:noFill/>
        </p:spPr>
        <p:txBody>
          <a:bodyPr wrap="square" lIns="0" rIns="0" tIns="0" bIns="0" anchor="t">
            <a:spAutoFit/>
          </a:bodyPr>
          <a:lstStyle/>
          <a:p>
            <a:pPr algn="l"/>
            <a:r>
              <a:rPr sz="1100" b="0" i="0">
                <a:solidFill>
                  <a:srgbClr val="C8A870"/>
                </a:solidFill>
                <a:latin typeface="Segoe UI"/>
              </a:rPr>
              <a:t>Demo  hozier123.github.io/sdc-2026-team-project   ·   Code  github.com/Hozier123/sdc-2026-team-project</a:t>
            </a:r>
          </a:p>
        </p:txBody>
      </p:sp>
      <p:sp>
        <p:nvSpPr>
          <p:cNvPr id="8" name="TextBox 7"/>
          <p:cNvSpPr txBox="1"/>
          <p:nvPr/>
        </p:nvSpPr>
        <p:spPr>
          <a:xfrm>
            <a:off x="658368" y="6492240"/>
            <a:ext cx="10874959" cy="182880"/>
          </a:xfrm>
          <a:prstGeom prst="rect">
            <a:avLst/>
          </a:prstGeom>
          <a:noFill/>
        </p:spPr>
        <p:txBody>
          <a:bodyPr wrap="square" lIns="0" rIns="0" tIns="0" bIns="0" anchor="t">
            <a:spAutoFit/>
          </a:bodyPr>
          <a:lstStyle/>
          <a:p>
            <a:pPr algn="l"/>
            <a:r>
              <a:rPr sz="869" b="0" i="0" spc="100">
                <a:solidFill>
                  <a:srgbClr val="9AA6B8"/>
                </a:solidFill>
                <a:latin typeface="Segoe UI"/>
              </a:rPr>
              <a:t>Falcons · KiraOrder for Orbyte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KiraOrder for Orbyte — Falcons — SDC 2026 (pre, 10 min)</dc:title>
  <dc:subject>Five-person pre presentation: lead 4 min, four members 1 min each, live demo 2 min at the end</dc:subject>
  <dc:creator>Falcons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