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[0:00–0:25]  COVER</a:t>
            </a:r>
          </a:p>
          <a:p>
            <a:r>
              <a:t>Good afternoon. Fifteen slides, ten minutes, and the prototype is live on the link in front of you.</a:t>
            </a:r>
          </a:p>
          <a:p>
            <a:r>
              <a:t>KiraOrder turns a messy WhatsApp order into an approved delivery order — without guessing.</a:t>
            </a:r>
          </a:p>
          <a:p>
            <a:r>
              <a:t>The user is narrow on purpose: a Malaysian food wholesaler, one clerk on the evening orders, one owner approving the exceptions. No ERP, three languages per message.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[0:25–1:20]  THE PROBLEM</a:t>
            </a:r>
          </a:p>
          <a:p>
            <a:r>
              <a:t>6:04 pm, a wholesale shop outside Kuala Lumpur. Eleven messages arrive at once. One clerk, Siti, is typing.</a:t>
            </a:r>
          </a:p>
          <a:p>
            <a:r>
              <a:t>This one: three cartons of A1 chicken, twenty kilos of onion, five packs of Milo powder, "if available" — and a second line asking whether 95 ringgit is acceptable.</a:t>
            </a:r>
          </a:p>
          <a:p>
            <a:r>
              <a:t>Before she can type one delivery order she has to settle six things, and each lives somewhere else: the pack size in the price file, the tier price in the owner's head, the egg grade in the catalogue, the onion count on a whiteboard, the meaning of "kalau ada" nowhere at all.</a:t>
            </a:r>
          </a:p>
          <a:p>
            <a:r>
              <a:t>So the work is verification, not translation — and a mistake surfaces two days later, at the loading bay.</a:t>
            </a:r>
          </a:p>
          <a:p>
            <a:r>
              <a:t>The numbers bottom-left are a planning estimate, and they are labelled as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[1:20–1:55]  THREE ANSWERS EXIST</a:t>
            </a:r>
          </a:p>
          <a:p>
            <a:r>
              <a:t>Three reasonable answers exist, and all three optimise the message.</a:t>
            </a:r>
          </a:p>
          <a:p>
            <a:r>
              <a:t>By hand: slow, and it collapses at eleven messages.</a:t>
            </a:r>
          </a:p>
          <a:p>
            <a:r>
              <a:t>A translating bot: beautiful output, still wrong — "kalau ada" and the pack size are not language problems.</a:t>
            </a:r>
          </a:p>
          <a:p>
            <a:r>
              <a:t>A flag-everything checker: it stops the work without finishing it. A red flag is a question, not an answer.</a:t>
            </a:r>
          </a:p>
          <a:p>
            <a:r>
              <a:t>Those four facts live in four places no reader can reach. And for a shop with one product and one price, any of the three is enough — that is where our claim stops.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[1:55–2:40]  THE PRODUCT</a:t>
            </a:r>
          </a:p>
          <a:p>
            <a:r>
              <a:t>KiraOrder is a router, not a chatbot. One message in, four destinations out, and the button always tells you which one you are in.</a:t>
            </a:r>
          </a:p>
          <a:p>
            <a:r>
              <a:t>The system settles what data settles: stock, pack size, tier price.</a:t>
            </a:r>
          </a:p>
          <a:p>
            <a:r>
              <a:t>The customer answers the meaning — drafted in her own language, never sent for her.</a:t>
            </a:r>
          </a:p>
          <a:p>
            <a:r>
              <a:t>The owner decides the money. The clerk approves the rest, one button.</a:t>
            </a:r>
          </a:p>
          <a:p>
            <a:r>
              <a:t>The band at the bottom is the brief's own five-stage journey, in the brief's own order. Nothing invented, nothing skipped.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[2:40–5:05]  LIVE DEMO  — five checkpoints, in this order</a:t>
            </a:r>
          </a:p>
          <a:p>
            <a:r>
              <a:t>Let me show you. Public link, synthetic tenant, a Malaysian food wholesaler.</a:t>
            </a:r>
          </a:p>
          <a:p>
            <a:r>
              <a:t>One: I paste the order exactly as it arrives — three languages, abbreviations, no codes, no template.</a:t>
            </a:r>
          </a:p>
          <a:p>
            <a:r>
              <a:t>Two: watch the doubt. The unit was never stated and the egg grade was left open. It asks, and it names who must answer.</a:t>
            </a:r>
          </a:p>
          <a:p>
            <a:r>
              <a:t>Three: watch the money. RM 100 to RM 95 is below this customer's tier, so it leaves the clerk and goes to the owner.</a:t>
            </a:r>
          </a:p>
          <a:p>
            <a:r>
              <a:t>Four: the record. Stock moves, the DO exists, three names on one chain.</a:t>
            </a:r>
          </a:p>
          <a:p>
            <a:r>
              <a:t>Five: the guardrail. The clerk's token calls the owner endpoint and gets a 403 — in the backend, not in the interface.</a:t>
            </a:r>
          </a:p>
          <a:p>
            <a:r>
              <a:t>If the link fails: a recording, and a browser-only Local Demo. Either way you see the loop.</a:t>
            </a:r>
          </a:p>
          <a:p>
            <a:r>
              <a:t>(Leave 30 s of silence here — let them watch the screen. Do not narrate every click.)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[5:05–5:55]  HOW IT WORKS</a:t>
            </a:r>
          </a:p>
          <a:p>
            <a:r>
              <a:t>Four layers, each with one owner and one refusal.</a:t>
            </a:r>
          </a:p>
          <a:p>
            <a:r>
              <a:t>The model's only job is catalogue candidates with verbatim spans — no price, no total, no customer.</a:t>
            </a:r>
          </a:p>
          <a:p>
            <a:r>
              <a:t>Pack size and unit come from the catalogue's structure; the amount is exact decimal arithmetic on the tier.</a:t>
            </a:r>
          </a:p>
          <a:p>
            <a:r>
              <a:t>Every doubt arrives carrying the thing needed to answer it.</a:t>
            </a:r>
          </a:p>
          <a:p>
            <a:r>
              <a:t>Underneath: React, FastAPI on Replit, Neon PostgreSQL with row-level tenant isolation, and the model on RunPod behind masking. The guardrails are structural, not requested in a prompt.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[5:55–6:35]  THE PRINCIPLE</a:t>
            </a:r>
          </a:p>
          <a:p>
            <a:r>
              <a:t>AI reads, data and rules judge, a person decides.</a:t>
            </a:r>
          </a:p>
          <a:p>
            <a:r>
              <a:t>The model's output is deliberately narrow: a span, a family from a closed list, a quantity, a unit. It cannot express a price.</a:t>
            </a:r>
          </a:p>
          <a:p>
            <a:r>
              <a:t>The judge is boring on purpose: catalogue structure, decimal arithmetic, stock under a row lock at approval.</a:t>
            </a:r>
          </a:p>
          <a:p>
            <a:r>
              <a:t>Then a person signs, and the AI draft stays beside their final version, field by field.</a:t>
            </a:r>
          </a:p>
          <a:p>
            <a:r>
              <a:t>Why this is not a prompt: an injection buys one wrong line, which a person still approves, and which cannot move a single sen.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[6:35–7:05]  PEOPLE STAY IN CONTROL</a:t>
            </a:r>
          </a:p>
          <a:p>
            <a:r>
              <a:t>The whole permission model on one screen. The clerk releases routine orders. The owner is the only one who releases money: below tier, above threshold, a flagged customer.</a:t>
            </a:r>
          </a:p>
          <a:p>
            <a:r>
              <a:t>Two things nobody releases: an unresolved blocking doubt, and stock that would go negative.</a:t>
            </a:r>
          </a:p>
          <a:p>
            <a:r>
              <a:t>The warehouse sees picking lines only — no prices, no phone numbers.</a:t>
            </a:r>
          </a:p>
          <a:p>
            <a:r>
              <a:t>Every action lands on one chain, with names and timestamps.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[7:05–7:40]  EVIDENCE</a:t>
            </a:r>
          </a:p>
          <a:p>
            <a:r>
              <a:t>Two kinds of numbers, kept apart on purpose.</a:t>
            </a:r>
          </a:p>
          <a:p>
            <a:r>
              <a:t>Twenty-three calls in LLM mode, zero fallbacks, zero over 4.1 seconds — a runtime result.</a:t>
            </a:r>
          </a:p>
          <a:p>
            <a:r>
              <a:t>Separately, twenty warm requests: p50 2.32 seconds, p95 3.08. Warm state, cold start excluded.</a:t>
            </a:r>
          </a:p>
          <a:p>
            <a:r>
              <a:t>And accuracy: NOT_COMPUTED. The development inputs have no independent answer key. I could put a percentage on this slide; it would be a number I cannot defend in this room.</a:t>
            </a:r>
          </a:p>
          <a:p>
            <a:r>
              <a:t>The right-hand list is what we will not print — the sentences that win a slide and lose the Q&amp;A.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[7:40–8:05]  WHERE IT BREAKS</a:t>
            </a:r>
          </a:p>
          <a:p>
            <a:r>
              <a:t>I would rather show you the gaps than let you find them.</a:t>
            </a:r>
          </a:p>
          <a:p>
            <a:r>
              <a:t>Seven unit-of-measure gaps across thirty-one output lines: three are aliases the adapter does not read, four are bulk-kilogram lines excluded as if they were pack sizes.</a:t>
            </a:r>
          </a:p>
          <a:p>
            <a:r>
              <a:t>And twelve of the thirty-two frozen workflow cases are still NOT_RUN. The manifest is merged; the run is not done.</a:t>
            </a:r>
          </a:p>
          <a:p>
            <a:r>
              <a:t>So: module-level evidence, not lifecycle acceptance.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[8:05–8:40]  SDG AND IMPACT</a:t>
            </a:r>
          </a:p>
          <a:p>
            <a:r>
              <a:t>We claim SDG 8.2 and 8.3: productivity through technological upgrading, and support for SME productive activity. No environmental claim — an order desk does not save carbon, and saying it does would be decoration.</a:t>
            </a:r>
          </a:p>
          <a:p>
            <a:r>
              <a:t>The KPI is one number: median seconds from message to a correct, approved delivery order, clarification included.</a:t>
            </a:r>
          </a:p>
          <a:p>
            <a:r>
              <a:t>Phase 2: halve that median, zero silent mismatches, every price condition still in human hands, eighty percent first-use completion.</a:t>
            </a:r>
          </a:p>
          <a:p>
            <a:r>
              <a:t>Targets committed before the measurement, not after.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[8:40–9:10]  FEASIBILITY</a:t>
            </a:r>
          </a:p>
          <a:p>
            <a:r>
              <a:t>Read this by column. Left: what runs today — five steps on a public link, three roles enforced in the backend, two tenants on one codebase.</a:t>
            </a:r>
          </a:p>
          <a:p>
            <a:r>
              <a:t>Middle: what is simulated and labelled — demo tokens, a synthetic accounting flag, nothing connected to WhatsApp.</a:t>
            </a:r>
          </a:p>
          <a:p>
            <a:r>
              <a:t>Right: what we have not measured, and we will not fill it with a guess.</a:t>
            </a:r>
          </a:p>
          <a:p>
            <a:r>
              <a:t>Hardest risk: one unreleased alias turns a correct line into a silent mismatch, and a model can be cold at six in the evening. Fallback: the rule path without the model, Local Demo without the backend, the recording without the Wi-Fi.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[9:10–9:35]  FIT AND SCALE</a:t>
            </a:r>
          </a:p>
          <a:p>
            <a:r>
              <a:t>Orbyte's premise is a connected hub: business data, roles, approval, an activity record. KiraOrder fills the capability it does not yet have — order intake that knows when to stop.</a:t>
            </a:r>
          </a:p>
          <a:p>
            <a:r>
              <a:t>Two tenants, one codebase: fifteen hundred ringgit for food, eight hundred for hardware cleaning. Configuration, not a fork.</a:t>
            </a:r>
          </a:p>
          <a:p>
            <a:r>
              <a:t>Billing per approved DO — an assumption, and I am not printing a price tonight.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[9:35–9:50]  WHY IT MATTERS</a:t>
            </a:r>
          </a:p>
          <a:p>
            <a:r>
              <a:t>Step back for one slide. The smallest businesses already run on WhatsApp, a price file and one person's memory.</a:t>
            </a:r>
          </a:p>
          <a:p>
            <a:r>
              <a:t>That gap is not closed by a bigger system. It is closed by a system that stops at the right moment, says what it does not know, and knows who does.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[9:50–10:00]  CLOSE</a:t>
            </a:r>
          </a:p>
          <a:p>
            <a:r>
              <a:t>It knows when not to guess — and who to ask.</a:t>
            </a:r>
          </a:p>
          <a:p>
            <a:r>
              <a:t>Three questions we would like your view on, and the prototype, the API and the code are on that card.</a:t>
            </a:r>
          </a:p>
          <a:p>
            <a:r>
              <a:t>Thank you. The next five minutes are yours.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-822960"/>
            <a:ext cx="7498079" cy="4754880"/>
          </a:xfrm>
          <a:prstGeom prst="ellipse">
            <a:avLst/>
          </a:prstGeom>
          <a:gradFill rotWithShape="1">
            <a:gsLst>
              <a:gs pos="0">
                <a:srgbClr val="40C5B8">
                  <a:alpha val="11000"/>
                </a:srgbClr>
              </a:gs>
              <a:gs pos="55000">
                <a:srgbClr val="40C5B8">
                  <a:alpha val="3080"/>
                </a:srgbClr>
              </a:gs>
              <a:gs pos="100000">
                <a:srgbClr val="40C5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48640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60" b="1" i="0" spc="200">
                <a:solidFill>
                  <a:srgbClr val="6FB8B2"/>
                </a:solidFill>
                <a:latin typeface="Consolas"/>
              </a:rPr>
              <a:t>SDC HACKATHON 2026   ·   DOMAIN 2   ·   ORBYTE SMART SME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2296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600" b="1" i="0" spc="-120">
                <a:solidFill>
                  <a:srgbClr val="F7F5EF"/>
                </a:solidFill>
                <a:latin typeface="Segoe UI"/>
              </a:rPr>
              <a:t>KiraOrder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57984"/>
            <a:ext cx="960120" cy="38404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40864"/>
            <a:ext cx="7406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50" b="0" i="0">
                <a:solidFill>
                  <a:srgbClr val="AFC2C7"/>
                </a:solidFill>
                <a:latin typeface="Segoe UI"/>
              </a:rPr>
              <a:t>It knows when not to guess — and who to 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095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00" b="1" i="0" spc="200">
                <a:solidFill>
                  <a:srgbClr val="6FB8B2"/>
                </a:solidFill>
                <a:latin typeface="Consolas"/>
              </a:rPr>
              <a:t>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133856"/>
            <a:ext cx="320954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55000"/>
              </a:lnSpc>
            </a:pPr>
            <a:r>
              <a:rPr sz="950" b="0" i="0">
                <a:solidFill>
                  <a:srgbClr val="86A8B3"/>
                </a:solidFill>
                <a:latin typeface="Segoe UI"/>
              </a:rPr>
              <a:t>Five-stage loop, three roles, two tenants, one audit chain — built in four days on synthetic data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054096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218688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 spc="180">
                <a:solidFill>
                  <a:srgbClr val="ECAF52"/>
                </a:solidFill>
                <a:latin typeface="Consolas"/>
              </a:rPr>
              <a:t>THE PRODUCT, IN ONE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38144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60" b="0" i="0">
                <a:solidFill>
                  <a:srgbClr val="F7F5EF"/>
                </a:solidFill>
                <a:latin typeface="Segoe UI"/>
              </a:rPr>
              <a:t>Turns a mixed-language WhatsApp order into an approved delivery order — and stops exactly where a guess would cost money.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1868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 spc="180">
                <a:solidFill>
                  <a:srgbClr val="ECAF52"/>
                </a:solidFill>
                <a:latin typeface="Consolas"/>
              </a:rPr>
              <a:t>WHO IT IS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438144"/>
            <a:ext cx="5175504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60" b="0" i="0">
                <a:solidFill>
                  <a:srgbClr val="F7F5EF"/>
                </a:solidFill>
                <a:latin typeface="Segoe UI"/>
              </a:rPr>
              <a:t>Micro and small Malaysian food wholesalers. One clerk takes the evening orders, one owner approves the exceptions. No ERP, three languages per message.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95604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102352"/>
            <a:ext cx="310896" cy="27432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19379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60" b="1" i="0" spc="180">
                <a:solidFill>
                  <a:srgbClr val="6FB8B2"/>
                </a:solidFill>
                <a:latin typeface="Consolas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94960"/>
            <a:ext cx="3218688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AFC2C7"/>
                </a:solidFill>
                <a:latin typeface="Segoe UI"/>
              </a:rPr>
              <a:t>Falcons  ·  5 members  ·  Xiamen University Malaysia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5102352"/>
            <a:ext cx="310896" cy="27432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519379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60" b="1" i="0" spc="180">
                <a:solidFill>
                  <a:srgbClr val="6FB8B2"/>
                </a:solidFill>
                <a:latin typeface="Consolas"/>
              </a:rPr>
              <a:t>SDG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5394960"/>
            <a:ext cx="3218688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AFC2C7"/>
                </a:solidFill>
                <a:latin typeface="Segoe UI"/>
              </a:rPr>
              <a:t>8  Decent Work and Economic Growth  ·  8.2, 8.3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5102352"/>
            <a:ext cx="310896" cy="27432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519379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60" b="1" i="0" spc="180">
                <a:solidFill>
                  <a:srgbClr val="6FB8B2"/>
                </a:solidFill>
                <a:latin typeface="Consolas"/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5394960"/>
            <a:ext cx="3218688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AFC2C7"/>
                </a:solidFill>
                <a:latin typeface="Segoe UI"/>
              </a:rPr>
              <a:t>Working prototype on a public link  ·  synthetic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KiraOrder for Orbyte  ·  final presentation  ·  1 November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01   · 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2600" b="1" i="0" spc="-30">
                <a:solidFill>
                  <a:srgbClr val="F7F5EF"/>
                </a:solidFill>
                <a:latin typeface="Segoe UI"/>
              </a:rPr>
              <a:t>6:04 pm. One message.
Six lookups, four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1" i="0" spc="160">
                <a:solidFill>
                  <a:srgbClr val="ECAF52"/>
                </a:solidFill>
                <a:latin typeface="Consolas"/>
              </a:rPr>
              <a:t>THE MESSAGE, AS IT ARRIVES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4114800" cy="1280160"/>
          </a:xfrm>
          <a:prstGeom prst="roundRect">
            <a:avLst>
              <a:gd name="adj" fmla="val 9000"/>
            </a:avLst>
          </a:prstGeom>
          <a:solidFill>
            <a:srgbClr val="F1E8D8"/>
          </a:solidFill>
          <a:ln>
            <a:noFill/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3675887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019" b="0" i="0">
                <a:solidFill>
                  <a:srgbClr val="0E2330"/>
                </a:solidFill>
                <a:latin typeface="Consolas"/>
              </a:rPr>
              <a:t>“3 ctn Ayam A1, 20kg bwg bsr India,</a:t>
            </a:r>
          </a:p>
          <a:p>
            <a:pPr algn="l">
              <a:lnSpc>
                <a:spcPct val="155000"/>
              </a:lnSpc>
            </a:pPr>
            <a:r>
              <a:rPr sz="1019" b="0" i="0">
                <a:solidFill>
                  <a:srgbClr val="0E2330"/>
                </a:solidFill>
                <a:latin typeface="Consolas"/>
              </a:rPr>
              <a:t> 5包美禄粉, kalau ada”</a:t>
            </a:r>
          </a:p>
          <a:p>
            <a:pPr algn="l">
              <a:lnSpc>
                <a:spcPct val="155000"/>
              </a:lnSpc>
              <a:spcBef>
                <a:spcPts val="500"/>
              </a:spcBef>
            </a:pPr>
            <a:r>
              <a:rPr sz="1019" b="0" i="0">
                <a:solidFill>
                  <a:srgbClr val="0E2330"/>
                </a:solidFill>
                <a:latin typeface="Consolas"/>
              </a:rPr>
              <a:t>“Milo 5 pack — kalau RM95 boleh?”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4114800" cy="1920240"/>
          </a:xfrm>
          <a:prstGeom prst="roundRect">
            <a:avLst>
              <a:gd name="adj" fmla="val 5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2841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30">
                <a:solidFill>
                  <a:srgbClr val="ECAF52"/>
                </a:solidFill>
                <a:latin typeface="Consolas"/>
              </a:rPr>
              <a:t>BASELINE  ·  PLANNING ESTIMATE, NOT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47872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0C5B8"/>
                </a:solidFill>
                <a:latin typeface="Segoe UI"/>
              </a:rPr>
              <a:t>≈ 210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986784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median handling time
per 5-line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3547872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0C5B8"/>
                </a:solidFill>
                <a:latin typeface="Segoe UI"/>
              </a:rPr>
              <a:t>≤ 30 %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986784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transcription or
stockout discrepancies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547872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0C5B8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3986784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independent
SME pilots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663440"/>
            <a:ext cx="3675887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00" b="0" i="0">
                <a:solidFill>
                  <a:srgbClr val="5E828F"/>
                </a:solidFill>
                <a:latin typeface="Segoe UI"/>
              </a:rPr>
              <a:t>Team estimate from the brief and domain research. Phase 2 runs the pilot that replaces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166420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0C5B8"/>
                </a:solidFill>
                <a:latin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1627632"/>
            <a:ext cx="41605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F7F5EF"/>
                </a:solidFill>
                <a:latin typeface="Segoe UI"/>
              </a:rPr>
              <a:t>Which Milo — the 1 kg pack or the 2 kg pack?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664208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1" i="0" spc="90">
                <a:solidFill>
                  <a:srgbClr val="ECAF52"/>
                </a:solidFill>
                <a:latin typeface="Consolas"/>
              </a:rPr>
              <a:t>EXCEL PRICE 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75504" y="2103120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4" y="22494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0C5B8"/>
                </a:solidFill>
                <a:latin typeface="Consola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212848"/>
            <a:ext cx="41605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F7F5EF"/>
                </a:solidFill>
                <a:latin typeface="Segoe UI"/>
              </a:rPr>
              <a:t>Which tier price does this customer buy 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249424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1" i="0" spc="90">
                <a:solidFill>
                  <a:srgbClr val="ECAF52"/>
                </a:solidFill>
                <a:latin typeface="Consolas"/>
              </a:rPr>
              <a:t>OWNER’S HEAD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75504" y="2688336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5504" y="28346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0C5B8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2798064"/>
            <a:ext cx="41605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F7F5EF"/>
                </a:solidFill>
                <a:latin typeface="Segoe UI"/>
              </a:rPr>
              <a:t>Which egg grade: A, B or C — same price today?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834640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1" i="0" spc="90">
                <a:solidFill>
                  <a:srgbClr val="ECAF52"/>
                </a:solidFill>
                <a:latin typeface="Consolas"/>
              </a:rPr>
              <a:t>CATALOGUE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5504" y="3273552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5504" y="341985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0C5B8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96128" y="3383280"/>
            <a:ext cx="41605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F7F5EF"/>
                </a:solidFill>
                <a:latin typeface="Segoe UI"/>
              </a:rPr>
              <a:t>Is the onion in stock, and how much of it?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419856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1" i="0" spc="90">
                <a:solidFill>
                  <a:srgbClr val="ECAF52"/>
                </a:solidFill>
                <a:latin typeface="Consolas"/>
              </a:rPr>
              <a:t>WHITEBOARD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75504" y="3858768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75504" y="400507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0C5B8"/>
                </a:solidFill>
                <a:latin typeface="Consola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3968496"/>
            <a:ext cx="41605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F7F5EF"/>
                </a:solidFill>
                <a:latin typeface="Segoe UI"/>
              </a:rPr>
              <a:t>Does “kalau ada” mean reduce the line, or drop it?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005072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1" i="0" spc="90">
                <a:solidFill>
                  <a:srgbClr val="ECAF52"/>
                </a:solidFill>
                <a:latin typeface="Consolas"/>
              </a:rPr>
              <a:t>NOWHERE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75504" y="4443983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75504" y="45902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0C5B8"/>
                </a:solidFill>
                <a:latin typeface="Consola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4553712"/>
            <a:ext cx="4160520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4000"/>
              </a:lnSpc>
            </a:pPr>
            <a:r>
              <a:rPr sz="1120" b="0" i="0">
                <a:solidFill>
                  <a:srgbClr val="F7F5EF"/>
                </a:solidFill>
                <a:latin typeface="Segoe UI"/>
              </a:rPr>
              <a:t>Does RM 95 sit below her tier price?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590288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1" i="0" spc="90">
                <a:solidFill>
                  <a:srgbClr val="ECAF52"/>
                </a:solidFill>
                <a:latin typeface="Consolas"/>
              </a:rPr>
              <a:t>CALCULATOR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75504" y="5029200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5230368"/>
            <a:ext cx="6355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CAF52"/>
                </a:solidFill>
                <a:latin typeface="Segoe UI"/>
              </a:rPr>
              <a:t>The bottleneck is not reading the message. It is deciding what must not be guessed.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Source: SDC Domain 2 brief, pp. 3–4  ·  synthetic order used in the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02   ·   WHAT EXISTS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2600" b="1" i="0" spc="-30">
                <a:solidFill>
                  <a:srgbClr val="F7F5EF"/>
                </a:solidFill>
                <a:latin typeface="Segoe UI"/>
              </a:rPr>
              <a:t>Three answers exist.
All three optimise the message.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20" b="0" i="0">
                <a:solidFill>
                  <a:srgbClr val="86A8B3"/>
                </a:solidFill>
                <a:latin typeface="Segoe UI"/>
              </a:rPr>
              <a:t>Each one gets better at parsing. None of them can supply a fact the message does not contain.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75104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30">
                <a:solidFill>
                  <a:srgbClr val="ECAF52"/>
                </a:solidFill>
                <a:latin typeface="Consolas"/>
              </a:rPr>
              <a:t>THE FOUR FACTS ARE NOT IN THE MESSAGE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86000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3113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FC2C7"/>
                </a:solidFill>
                <a:latin typeface="Segoe UI"/>
              </a:rPr>
              <a:t>The price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633472"/>
            <a:ext cx="301752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52928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79806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FC2C7"/>
                </a:solidFill>
                <a:latin typeface="Segoe UI"/>
              </a:rPr>
              <a:t>The customer’s 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00400"/>
            <a:ext cx="301752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419856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3649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FC2C7"/>
                </a:solidFill>
                <a:latin typeface="Segoe UI"/>
              </a:rPr>
              <a:t>The stock 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767328"/>
            <a:ext cx="301752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986783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93192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FC2C7"/>
                </a:solidFill>
                <a:latin typeface="Segoe UI"/>
              </a:rPr>
              <a:t>The owner’s phone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34256"/>
            <a:ext cx="301752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480560"/>
            <a:ext cx="296265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60" b="0" i="0">
                <a:solidFill>
                  <a:srgbClr val="6FB8B2"/>
                </a:solidFill>
                <a:latin typeface="Segoe UI"/>
              </a:rPr>
              <a:t>No reader — human or model — can invent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86784" y="1920240"/>
            <a:ext cx="2450592" cy="3017520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2" y="20482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 spc="140">
                <a:solidFill>
                  <a:srgbClr val="40C5B8"/>
                </a:solidFill>
                <a:latin typeface="Consola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2249424"/>
            <a:ext cx="20482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By 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2724912"/>
            <a:ext cx="204825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860" b="0" i="0">
                <a:solidFill>
                  <a:srgbClr val="86A8B3"/>
                </a:solidFill>
                <a:latin typeface="Segoe UI"/>
              </a:rPr>
              <a:t>Ask the customer, read the price file, walk to the whiteboard, type the 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3602736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40">
                <a:solidFill>
                  <a:srgbClr val="ECAF52"/>
                </a:solidFill>
                <a:latin typeface="Consolas"/>
              </a:rPr>
              <a:t>WHAT IT MISSES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7952" y="3785615"/>
            <a:ext cx="204825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40" b="0" i="0">
                <a:solidFill>
                  <a:srgbClr val="AFC2C7"/>
                </a:solidFill>
                <a:latin typeface="Segoe UI"/>
              </a:rPr>
              <a:t>Nothing except time — and the whole thing collapses when eleven messages land at once.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7952" y="4590288"/>
            <a:ext cx="188366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4645152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ECAF52"/>
                </a:solidFill>
                <a:latin typeface="Segoe UI"/>
              </a:rPr>
              <a:t>→  20–40 min per order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47104" y="1920240"/>
            <a:ext cx="2450592" cy="3017520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20482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 spc="140">
                <a:solidFill>
                  <a:srgbClr val="40C5B8"/>
                </a:solidFill>
                <a:latin typeface="Consola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249424"/>
            <a:ext cx="20482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A translating 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2724912"/>
            <a:ext cx="204825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860" b="0" i="0">
                <a:solidFill>
                  <a:srgbClr val="86A8B3"/>
                </a:solidFill>
                <a:latin typeface="Segoe UI"/>
              </a:rPr>
              <a:t>Turn Malay, Chinese and English into a clean, structured order list.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3602736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40">
                <a:solidFill>
                  <a:srgbClr val="ECAF52"/>
                </a:solidFill>
                <a:latin typeface="Consolas"/>
              </a:rPr>
              <a:t>WHAT IT MISSES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3785615"/>
            <a:ext cx="204825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40" b="0" i="0">
                <a:solidFill>
                  <a:srgbClr val="AFC2C7"/>
                </a:solidFill>
                <a:latin typeface="Segoe UI"/>
              </a:rPr>
              <a:t>The order looks perfect and is still wrong. “Kalau ada” and the pack size are not language problems.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8272" y="4590288"/>
            <a:ext cx="188366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4645152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ECAF52"/>
                </a:solidFill>
                <a:latin typeface="Segoe UI"/>
              </a:rPr>
              <a:t>→  Confidence without correctness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07424" y="1920240"/>
            <a:ext cx="2450592" cy="3017520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20482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 spc="140">
                <a:solidFill>
                  <a:srgbClr val="40C5B8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2249424"/>
            <a:ext cx="2048256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A flag-everything checker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2724912"/>
            <a:ext cx="2048256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860" b="0" i="0">
                <a:solidFill>
                  <a:srgbClr val="86A8B3"/>
                </a:solidFill>
                <a:latin typeface="Segoe UI"/>
              </a:rPr>
              <a:t>Mark suspicious lines red and stop the flow so a human looks.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3602736"/>
            <a:ext cx="2048256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40">
                <a:solidFill>
                  <a:srgbClr val="ECAF52"/>
                </a:solidFill>
                <a:latin typeface="Consolas"/>
              </a:rPr>
              <a:t>WHAT IT MISSES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3785615"/>
            <a:ext cx="2048256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40" b="0" i="0">
                <a:solidFill>
                  <a:srgbClr val="AFC2C7"/>
                </a:solidFill>
                <a:latin typeface="Segoe UI"/>
              </a:rPr>
              <a:t>It stops the work without finishing it. A red flag is a question, not an answer.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08592" y="4590288"/>
            <a:ext cx="188366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4645152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ECAF52"/>
                </a:solidFill>
                <a:latin typeface="Segoe UI"/>
              </a:rPr>
              <a:t>→  Alert fatigue, then ignored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5138928"/>
            <a:ext cx="10874959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248656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720" b="1" i="0" spc="160">
                <a:solidFill>
                  <a:srgbClr val="ECAF52"/>
                </a:solidFill>
                <a:latin typeface="Consolas"/>
              </a:rPr>
              <a:t>THE BOUNDARY   </a:t>
            </a:r>
          </a:p>
          <a:p>
            <a:pPr algn="l">
              <a:lnSpc>
                <a:spcPct val="134000"/>
              </a:lnSpc>
            </a:pPr>
            <a:r>
              <a:rPr sz="1019" b="0" i="0">
                <a:solidFill>
                  <a:srgbClr val="AFC2C7"/>
                </a:solidFill>
                <a:latin typeface="Segoe UI"/>
              </a:rPr>
              <a:t>For a shop selling one product at one price, any of these is enough. Our user has four pack sizes, six tier prices and a stock board on the wall — that is where all three stop.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Criterion targeted: Innovation &amp; Creativity (30%) — a sharply framed slice, not a re-skinned chatbot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03   ·  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800" b="1" i="0" spc="-30">
                <a:solidFill>
                  <a:srgbClr val="F7F5EF"/>
                </a:solidFill>
                <a:latin typeface="Segoe UI"/>
              </a:rPr>
              <a:t>It stops. Then it knows who to 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20" b="0" i="0">
                <a:solidFill>
                  <a:srgbClr val="86A8B3"/>
                </a:solidFill>
                <a:latin typeface="Segoe UI"/>
              </a:rPr>
              <a:t>One message in, four destinations out. The primary button always shows the state of the decision, so nobody has to remember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2633472" cy="1755648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633472" cy="45720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40C5B8"/>
                </a:solidFill>
                <a:latin typeface="Consolas"/>
              </a:rPr>
              <a:t>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03120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7F5EF"/>
                </a:solidFill>
                <a:latin typeface="Segoe UI"/>
              </a:rPr>
              <a:t>Settles what data settles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50592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Stock, pack size and tier price are read off the catalogue. “Kalau ada” is answered by the count, never by a guess.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1868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40C5B8"/>
                </a:solidFill>
                <a:latin typeface="Segoe UI"/>
              </a:rPr>
              <a:t>No human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55648"/>
            <a:ext cx="2633472" cy="1755648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55648"/>
            <a:ext cx="2633472" cy="45720"/>
          </a:xfrm>
          <a:prstGeom prst="rect">
            <a:avLst/>
          </a:prstGeom>
          <a:solidFill>
            <a:srgbClr val="F1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9019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F1E8D8"/>
                </a:solidFill>
                <a:latin typeface="Consolas"/>
              </a:rPr>
              <a:t>THE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103120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7F5EF"/>
                </a:solidFill>
                <a:latin typeface="Segoe UI"/>
              </a:rPr>
              <a:t>Answers the 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450592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A ready-made question in her own language: “Boss, Milo nak 1kg atau 2kg?” The clerk copies it — we never send on her behalf.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21868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F1E8D8"/>
                </a:solidFill>
                <a:latin typeface="Segoe UI"/>
              </a:rPr>
              <a:t>Drafted, not sent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16752" y="1755648"/>
            <a:ext cx="2633472" cy="1755648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16752" y="1755648"/>
            <a:ext cx="2633472" cy="45720"/>
          </a:xfrm>
          <a:prstGeom prst="rect">
            <a:avLst/>
          </a:prstGeom>
          <a:solidFill>
            <a:srgbClr val="ECA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9019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ECAF52"/>
                </a:solidFill>
                <a:latin typeface="Consolas"/>
              </a:rPr>
              <a:t>THE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03120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7F5EF"/>
                </a:solidFill>
                <a:latin typeface="Segoe UI"/>
              </a:rPr>
              <a:t>Decides the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50592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Price below tier, order above threshold, or a flagged customer. He sees the reason, the numbers and her exact words.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1868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ECAF52"/>
                </a:solidFill>
                <a:latin typeface="Segoe UI"/>
              </a:rPr>
              <a:t>Two taps, on a phone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95944" y="1755648"/>
            <a:ext cx="2633472" cy="1755648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95944" y="1755648"/>
            <a:ext cx="2633472" cy="45720"/>
          </a:xfrm>
          <a:prstGeom prst="rect">
            <a:avLst/>
          </a:prstGeom>
          <a:solidFill>
            <a:srgbClr val="86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7112" y="190195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86A8B3"/>
                </a:solidFill>
                <a:latin typeface="Consolas"/>
              </a:rPr>
              <a:t>THE CLERK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2103120"/>
            <a:ext cx="2249424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7F5EF"/>
                </a:solidFill>
                <a:latin typeface="Segoe UI"/>
              </a:rPr>
              <a:t>Approves the 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2" y="2450592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A routine order from a regular needs no escalation. One button: approve, and the DO exists, stock moves, the log gets a 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3218688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80" b="1" i="0">
                <a:solidFill>
                  <a:srgbClr val="86A8B3"/>
                </a:solidFill>
                <a:latin typeface="Segoe UI"/>
              </a:rPr>
              <a:t>One button, no typing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767328"/>
            <a:ext cx="10874959" cy="1298448"/>
          </a:xfrm>
          <a:prstGeom prst="roundRect">
            <a:avLst>
              <a:gd name="adj" fmla="val 5000"/>
            </a:avLst>
          </a:prstGeom>
          <a:solidFill>
            <a:srgbClr val="10384C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3968496"/>
            <a:ext cx="6035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40">
                <a:solidFill>
                  <a:srgbClr val="6FB8B2"/>
                </a:solidFill>
                <a:latin typeface="Consolas"/>
              </a:rPr>
              <a:t>THE BRIEF’S FIVE STAGES, IN ORDER — MAPPED 1:1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224528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Trigger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498848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pasted order message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15184" y="4315968"/>
            <a:ext cx="201168" cy="0"/>
          </a:xfrm>
          <a:prstGeom prst="line">
            <a:avLst/>
          </a:prstGeom>
          <a:ln w="13970">
            <a:solidFill>
              <a:srgbClr val="2A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62656" y="4224528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Connected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62656" y="4498848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catalogue, aliases, prices, stock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81727" y="4315968"/>
            <a:ext cx="201169" cy="0"/>
          </a:xfrm>
          <a:prstGeom prst="line">
            <a:avLst/>
          </a:prstGeom>
          <a:ln w="13970">
            <a:solidFill>
              <a:srgbClr val="2A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0" y="4224528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Decision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498848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rules settle what data settles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48272" y="4315968"/>
            <a:ext cx="201168" cy="0"/>
          </a:xfrm>
          <a:prstGeom prst="line">
            <a:avLst/>
          </a:prstGeom>
          <a:ln w="13970">
            <a:solidFill>
              <a:srgbClr val="2A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95744" y="4224528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Human approval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5744" y="4498848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exceptions reach a named role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14816" y="4315968"/>
            <a:ext cx="201168" cy="0"/>
          </a:xfrm>
          <a:prstGeom prst="line">
            <a:avLst/>
          </a:prstGeom>
          <a:ln w="13970">
            <a:solidFill>
              <a:srgbClr val="2A7E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62288" y="4224528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Visible outcome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4498848"/>
            <a:ext cx="1591056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740" b="0" i="0">
                <a:solidFill>
                  <a:srgbClr val="86A8B3"/>
                </a:solidFill>
                <a:latin typeface="Segoe UI"/>
              </a:rPr>
              <a:t>DO issued, stock moved, log kept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2303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60" b="0" i="0">
                <a:solidFill>
                  <a:srgbClr val="ECAF52"/>
                </a:solidFill>
                <a:latin typeface="Segoe UI"/>
              </a:rPr>
              <a:t>Every stage that data can settle is automated. Every stage that can move money needs a person.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Criterion targeted: Problem-Solution Fit (25%) — all four destinations, humans in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04   · 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800" b="1" i="0" spc="-30">
                <a:solidFill>
                  <a:srgbClr val="F7F5EF"/>
                </a:solidFill>
                <a:latin typeface="Segoe UI"/>
              </a:rPr>
              <a:t>The link is live. Watch five things.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86A8B3"/>
                </a:solidFill>
                <a:latin typeface="Segoe UI"/>
              </a:rPr>
              <a:t>Synthetic tenant  ·  Malaysian food wholesale  ·  order DJ0741 → delivery order DO-T1-0002  ·  RM 1,395.00 against an RM 1,500.00 approval threshold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1728216"/>
            <a:ext cx="256032" cy="256032"/>
          </a:xfrm>
          <a:prstGeom prst="ellipse">
            <a:avLst/>
          </a:prstGeom>
          <a:noFill/>
          <a:ln w="11430">
            <a:solidFill>
              <a:srgbClr val="40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69364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40C5B8"/>
                </a:solidFill>
                <a:latin typeface="Consolas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4672" y="2011680"/>
            <a:ext cx="0" cy="365760"/>
          </a:xfrm>
          <a:prstGeom prst="line">
            <a:avLst/>
          </a:prstGeom>
          <a:ln w="12700">
            <a:solidFill>
              <a:srgbClr val="1E4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568" y="1700784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Paste the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75104"/>
            <a:ext cx="59893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Three languages, abbreviations, no SKU codes. No template and no field mapping.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569464"/>
            <a:ext cx="256032" cy="256032"/>
          </a:xfrm>
          <a:prstGeom prst="ellipse">
            <a:avLst/>
          </a:prstGeom>
          <a:noFill/>
          <a:ln w="11430">
            <a:solidFill>
              <a:srgbClr val="40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610612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40C5B8"/>
                </a:solidFill>
                <a:latin typeface="Consolas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" y="2852928"/>
            <a:ext cx="0" cy="365760"/>
          </a:xfrm>
          <a:prstGeom prst="line">
            <a:avLst/>
          </a:prstGeom>
          <a:ln w="12700">
            <a:solidFill>
              <a:srgbClr val="1E4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254203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Watch the doubt, not the 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816352"/>
            <a:ext cx="59893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The unit was never stated and the egg grade was left open. The button asks; it does not pick.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3410712"/>
            <a:ext cx="256032" cy="256032"/>
          </a:xfrm>
          <a:prstGeom prst="ellipse">
            <a:avLst/>
          </a:prstGeom>
          <a:noFill/>
          <a:ln w="11430">
            <a:solidFill>
              <a:srgbClr val="40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451860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40C5B8"/>
                </a:solidFill>
                <a:latin typeface="Consolas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" y="3694176"/>
            <a:ext cx="0" cy="365760"/>
          </a:xfrm>
          <a:prstGeom prst="line">
            <a:avLst/>
          </a:prstGeom>
          <a:ln w="12700">
            <a:solidFill>
              <a:srgbClr val="1E4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5568" y="338328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Watch the money leave the clerk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3657600"/>
            <a:ext cx="59893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RM 100 → RM 95 sits below this customer’s tier. The owner approves; nothing is auto-accepted.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" y="4251960"/>
            <a:ext cx="256032" cy="256032"/>
          </a:xfrm>
          <a:prstGeom prst="ellipse">
            <a:avLst/>
          </a:prstGeom>
          <a:noFill/>
          <a:ln w="11430">
            <a:solidFill>
              <a:srgbClr val="40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2931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40C5B8"/>
                </a:solidFill>
                <a:latin typeface="Consolas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4672" y="4535424"/>
            <a:ext cx="0" cy="365760"/>
          </a:xfrm>
          <a:prstGeom prst="line">
            <a:avLst/>
          </a:prstGeom>
          <a:ln w="12700">
            <a:solidFill>
              <a:srgbClr val="1E4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15568" y="4224528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Watch the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498848"/>
            <a:ext cx="59893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Stock moves, DO-T1-0002 exists, reply drafted, and three names sit on one traceable chain.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5093208"/>
            <a:ext cx="256032" cy="256032"/>
          </a:xfrm>
          <a:prstGeom prst="ellipse">
            <a:avLst/>
          </a:prstGeom>
          <a:noFill/>
          <a:ln w="11430">
            <a:solidFill>
              <a:srgbClr val="40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13435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40C5B8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065776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7F5EF"/>
                </a:solidFill>
                <a:latin typeface="Segoe UI"/>
              </a:rPr>
              <a:t>Watch the guardrail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340096"/>
            <a:ext cx="598932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The clerk’s token calling the owner endpoint returns 403 — enforced in the backend, not in the 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2127" y="1700784"/>
            <a:ext cx="3657600" cy="1243584"/>
          </a:xfrm>
          <a:prstGeom prst="roundRect">
            <a:avLst>
              <a:gd name="adj" fmla="val 9000"/>
            </a:avLst>
          </a:prstGeom>
          <a:solidFill>
            <a:srgbClr val="F1E8D8"/>
          </a:solidFill>
          <a:ln>
            <a:noFill/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1583" y="181051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60">
                <a:solidFill>
                  <a:srgbClr val="8A5A17"/>
                </a:solidFill>
                <a:latin typeface="Consolas"/>
              </a:rPr>
              <a:t>IF THE LINK DROPS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2029968"/>
            <a:ext cx="323697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4000"/>
              </a:lnSpc>
            </a:pPr>
            <a:r>
              <a:rPr sz="880" b="0" i="0">
                <a:solidFill>
                  <a:srgbClr val="0E2330"/>
                </a:solidFill>
                <a:latin typeface="Segoe UI"/>
              </a:rPr>
              <a:t>Backup recording plus a Local Demo mode: browser-only, synthetic data, no backend and no model call.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82127" y="3163824"/>
            <a:ext cx="3657600" cy="2231136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1583" y="329184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40">
                <a:solidFill>
                  <a:srgbClr val="ECAF52"/>
                </a:solidFill>
                <a:latin typeface="Consolas"/>
              </a:rPr>
              <a:t>WHAT THE DEMO DOES NOT SHOW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1583" y="3547872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·  No WhatsApp connection — the clerk pastes.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1583" y="3986783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·  No accounting integration — a synthetic field.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1583" y="4425696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·  Identity is demo tokens, not single sign-on.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1583" y="4864608"/>
            <a:ext cx="323697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30" b="0" i="0">
                <a:solidFill>
                  <a:srgbClr val="86A8B3"/>
                </a:solidFill>
                <a:latin typeface="Segoe UI"/>
              </a:rPr>
              <a:t>·  PDPA handling is designed, not certified.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0" i="0" spc="40">
                <a:solidFill>
                  <a:srgbClr val="5E828F"/>
                </a:solidFill>
                <a:latin typeface="Consolas"/>
              </a:rPr>
              <a:t>Live: hozier123.github.io/sdc-2026-team-project  ·  API: kiraorder-api.replit.app  ·  Repo: github.com/Hozier123/sdc-2026-team-project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680" b="0" i="0" spc="40">
                <a:solidFill>
                  <a:srgbClr val="6FB8B2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05   · 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800" b="1" i="0" spc="-30">
                <a:solidFill>
                  <a:srgbClr val="F7F5EF"/>
                </a:solidFill>
                <a:latin typeface="Segoe UI"/>
              </a:rPr>
              <a:t>One order, four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6A8B3"/>
                </a:solidFill>
                <a:latin typeface="Segoe UI"/>
              </a:rPr>
              <a:t>Each layer has one owner, one refusal and one output. That is why the order can be audited line by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2395728" cy="1883664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0" b="1" i="0" spc="140">
                <a:solidFill>
                  <a:srgbClr val="40C5B8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29968"/>
            <a:ext cx="2084831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40" b="1" i="0">
                <a:solidFill>
                  <a:srgbClr val="F7F5EF"/>
                </a:solidFill>
                <a:latin typeface="Segoe UI"/>
              </a:rPr>
              <a:t>Order
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15184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6FB8B2"/>
                </a:solidFill>
                <a:latin typeface="Consolas"/>
              </a:rPr>
              <a:t>AI  · 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16352"/>
            <a:ext cx="2084831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790" b="0" i="0">
                <a:solidFill>
                  <a:srgbClr val="86A8B3"/>
                </a:solidFill>
                <a:latin typeface="Segoe UI"/>
              </a:rPr>
              <a:t>Turns a line into catalogue candidates with verbatim spans.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3346704"/>
            <a:ext cx="1783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40156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ECAF52"/>
                </a:solidFill>
                <a:latin typeface="Segoe UI"/>
              </a:rPr>
              <a:t>Refuses: prices, totals, IDs.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0672" y="2642616"/>
            <a:ext cx="182880" cy="0"/>
          </a:xfrm>
          <a:prstGeom prst="line">
            <a:avLst/>
          </a:prstGeom>
          <a:ln w="15240">
            <a:solidFill>
              <a:srgbClr val="6FB8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73552" y="1700784"/>
            <a:ext cx="2395728" cy="1883664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828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0" b="1" i="0" spc="140">
                <a:solidFill>
                  <a:srgbClr val="40C5B8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029968"/>
            <a:ext cx="2084831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40" b="1" i="0">
                <a:solidFill>
                  <a:srgbClr val="F7F5EF"/>
                </a:solidFill>
                <a:latin typeface="Segoe UI"/>
              </a:rPr>
              <a:t>Business
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615184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6FB8B2"/>
                </a:solidFill>
                <a:latin typeface="Consolas"/>
              </a:rPr>
              <a:t>DATA  ·  the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816352"/>
            <a:ext cx="2084831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790" b="0" i="0">
                <a:solidFill>
                  <a:srgbClr val="86A8B3"/>
                </a:solidFill>
                <a:latin typeface="Segoe UI"/>
              </a:rPr>
              <a:t>Pack size and unit come from the catalogue; amounts are exact decimal on the tier.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3346704"/>
            <a:ext cx="1783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40156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ECAF52"/>
                </a:solidFill>
                <a:latin typeface="Segoe UI"/>
              </a:rPr>
              <a:t>Refuses: inference.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05856" y="2642616"/>
            <a:ext cx="182880" cy="0"/>
          </a:xfrm>
          <a:prstGeom prst="line">
            <a:avLst/>
          </a:prstGeom>
          <a:ln w="15240">
            <a:solidFill>
              <a:srgbClr val="6FB8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888736" y="1700784"/>
            <a:ext cx="2395728" cy="1883664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1828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0" b="1" i="0" spc="140">
                <a:solidFill>
                  <a:srgbClr val="40C5B8"/>
                </a:solidFill>
                <a:latin typeface="Consola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2029968"/>
            <a:ext cx="2084831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40" b="1" i="0">
                <a:solidFill>
                  <a:srgbClr val="F7F5EF"/>
                </a:solidFill>
                <a:latin typeface="Segoe UI"/>
              </a:rPr>
              <a:t>Human
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2615184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6FB8B2"/>
                </a:solidFill>
                <a:latin typeface="Consolas"/>
              </a:rPr>
              <a:t>PEOPLE  ·  the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2816352"/>
            <a:ext cx="2084831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790" b="0" i="0">
                <a:solidFill>
                  <a:srgbClr val="86A8B3"/>
                </a:solidFill>
                <a:latin typeface="Segoe UI"/>
              </a:rPr>
              <a:t>Every doubt carries the thing needed to answer it, and names the role that may release it.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71616" y="3346704"/>
            <a:ext cx="1783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0156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ECAF52"/>
                </a:solidFill>
                <a:latin typeface="Segoe UI"/>
              </a:rPr>
              <a:t>Refuses: auto-approval.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0" y="2642616"/>
            <a:ext cx="182879" cy="0"/>
          </a:xfrm>
          <a:prstGeom prst="line">
            <a:avLst/>
          </a:prstGeom>
          <a:ln w="15240">
            <a:solidFill>
              <a:srgbClr val="6FB8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03919" y="1700784"/>
            <a:ext cx="2395728" cy="1883664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799" y="1828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0" b="1" i="0" spc="140">
                <a:solidFill>
                  <a:srgbClr val="40C5B8"/>
                </a:solidFill>
                <a:latin typeface="Consola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799" y="2029968"/>
            <a:ext cx="2084831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40" b="1" i="0">
                <a:solidFill>
                  <a:srgbClr val="F7F5EF"/>
                </a:solidFill>
                <a:latin typeface="Segoe UI"/>
              </a:rPr>
              <a:t>Business
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9" y="2615184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6FB8B2"/>
                </a:solidFill>
                <a:latin typeface="Consolas"/>
              </a:rPr>
              <a:t>SYSTEM  ·  the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799" y="2816352"/>
            <a:ext cx="2084831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790" b="0" i="0">
                <a:solidFill>
                  <a:srgbClr val="86A8B3"/>
                </a:solidFill>
                <a:latin typeface="Segoe UI"/>
              </a:rPr>
              <a:t>DO issued, stock deducted, reply drafted, one audit chain.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799" y="3346704"/>
            <a:ext cx="1783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799" y="3401568"/>
            <a:ext cx="2084831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ECAF52"/>
                </a:solidFill>
                <a:latin typeface="Segoe UI"/>
              </a:rPr>
              <a:t>Refuses: silent edits.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895344"/>
            <a:ext cx="10874959" cy="1426464"/>
          </a:xfrm>
          <a:prstGeom prst="roundRect">
            <a:avLst>
              <a:gd name="adj" fmla="val 5000"/>
            </a:avLst>
          </a:prstGeom>
          <a:solidFill>
            <a:srgbClr val="10384C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041648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20">
                <a:solidFill>
                  <a:srgbClr val="6FB8B2"/>
                </a:solidFill>
                <a:latin typeface="Consolas"/>
              </a:rPr>
              <a:t>BUSINESS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4023360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AFC2C7"/>
                </a:solidFill>
                <a:latin typeface="Consolas"/>
              </a:rPr>
              <a:t>React + TypeScript  (GitHub Pages)   →   FastAPI  (Replit)   →   Neon PostgreSQL 17  ·  row-level tenant isolation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4462272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20">
                <a:solidFill>
                  <a:srgbClr val="6FB8B2"/>
                </a:solidFill>
                <a:latin typeface="Consolas"/>
              </a:rPr>
              <a:t>AI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04288" y="4443984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AFC2C7"/>
                </a:solidFill>
                <a:latin typeface="Consolas"/>
              </a:rPr>
              <a:t>FastAPI   →   PII masking   →   vLLM + Qwen2.5-7B-Instruct-AWQ  (RunPod)   →   closed-list 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4882896"/>
            <a:ext cx="12984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20">
                <a:solidFill>
                  <a:srgbClr val="6FB8B2"/>
                </a:solidFill>
                <a:latin typeface="Consolas"/>
              </a:rPr>
              <a:t>GUARDRAILS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4864608"/>
            <a:ext cx="8869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AFC2C7"/>
                </a:solidFill>
                <a:latin typeface="Consolas"/>
              </a:rPr>
              <a:t>no model-set prices  ·  spans only  ·  roles enforced in the backend  ·  every action logged  ·  stock locked at approval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4864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0" i="0">
                <a:solidFill>
                  <a:srgbClr val="ECAF52"/>
                </a:solidFill>
                <a:latin typeface="Segoe UI"/>
              </a:rPr>
              <a:t>AI understands the message. Business rules verify the facts. People make the decisions.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Deployment status as reported by the deployment owner, 25 Oct 2026  ·  sponsor resources: Replit, RunPod US$25 credit, Neon free 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06   ·   THE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2600" b="1" i="0" spc="-30">
                <a:solidFill>
                  <a:srgbClr val="F7F5EF"/>
                </a:solidFill>
                <a:latin typeface="Segoe UI"/>
              </a:rPr>
              <a:t>AI reads. Data and rules judge.
A person decides.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86A8B3"/>
                </a:solidFill>
                <a:latin typeface="Segoe UI"/>
              </a:rPr>
              <a:t>Structural, not politely requested: the model never sees a price, cannot write a total and cannot approve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40">
                <a:solidFill>
                  <a:srgbClr val="40C5B8"/>
                </a:solidFill>
                <a:latin typeface="Consolas"/>
              </a:rPr>
              <a:t>01   AI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2140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7F5EF"/>
                </a:solidFill>
                <a:latin typeface="Segoe UI"/>
              </a:rPr>
              <a:t>Reads. Never decides.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2024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40">
                <a:solidFill>
                  <a:srgbClr val="40C5B8"/>
                </a:solidFill>
                <a:latin typeface="Consolas"/>
              </a:rPr>
              <a:t>02   DATA AND RULES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12140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7F5EF"/>
                </a:solidFill>
                <a:latin typeface="Segoe UI"/>
              </a:rPr>
              <a:t>Judges, with the catalogue.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7" y="192024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40">
                <a:solidFill>
                  <a:srgbClr val="40C5B8"/>
                </a:solidFill>
                <a:latin typeface="Consolas"/>
              </a:rPr>
              <a:t>03   A PERSON 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7" y="212140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7F5EF"/>
                </a:solidFill>
                <a:latin typeface="Segoe UI"/>
              </a:rPr>
              <a:t>Decides, and signs.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688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One job: turn the line into a catalogue candidate. Closed list, verbatim spans, no arithmetic.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17520"/>
            <a:ext cx="3273552" cy="1481328"/>
          </a:xfrm>
          <a:prstGeom prst="roundRect">
            <a:avLst>
              <a:gd name="adj" fmla="val 4000"/>
            </a:avLst>
          </a:prstGeom>
          <a:solidFill>
            <a:srgbClr val="081F2B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127248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760" b="0" i="0">
                <a:solidFill>
                  <a:srgbClr val="40C5B8"/>
                </a:solidFill>
                <a:latin typeface="Consolas"/>
              </a:rPr>
              <a:t>{</a:t>
            </a:r>
          </a:p>
          <a:p>
            <a:pPr algn="l">
              <a:lnSpc>
                <a:spcPct val="132000"/>
              </a:lnSpc>
            </a:pPr>
            <a:r>
              <a:rPr sz="760" b="0" i="0">
                <a:solidFill>
                  <a:srgbClr val="AFC2C7"/>
                </a:solidFill>
                <a:latin typeface="Consolas"/>
              </a:rPr>
              <a:t>  "span": "5包美禄粉",</a:t>
            </a:r>
          </a:p>
          <a:p>
            <a:pPr algn="l">
              <a:lnSpc>
                <a:spcPct val="132000"/>
              </a:lnSpc>
            </a:pPr>
            <a:r>
              <a:rPr sz="760" b="0" i="0">
                <a:solidFill>
                  <a:srgbClr val="AFC2C7"/>
                </a:solidFill>
                <a:latin typeface="Consolas"/>
              </a:rPr>
              <a:t>  "fam": "FAM-MILO-POWDER",</a:t>
            </a:r>
          </a:p>
          <a:p>
            <a:pPr algn="l">
              <a:lnSpc>
                <a:spcPct val="132000"/>
              </a:lnSpc>
            </a:pPr>
            <a:r>
              <a:rPr sz="760" b="0" i="0">
                <a:solidFill>
                  <a:srgbClr val="AFC2C7"/>
                </a:solidFill>
                <a:latin typeface="Consolas"/>
              </a:rPr>
              <a:t>  "qty": 5, "size": null,</a:t>
            </a:r>
          </a:p>
          <a:p>
            <a:pPr algn="l">
              <a:lnSpc>
                <a:spcPct val="132000"/>
              </a:lnSpc>
            </a:pPr>
            <a:r>
              <a:rPr sz="760" b="0" i="0">
                <a:solidFill>
                  <a:srgbClr val="AFC2C7"/>
                </a:solidFill>
                <a:latin typeface="Consolas"/>
              </a:rPr>
              <a:t>  "uom": "包"</a:t>
            </a:r>
          </a:p>
          <a:p>
            <a:pPr algn="l">
              <a:lnSpc>
                <a:spcPct val="132000"/>
              </a:lnSpc>
            </a:pPr>
            <a:r>
              <a:rPr sz="760" b="0" i="0">
                <a:solidFill>
                  <a:srgbClr val="40C5B8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55371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40" b="1" i="0" spc="90">
                <a:solidFill>
                  <a:srgbClr val="ECAF52"/>
                </a:solidFill>
                <a:latin typeface="Consolas"/>
              </a:rPr>
              <a:t>NO PRICE   ·   NO TOTAL   ·   NO CUSTOMER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2523744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468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Pack size, grade and unit are read off the catalogue’s structure, not inferred.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3364991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The amount is exact decimal arithmetic on that customer’s tier — never a model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4206240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4151376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Stock is re-checked under a row lock at approval, so a promise cannot outrun the shelf.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2127" y="2523744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2468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Every DO carries a human name: the clerk for routine, the owner for exceptions.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364991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8" y="3310128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The owner sees the reason, the numbers, her exact words and what she changed — two taps on a 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2127" y="4206240"/>
            <a:ext cx="64008" cy="6400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151376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The AI draft is stored beside the human’s final, field by field, with a reason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46320"/>
            <a:ext cx="10874959" cy="859536"/>
          </a:xfrm>
          <a:prstGeom prst="roundRect">
            <a:avLst>
              <a:gd name="adj" fmla="val 5000"/>
            </a:avLst>
          </a:prstGeom>
          <a:solidFill>
            <a:srgbClr val="10384C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846320"/>
            <a:ext cx="41148" cy="859536"/>
          </a:xfrm>
          <a:prstGeom prst="rect">
            <a:avLst/>
          </a:prstGeom>
          <a:solidFill>
            <a:srgbClr val="ECA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95604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40">
                <a:solidFill>
                  <a:srgbClr val="ECAF52"/>
                </a:solidFill>
                <a:latin typeface="Consolas"/>
              </a:rPr>
              <a:t>WHY THIS IS NOT A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15721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40" b="0" i="0">
                <a:solidFill>
                  <a:srgbClr val="AFC2C7"/>
                </a:solidFill>
                <a:latin typeface="Segoe UI"/>
              </a:rPr>
              <a:t>A prompt injection buys at most one wrong line — which a person still approves, and which cannot move a single sen.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74959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5E828F"/>
                </a:solidFill>
                <a:latin typeface="Segoe UI"/>
              </a:rPr>
              <a:t>Every rule above is enforced in the backend. The interface only reflects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Criterion targeted: Feasibility of Build (25%) — the boundary is enforced in code, not in instructions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07   ·   PEOPLE STAY IN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800" b="1" i="0" spc="-30">
                <a:solidFill>
                  <a:srgbClr val="F7F5EF"/>
                </a:solidFill>
                <a:latin typeface="Segoe UI"/>
              </a:rPr>
              <a:t>Every delivery order carries a human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86A8B3"/>
                </a:solidFill>
                <a:latin typeface="Segoe UI"/>
              </a:rPr>
              <a:t>Permissions are enforced in the backend, and the escalation rule is one line of tenant configuration — not a habit the clerk has to remember.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30">
                <a:solidFill>
                  <a:srgbClr val="ECAF52"/>
                </a:solidFill>
                <a:latin typeface="Consolas"/>
              </a:rPr>
              <a:t>WHO MAY RELEASE THE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459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 i="0" spc="120">
                <a:solidFill>
                  <a:srgbClr val="6FB8B2"/>
                </a:solidFill>
                <a:latin typeface="Consolas"/>
              </a:rPr>
              <a:t>CLERK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459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 i="0" spc="120">
                <a:solidFill>
                  <a:srgbClr val="6FB8B2"/>
                </a:solidFill>
                <a:latin typeface="Consolas"/>
              </a:rP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 i="0" spc="120">
                <a:solidFill>
                  <a:srgbClr val="6FB8B2"/>
                </a:solidFill>
                <a:latin typeface="Consolas"/>
              </a:rPr>
              <a:t>NOBODY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47088"/>
            <a:ext cx="6355080" cy="12801"/>
          </a:xfrm>
          <a:prstGeom prst="rect">
            <a:avLst/>
          </a:prstGeom>
          <a:solidFill>
            <a:srgbClr val="2A7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02536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Routine order under threshold</a:t>
            </a:r>
          </a:p>
        </p:txBody>
      </p:sp>
      <p:sp>
        <p:nvSpPr>
          <p:cNvPr id="13" name="Oval 12"/>
          <p:cNvSpPr/>
          <p:nvPr/>
        </p:nvSpPr>
        <p:spPr>
          <a:xfrm>
            <a:off x="3538728" y="2057400"/>
            <a:ext cx="146304" cy="146304"/>
          </a:xfrm>
          <a:prstGeom prst="ellipse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36592" y="2066544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25312" y="2066544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450592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32888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Price below this customer’s tier</a:t>
            </a:r>
          </a:p>
        </p:txBody>
      </p:sp>
      <p:sp>
        <p:nvSpPr>
          <p:cNvPr id="18" name="Oval 17"/>
          <p:cNvSpPr/>
          <p:nvPr/>
        </p:nvSpPr>
        <p:spPr>
          <a:xfrm>
            <a:off x="3547872" y="2596896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27448" y="2587752"/>
            <a:ext cx="146304" cy="146304"/>
          </a:xfrm>
          <a:prstGeom prst="ellipse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25312" y="2596896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980944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063240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Order at or above the tenant threshold
(RM 1,500 / RM 800)</a:t>
            </a:r>
          </a:p>
        </p:txBody>
      </p:sp>
      <p:sp>
        <p:nvSpPr>
          <p:cNvPr id="23" name="Oval 22"/>
          <p:cNvSpPr/>
          <p:nvPr/>
        </p:nvSpPr>
        <p:spPr>
          <a:xfrm>
            <a:off x="3547872" y="3127248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27448" y="3118104"/>
            <a:ext cx="146304" cy="146304"/>
          </a:xfrm>
          <a:prstGeom prst="ellipse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25312" y="3127248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11296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593592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Customer carrying an accounting flag</a:t>
            </a:r>
          </a:p>
        </p:txBody>
      </p:sp>
      <p:sp>
        <p:nvSpPr>
          <p:cNvPr id="28" name="Oval 27"/>
          <p:cNvSpPr/>
          <p:nvPr/>
        </p:nvSpPr>
        <p:spPr>
          <a:xfrm>
            <a:off x="3547872" y="3657600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27448" y="3648456"/>
            <a:ext cx="146304" cy="146304"/>
          </a:xfrm>
          <a:prstGeom prst="ellipse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25312" y="3657600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041648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23944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A blocking doubt still unresolved</a:t>
            </a:r>
          </a:p>
        </p:txBody>
      </p:sp>
      <p:sp>
        <p:nvSpPr>
          <p:cNvPr id="33" name="Oval 32"/>
          <p:cNvSpPr/>
          <p:nvPr/>
        </p:nvSpPr>
        <p:spPr>
          <a:xfrm>
            <a:off x="3547872" y="4187952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36592" y="4187952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16168" y="4178808"/>
            <a:ext cx="146304" cy="146304"/>
          </a:xfrm>
          <a:prstGeom prst="ellipse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8368" y="4572000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654296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Stock would go negative at approval</a:t>
            </a:r>
          </a:p>
        </p:txBody>
      </p:sp>
      <p:sp>
        <p:nvSpPr>
          <p:cNvPr id="38" name="Oval 37"/>
          <p:cNvSpPr/>
          <p:nvPr/>
        </p:nvSpPr>
        <p:spPr>
          <a:xfrm>
            <a:off x="3547872" y="4718304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36592" y="4718304"/>
            <a:ext cx="128016" cy="128016"/>
          </a:xfrm>
          <a:prstGeom prst="ellipse">
            <a:avLst/>
          </a:prstGeom>
          <a:noFill/>
          <a:ln w="1143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16168" y="4709160"/>
            <a:ext cx="146304" cy="146304"/>
          </a:xfrm>
          <a:prstGeom prst="ellipse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5102352"/>
            <a:ext cx="63550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193792"/>
            <a:ext cx="6355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ECAF52"/>
                </a:solidFill>
                <a:latin typeface="Segoe UI"/>
              </a:rPr>
              <a:t>Two rules cannot be released by anyone: an unresolved blocking doubt, and negative stock.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1572768"/>
            <a:ext cx="4096512" cy="3931920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170078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6FB8B2"/>
                </a:solidFill>
                <a:latin typeface="Consolas"/>
              </a:rPr>
              <a:t>THE AUDIT CHAIN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193852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7F5EF"/>
                </a:solidFill>
                <a:latin typeface="Segoe UI"/>
              </a:rPr>
              <a:t>Confirm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19659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6A8B3"/>
                </a:solidFill>
                <a:latin typeface="Segoe UI"/>
              </a:rPr>
              <a:t>Order clerk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19659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0C5B8"/>
                </a:solidFill>
                <a:latin typeface="Consolas"/>
              </a:rPr>
              <a:t>19:42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212848"/>
            <a:ext cx="36118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235915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7F5EF"/>
                </a:solidFill>
                <a:latin typeface="Segoe UI"/>
              </a:rPr>
              <a:t>Approve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238658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6A8B3"/>
                </a:solidFill>
                <a:latin typeface="Segoe UI"/>
              </a:rPr>
              <a:t>Authorized approver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2386584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0C5B8"/>
                </a:solidFill>
                <a:latin typeface="Consolas"/>
              </a:rPr>
              <a:t>19:47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60" y="2633472"/>
            <a:ext cx="36118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277977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7F5EF"/>
                </a:solidFill>
                <a:latin typeface="Segoe UI"/>
              </a:rPr>
              <a:t>Issue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280720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86A8B3"/>
                </a:solidFill>
                <a:latin typeface="Segoe UI"/>
              </a:rPr>
              <a:t>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2807208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40C5B8"/>
                </a:solidFill>
                <a:latin typeface="Consolas"/>
              </a:rPr>
              <a:t>19:47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3054096"/>
            <a:ext cx="361188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0" y="340156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ECAF52"/>
                </a:solidFill>
                <a:latin typeface="Consolas"/>
              </a:rPr>
              <a:t>THE DIFF RECORD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80960" y="3602736"/>
            <a:ext cx="36210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60" b="0" i="0">
                <a:solidFill>
                  <a:srgbClr val="86A8B3"/>
                </a:solidFill>
                <a:latin typeface="Segoe UI"/>
              </a:rPr>
              <a:t>The AI draft is stored beside the human’s final version, field by field, with a reason code — the same record serves as the evaluation set.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449884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ECAF52"/>
                </a:solidFill>
                <a:latin typeface="Consolas"/>
              </a:rPr>
              <a:t>THE WAREHOUSE 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4700016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60" b="0" i="0">
                <a:solidFill>
                  <a:srgbClr val="86A8B3"/>
                </a:solidFill>
                <a:latin typeface="Segoe UI"/>
              </a:rPr>
              <a:t>Picking lines only. No prices, no phone numbers, no customer history — a role sees the minimum its task needs.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Verified by test: the clerk’s token calling the owner endpoint returns 403  ·  three roles × two tenants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08   · 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700" b="1" i="0" spc="-30">
                <a:solidFill>
                  <a:srgbClr val="F7F5EF"/>
                </a:solidFill>
                <a:latin typeface="Segoe UI"/>
              </a:rPr>
              <a:t>What we measured — and what we refuse to 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86A8B3"/>
                </a:solidFill>
                <a:latin typeface="Segoe UI"/>
              </a:rPr>
              <a:t>Runtime results from the extraction module, and a separate latency benchmark. Nothing here is converted into an accuracy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30">
                <a:solidFill>
                  <a:srgbClr val="6FB8B2"/>
                </a:solidFill>
                <a:latin typeface="Consolas"/>
              </a:rPr>
              <a:t>RUN RESULT  ·  23 AI-ONLY CASES  ·  24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0C5B8"/>
                </a:solidFill>
                <a:latin typeface="Segoe UI"/>
              </a:rPr>
              <a:t>23/23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957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19" b="0" i="0">
                <a:solidFill>
                  <a:srgbClr val="86A8B3"/>
                </a:solidFill>
                <a:latin typeface="Segoe UI"/>
              </a:rPr>
              <a:t>calls in
LLM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5" y="18288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0C5B8"/>
                </a:solidFill>
                <a:latin typeface="Segoe U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5" y="23957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19" b="0" i="0">
                <a:solidFill>
                  <a:srgbClr val="86A8B3"/>
                </a:solidFill>
                <a:latin typeface="Segoe UI"/>
              </a:rPr>
              <a:t>fallbacks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82880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40C5B8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395728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819" b="0" i="0">
                <a:solidFill>
                  <a:srgbClr val="86A8B3"/>
                </a:solidFill>
                <a:latin typeface="Segoe UI"/>
              </a:rPr>
              <a:t>requests over
4.1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52928"/>
            <a:ext cx="6766560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44368"/>
            <a:ext cx="58521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30">
                <a:solidFill>
                  <a:srgbClr val="6FB8B2"/>
                </a:solidFill>
                <a:latin typeface="Consolas"/>
              </a:rPr>
              <a:t>WARM-STATE LATENCY  ·  20 REQUESTS  ·  23 OCT 2026  ·  SEPARATE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4553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0C5B8"/>
                </a:solidFill>
                <a:latin typeface="Segoe UI"/>
              </a:rPr>
              <a:t>2.32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566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86A8B3"/>
                </a:solidFill>
                <a:latin typeface="Segoe UI"/>
              </a:rPr>
              <a:t>p50 median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5" y="314553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0C5B8"/>
                </a:solidFill>
                <a:latin typeface="Segoe UI"/>
              </a:rPr>
              <a:t>2.97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5" y="3566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86A8B3"/>
                </a:solidFill>
                <a:latin typeface="Segoe UI"/>
              </a:rPr>
              <a:t>p90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314553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0C5B8"/>
                </a:solidFill>
                <a:latin typeface="Segoe UI"/>
              </a:rPr>
              <a:t>3.08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3566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86A8B3"/>
                </a:solidFill>
                <a:latin typeface="Segoe UI"/>
              </a:rPr>
              <a:t>p95 tail, not a mean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50208"/>
            <a:ext cx="6766560" cy="859536"/>
          </a:xfrm>
          <a:prstGeom prst="roundRect">
            <a:avLst>
              <a:gd name="adj" fmla="val 5000"/>
            </a:avLst>
          </a:prstGeom>
          <a:solidFill>
            <a:srgbClr val="10384C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950208"/>
            <a:ext cx="41148" cy="859536"/>
          </a:xfrm>
          <a:prstGeom prst="rect">
            <a:avLst/>
          </a:prstGeom>
          <a:solidFill>
            <a:srgbClr val="ECA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59936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00" b="1" i="0" spc="130">
                <a:solidFill>
                  <a:srgbClr val="ECAF52"/>
                </a:solidFill>
                <a:latin typeface="Consolas"/>
              </a:rPr>
              <a:t>ACCURACY: NOT_COMPUTED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261104"/>
            <a:ext cx="6355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AFC2C7"/>
                </a:solidFill>
                <a:latin typeface="Segoe UI"/>
              </a:rPr>
              <a:t>The development inputs have no independent answer key, so we report runtime only — not accuracy.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10912"/>
            <a:ext cx="67665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5E828F"/>
                </a:solidFill>
                <a:latin typeface="Consolas"/>
              </a:rPr>
              <a:t>dev41_ai_only_v1_prod_2026-10-24.json  ·  snapshot 707d45d3  ·  app/ai@db6f0ce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3035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819" b="0" i="0">
                <a:solidFill>
                  <a:srgbClr val="5E828F"/>
                </a:solidFill>
                <a:latin typeface="Segoe UI"/>
              </a:rPr>
              <a:t>Runtime evidence, module scope. Acceptance of the full order lifecycle is the next milestone, and it is not claimed here.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572768"/>
            <a:ext cx="3730752" cy="3803904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7007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ECAF52"/>
                </a:solidFill>
                <a:latin typeface="Consolas"/>
              </a:rPr>
              <a:t>WE WILL NOT 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975104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ECAF52"/>
                </a:solidFill>
                <a:latin typeface="Segoe UI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1993392"/>
            <a:ext cx="303580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An error-rate reduction without a denominator.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615184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ECAF52"/>
                </a:solidFill>
                <a:latin typeface="Segoe UI"/>
              </a:rPr>
              <a:t>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633472"/>
            <a:ext cx="303580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A fallback result described as AI.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255264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ECAF52"/>
                </a:solidFill>
                <a:latin typeface="Segoe UI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3273552"/>
            <a:ext cx="303580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“Fully automatic intake” — a person approves every DO.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895344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ECAF52"/>
                </a:solidFill>
                <a:latin typeface="Segoe UI"/>
              </a:rPr>
              <a:t>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913632"/>
            <a:ext cx="303580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A synthetic order described as a real SME.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535424"/>
            <a:ext cx="20116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ECAF52"/>
                </a:solidFill>
                <a:latin typeface="Segoe UI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553712"/>
            <a:ext cx="3035808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4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A price per order.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Sources: evidence/EVIDENCE_INDEX.md  ·  runpod_benchmark_2026-10-23.txt (lines 33–35)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09   ·   WHERE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2600" b="1" i="0" spc="-30">
                <a:solidFill>
                  <a:srgbClr val="F7F5EF"/>
                </a:solidFill>
                <a:latin typeface="Segoe UI"/>
              </a:rPr>
              <a:t>Seven unit gaps. Twelve workflow cases
still not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3246120" cy="3145536"/>
          </a:xfrm>
          <a:prstGeom prst="roundRect">
            <a:avLst>
              <a:gd name="adj" fmla="val 5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92224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10">
                <a:solidFill>
                  <a:srgbClr val="6FB8B2"/>
                </a:solidFill>
                <a:latin typeface="Consolas"/>
              </a:rPr>
              <a:t>CURRENT_WITH_KNOWN_UOM_GAPS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40C5B8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340864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840" b="0" i="0">
                <a:solidFill>
                  <a:srgbClr val="AFC2C7"/>
                </a:solidFill>
                <a:latin typeface="Segoe UI"/>
              </a:rPr>
              <a:t>known unit-of-measure gaps across 31 output 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2980944"/>
            <a:ext cx="2788920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90672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00" b="1" i="0">
                <a:solidFill>
                  <a:srgbClr val="ECAF52"/>
                </a:solidFill>
                <a:latin typeface="Consolas"/>
              </a:rPr>
              <a:t>3  </a:t>
            </a:r>
          </a:p>
          <a:p>
            <a:pPr algn="l">
              <a:lnSpc>
                <a:spcPct val="136000"/>
              </a:lnSpc>
            </a:pPr>
            <a:r>
              <a:rPr sz="800" b="0" i="0">
                <a:solidFill>
                  <a:srgbClr val="86A8B3"/>
                </a:solidFill>
                <a:latin typeface="Segoe UI"/>
              </a:rPr>
              <a:t>alias-injection gaps — “botol”, “pail”: the alias exists in the tenant seed, the adapter does not read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9319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00" b="1" i="0">
                <a:solidFill>
                  <a:srgbClr val="ECAF52"/>
                </a:solidFill>
                <a:latin typeface="Consolas"/>
              </a:rPr>
              <a:t>4  </a:t>
            </a:r>
          </a:p>
          <a:p>
            <a:pPr algn="l">
              <a:lnSpc>
                <a:spcPct val="136000"/>
              </a:lnSpc>
            </a:pPr>
            <a:r>
              <a:rPr sz="800" b="0" i="0">
                <a:solidFill>
                  <a:srgbClr val="86A8B3"/>
                </a:solidFill>
                <a:latin typeface="Segoe UI"/>
              </a:rPr>
              <a:t>bulk-kilogram regressions — bulk weight is excluded as if it were a pack size.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66420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" b="1" i="0" spc="150">
                <a:solidFill>
                  <a:srgbClr val="ECAF52"/>
                </a:solidFill>
                <a:latin typeface="Consolas"/>
              </a:rPr>
              <a:t>WHAT WE FIX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99339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40C5B8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975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Add the missing aliases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2494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and separate bulk kilograms from pack size in the resolver.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2798064"/>
            <a:ext cx="717804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962656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40C5B8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94436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Re-run the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21868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the 23-case AI-only run, on the fixed AI code, with the same freeze manifest.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767328"/>
            <a:ext cx="7178040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931920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40C5B8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91363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F7F5EF"/>
                </a:solidFill>
                <a:latin typeface="Segoe UI"/>
              </a:rPr>
              <a:t>Validate the full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18795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order lifecycle end to end — 12 of the 32 frozen cases are still NOT_RUN.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956048"/>
            <a:ext cx="71780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980" b="1" i="0">
                <a:solidFill>
                  <a:srgbClr val="ECAF52"/>
                </a:solidFill>
                <a:latin typeface="Segoe UI"/>
              </a:rPr>
              <a:t>The honest sentence: </a:t>
            </a:r>
          </a:p>
          <a:p>
            <a:pPr algn="l">
              <a:lnSpc>
                <a:spcPct val="136000"/>
              </a:lnSpc>
            </a:pPr>
            <a:r>
              <a:rPr sz="980" b="0" i="0">
                <a:solidFill>
                  <a:srgbClr val="AFC2C7"/>
                </a:solidFill>
                <a:latin typeface="Segoe UI"/>
              </a:rPr>
              <a:t>this is module-level evidence, not full order-lifecycle acceptance. A judge who reads the repo will find the same gaps listed there, with the same line count.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Source: evidence/EVIDENCE_INDEX.md  ·  TEST32 freeze manifest (PR #65)  ·  scope review v4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10   ·   SDG RELEVANCE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800" b="1" i="0" spc="-30">
                <a:solidFill>
                  <a:srgbClr val="F7F5EF"/>
                </a:solidFill>
                <a:latin typeface="Segoe UI"/>
              </a:rPr>
              <a:t>SDG 8.2 and 8.3, measured in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86A8B3"/>
                </a:solidFill>
                <a:latin typeface="Segoe UI"/>
              </a:rPr>
              <a:t>The impact we claim is economic and operational. We claim no environmental impact, and no effect on jobs or income.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54896" y="512064"/>
            <a:ext cx="2093976" cy="804672"/>
          </a:xfrm>
          <a:prstGeom prst="roundRect">
            <a:avLst>
              <a:gd name="adj" fmla="val 8000"/>
            </a:avLst>
          </a:prstGeom>
          <a:solidFill>
            <a:srgbClr val="2A7E78"/>
          </a:solidFill>
          <a:ln w="12700">
            <a:solidFill>
              <a:srgbClr val="40C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56064" y="603504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F5EF"/>
                </a:solidFill>
                <a:latin typeface="Segoe UI"/>
              </a:rPr>
              <a:t>SDG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6064" y="87782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620" b="1" i="0" spc="90">
                <a:solidFill>
                  <a:srgbClr val="CFE3DA"/>
                </a:solidFill>
                <a:latin typeface="Consolas"/>
              </a:rPr>
              <a:t>DECENT WORK AND
ECONOMIC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20">
                <a:solidFill>
                  <a:srgbClr val="ECAF52"/>
                </a:solidFill>
                <a:latin typeface="Consolas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7" y="1920240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19" b="0" i="0">
                <a:solidFill>
                  <a:srgbClr val="F7F5EF"/>
                </a:solidFill>
                <a:latin typeface="Segoe UI"/>
              </a:rPr>
              <a:t>8.2  productivity through technological upgrading  ·  8.3  support for SME productive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542032"/>
            <a:ext cx="10874959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1576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20">
                <a:solidFill>
                  <a:srgbClr val="ECAF52"/>
                </a:solidFill>
                <a:latin typeface="Consolas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7" y="2670048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19" b="0" i="0">
                <a:solidFill>
                  <a:srgbClr val="F7F5EF"/>
                </a:solidFill>
                <a:latin typeface="Segoe UI"/>
              </a:rPr>
              <a:t>≈ 210 s median per 5-line order; up to 30 % transcription or stockout discrepancies — a team planning estimate, to be replaced by the 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291840"/>
            <a:ext cx="10874959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65575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20">
                <a:solidFill>
                  <a:srgbClr val="ECAF52"/>
                </a:solidFill>
                <a:latin typeface="Consolas"/>
              </a:rPr>
              <a:t>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7" y="3419856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19" b="0" i="0">
                <a:solidFill>
                  <a:srgbClr val="F7F5EF"/>
                </a:solidFill>
                <a:latin typeface="Segoe UI"/>
              </a:rPr>
              <a:t>median seconds from message to a correct, approved DO — including the clarification; plus silent mismatches, price-condition recall and first-use completion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041648"/>
            <a:ext cx="10874959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15383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20">
                <a:solidFill>
                  <a:srgbClr val="ECAF52"/>
                </a:solidFill>
                <a:latin typeface="Consolas"/>
              </a:rPr>
              <a:t>PHASE 2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7" y="4169663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19" b="0" i="0">
                <a:solidFill>
                  <a:srgbClr val="F7F5EF"/>
                </a:solidFill>
                <a:latin typeface="Segoe UI"/>
              </a:rPr>
              <a:t>≥ 50 % lower median (≈ 105 s if 210 s validates)  ·  0 silent mismatches  ·  100 % of price conditions to a human  ·  ≥ 80 % first-use completion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91455"/>
            <a:ext cx="10874959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96519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20">
                <a:solidFill>
                  <a:srgbClr val="5E828F"/>
                </a:solidFill>
                <a:latin typeface="Consolas"/>
              </a:rPr>
              <a:t>NOT CLAIMED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32887" y="4919472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1019" b="0" i="0">
                <a:solidFill>
                  <a:srgbClr val="86A8B3"/>
                </a:solidFill>
                <a:latin typeface="Segoe UI"/>
              </a:rPr>
              <a:t>no environmental impact claim  ·  no claim on income, jobs or waste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Targets committed before the measurement, not after  ·  source: UN Goal 8, sdgs.un.org/goals/goal8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11   ·  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8000"/>
              </a:lnSpc>
            </a:pPr>
            <a:r>
              <a:rPr sz="2600" b="1" i="0" spc="-30">
                <a:solidFill>
                  <a:srgbClr val="F7F5EF"/>
                </a:solidFill>
                <a:latin typeface="Segoe UI"/>
              </a:rPr>
              <a:t>What runs, what is simulated, what is not measured.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97280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80" b="0" i="0">
                <a:solidFill>
                  <a:srgbClr val="86A8B3"/>
                </a:solidFill>
                <a:latin typeface="Segoe UI"/>
              </a:rPr>
              <a:t>Read this column by column, not row by row — the middle column is what most decks leave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3273552" cy="27432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1907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1" i="0" spc="140">
                <a:solidFill>
                  <a:srgbClr val="40C5B8"/>
                </a:solidFill>
                <a:latin typeface="Consolas"/>
              </a:rPr>
              <a:t>RUNS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5104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Five steps end to end on a public link: paste, parse, resolve doubts, approve, DO + stock + 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Three roles enforced in the backend — the clerk’s token gets a 403 on the owner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94176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AFC2C7"/>
                </a:solidFill>
                <a:latin typeface="Segoe UI"/>
              </a:rPr>
              <a:t>Two tenants on one codebase: switching changes catalogue, thresholds and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645920"/>
            <a:ext cx="3273552" cy="27432"/>
          </a:xfrm>
          <a:prstGeom prst="rect">
            <a:avLst/>
          </a:prstGeom>
          <a:solidFill>
            <a:srgbClr val="ECA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171907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1" i="0" spc="140">
                <a:solidFill>
                  <a:srgbClr val="ECAF52"/>
                </a:solidFill>
                <a:latin typeface="Consolas"/>
              </a:rPr>
              <a:t>SIMULATED — AND LABELLED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1975104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Orbyte identity and SSO — demo tokens, not single sign-on.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83464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The accounting flag — a synthetic field, not an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3694176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Inbound WhatsApp — the clerk pastes; no channel is connected.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7263" y="1645920"/>
            <a:ext cx="3273552" cy="27432"/>
          </a:xfrm>
          <a:prstGeom prst="rect">
            <a:avLst/>
          </a:prstGeom>
          <a:solidFill>
            <a:srgbClr val="5E8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71907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1" i="0" spc="140">
                <a:solidFill>
                  <a:srgbClr val="5E828F"/>
                </a:solidFill>
                <a:latin typeface="Consolas"/>
              </a:rPr>
              <a:t>NOT MEASURED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1975104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Tool-side timing and cold start — both scheduled.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2834640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A/B timing against a manual baseline with non-developers.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3" y="3694176"/>
            <a:ext cx="316382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6A8B3"/>
                </a:solidFill>
                <a:latin typeface="Segoe UI"/>
              </a:rPr>
              <a:t>First-use completion — the pilot that turns 210 s into a measured number.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90288"/>
            <a:ext cx="10874959" cy="1243584"/>
          </a:xfrm>
          <a:prstGeom prst="roundRect">
            <a:avLst>
              <a:gd name="adj" fmla="val 5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0001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40">
                <a:solidFill>
                  <a:srgbClr val="ECAF52"/>
                </a:solidFill>
                <a:latin typeface="Consolas"/>
              </a:rPr>
              <a:t>HARDEST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919472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One unreleased unit alias turns a correct line into a silent mismatch — and a live model can be cold at 6 pm on a Friday.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3328" y="4736592"/>
            <a:ext cx="9144" cy="950976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3" y="470001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40">
                <a:solidFill>
                  <a:srgbClr val="6FB8B2"/>
                </a:solidFill>
                <a:latin typeface="Consolas"/>
              </a:rPr>
              <a:t>THE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3" y="4919472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6000"/>
              </a:lnSpc>
            </a:pPr>
            <a:r>
              <a:rPr sz="860" b="0" i="0">
                <a:solidFill>
                  <a:srgbClr val="AFC2C7"/>
                </a:solidFill>
                <a:latin typeface="Segoe UI"/>
              </a:rPr>
              <a:t>The alias and rule path resolves without the model; Local Demo runs without the backend; the backup recording runs without the venue’s Wi-Fi.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Deployment reported by the owner, not re-tested here  ·  sponsor proof in the Technical &amp; Tools Declaration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12   ·   FIT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2600" b="1" i="0" spc="-30">
                <a:solidFill>
                  <a:srgbClr val="F7F5EF"/>
                </a:solidFill>
                <a:latin typeface="Segoe UI"/>
              </a:rPr>
              <a:t>A capability Orbyte does not yet have,
built on its own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512064" cy="41148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60" b="0" i="0">
                <a:solidFill>
                  <a:srgbClr val="86A8B3"/>
                </a:solidFill>
                <a:latin typeface="Segoe UI"/>
              </a:rPr>
              <a:t>We are not claiming to be part of Orbyte. We are claiming that this is the shape a reusable Orbyte module takes.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30">
                <a:solidFill>
                  <a:srgbClr val="6FB8B2"/>
                </a:solidFill>
                <a:latin typeface="Consolas"/>
              </a:rPr>
              <a:t>ORBYTE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7056" y="199339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30">
                <a:solidFill>
                  <a:srgbClr val="6FB8B2"/>
                </a:solidFill>
                <a:latin typeface="Consolas"/>
              </a:rPr>
              <a:t>HOW KIRAORDER IMPLEMENTS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76272"/>
            <a:ext cx="7187184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F7F5EF"/>
                </a:solidFill>
                <a:latin typeface="Segoe UI"/>
              </a:rPr>
              <a:t>Connected business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2286000"/>
            <a:ext cx="396849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catalogue, aliases, prices and stock read from one tenant schema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79776"/>
            <a:ext cx="718718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712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F7F5EF"/>
                </a:solidFill>
                <a:latin typeface="Segoe UI"/>
              </a:rPr>
              <a:t>Roles and 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2871216"/>
            <a:ext cx="396849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three roles × two tenants, enforced server-side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364992"/>
            <a:ext cx="718718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4564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F7F5EF"/>
                </a:solidFill>
                <a:latin typeface="Segoe UI"/>
              </a:rPr>
              <a:t>Human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3456432"/>
            <a:ext cx="396849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consequential actions routed to the role allowed to release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50208"/>
            <a:ext cx="718718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F7F5EF"/>
                </a:solidFill>
                <a:latin typeface="Segoe UI"/>
              </a:rPr>
              <a:t>Activity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4041648"/>
            <a:ext cx="396849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one audit chain per order, with names and timestamps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535424"/>
            <a:ext cx="718718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626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F7F5EF"/>
                </a:solidFill>
                <a:latin typeface="Segoe UI"/>
              </a:rPr>
              <a:t>Reusable across SMEs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056" y="4626864"/>
            <a:ext cx="3968496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86A8B3"/>
                </a:solidFill>
                <a:latin typeface="Segoe UI"/>
              </a:rPr>
              <a:t>a new vertical is configuration, not a fork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120640"/>
            <a:ext cx="7187184" cy="7315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47888" y="1993392"/>
            <a:ext cx="3291840" cy="1444752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210312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30">
                <a:solidFill>
                  <a:srgbClr val="6FB8B2"/>
                </a:solidFill>
                <a:latin typeface="Consolas"/>
              </a:rPr>
              <a:t>ONE CODEBASE, TWO TENANTS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2304288"/>
            <a:ext cx="2907792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850" b="0" i="0">
                <a:solidFill>
                  <a:srgbClr val="86A8B3"/>
                </a:solidFill>
                <a:latin typeface="Segoe UI"/>
              </a:rPr>
              <a:t>Food wholesale at RM 1,500 and hardware cleaning at RM 800: thresholds, catalogue and rules are configuration, not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127248"/>
            <a:ext cx="290779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5E828F"/>
                </a:solidFill>
                <a:latin typeface="Consolas"/>
              </a:rPr>
              <a:t>food wholesale  ·  hardware cleaning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3584448"/>
            <a:ext cx="3291840" cy="1444752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49056" y="369417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90" b="1" i="0" spc="130">
                <a:solidFill>
                  <a:srgbClr val="6FB8B2"/>
                </a:solidFill>
                <a:latin typeface="Consolas"/>
              </a:rPr>
              <a:t>THE BUSINESS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3895344"/>
            <a:ext cx="2907792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850" b="0" i="0">
                <a:solidFill>
                  <a:srgbClr val="86A8B3"/>
                </a:solidFill>
                <a:latin typeface="Segoe UI"/>
              </a:rPr>
              <a:t>Charged per approved delivery order — an assumption, and no price is printed. A counter of approved DOs exists today.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718304"/>
            <a:ext cx="2907792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5E828F"/>
                </a:solidFill>
                <a:latin typeface="Consolas"/>
              </a:rPr>
              <a:t>per approved DO  ·  no price claimed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3036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690" b="1" i="0" spc="150">
                <a:solidFill>
                  <a:srgbClr val="ECAF52"/>
                </a:solidFill>
                <a:latin typeface="Consolas"/>
              </a:rPr>
              <a:t>WHAT WE DO NOT CLAIM   </a:t>
            </a:r>
          </a:p>
          <a:p>
            <a:pPr algn="l">
              <a:lnSpc>
                <a:spcPct val="130000"/>
              </a:lnSpc>
            </a:pPr>
            <a:r>
              <a:rPr sz="980" b="0" i="0">
                <a:solidFill>
                  <a:srgbClr val="AFC2C7"/>
                </a:solidFill>
                <a:latin typeface="Segoe UI"/>
              </a:rPr>
              <a:t>that we are listed on Orbyte, endorsed by it, connected to WhatsApp, or priced per order.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Criterion targeted: Problem-Solution Fit (25%) — fits the hub, reusable, stays inside the brief’s boundaries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40" y="91440"/>
            <a:ext cx="8412480" cy="4937760"/>
          </a:xfrm>
          <a:prstGeom prst="ellipse">
            <a:avLst/>
          </a:prstGeom>
          <a:gradFill rotWithShape="1">
            <a:gsLst>
              <a:gs pos="0">
                <a:srgbClr val="40C5B8">
                  <a:alpha val="7000"/>
                </a:srgbClr>
              </a:gs>
              <a:gs pos="55000">
                <a:srgbClr val="40C5B8">
                  <a:alpha val="1960"/>
                </a:srgbClr>
              </a:gs>
              <a:gs pos="100000">
                <a:srgbClr val="40C5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13   ·  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98755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F7F5EF"/>
                </a:solidFill>
                <a:latin typeface="Segoe UI"/>
              </a:rPr>
              <a:t>A wholesaler should not need
an ERP to answer one message.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889504"/>
            <a:ext cx="960120" cy="34747"/>
          </a:xfrm>
          <a:prstGeom prst="rect">
            <a:avLst/>
          </a:prstGeom>
          <a:solidFill>
            <a:srgbClr val="40C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86A8B3"/>
                </a:solidFill>
                <a:latin typeface="Segoe UI"/>
              </a:rPr>
              <a:t>In Malaysia the smallest businesses already run on WhatsApp, a price file and one person’s memory. That is not a gap to be fixed by a bigger 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310896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160" b="0" i="0">
                <a:solidFill>
                  <a:srgbClr val="F7F5EF"/>
                </a:solidFill>
                <a:latin typeface="Segoe UI"/>
              </a:rPr>
              <a:t>It is a gap to be fixed by a system that stops at the right moment, says what it does not know, and knows who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517136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645152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FB8B2"/>
                </a:solidFill>
                <a:latin typeface="Segoe UI"/>
              </a:rPr>
              <a:t>Two days after the order, nobody can say who changed the price. We want every small wholesaler to have an order desk that explains itself.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KiraOrder  ·  it knows when not to guess, and who to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2A3B"/>
              </a:gs>
              <a:gs pos="100000">
                <a:srgbClr val="061C2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0" y="1097280"/>
            <a:ext cx="7315200" cy="4023360"/>
          </a:xfrm>
          <a:prstGeom prst="ellipse">
            <a:avLst/>
          </a:prstGeom>
          <a:gradFill rotWithShape="1">
            <a:gsLst>
              <a:gs pos="0">
                <a:srgbClr val="40C5B8">
                  <a:alpha val="7000"/>
                </a:srgbClr>
              </a:gs>
              <a:gs pos="55000">
                <a:srgbClr val="40C5B8">
                  <a:alpha val="1960"/>
                </a:srgbClr>
              </a:gs>
              <a:gs pos="100000">
                <a:srgbClr val="40C5B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874959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900" b="1" i="0" spc="200">
                <a:solidFill>
                  <a:srgbClr val="6FB8B2"/>
                </a:solidFill>
                <a:latin typeface="Consolas"/>
              </a:rPr>
              <a:t>14   ·  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6FB8B2"/>
                </a:solidFill>
                <a:latin typeface="Segoe UI"/>
              </a:rPr>
              <a:t>It knows when not to guess — and who to ask.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54480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50">
                <a:solidFill>
                  <a:srgbClr val="ECAF52"/>
                </a:solidFill>
                <a:latin typeface="Consolas"/>
              </a:rPr>
              <a:t>THREE QUESTIONS WE CAME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2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40C5B8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659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40" b="0" i="0">
                <a:solidFill>
                  <a:srgbClr val="AFC2C7"/>
                </a:solidFill>
                <a:latin typeface="Segoe UI"/>
              </a:rPr>
              <a:t>Is the doubt the right unit to innovate on — or should we pick one kind and go deeper?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78608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40C5B8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51176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40" b="0" i="0">
                <a:solidFill>
                  <a:srgbClr val="AFC2C7"/>
                </a:solidFill>
                <a:latin typeface="Segoe UI"/>
              </a:rPr>
              <a:t>Are 32 frozen orders evidence, or just a rehearsal?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40C5B8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36392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40" b="0" i="0">
                <a:solidFill>
                  <a:srgbClr val="AFC2C7"/>
                </a:solidFill>
                <a:latin typeface="Segoe UI"/>
              </a:rPr>
              <a:t>If we had to drop one of the four destinations, which break would cost the least?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7184" y="1755648"/>
            <a:ext cx="4352544" cy="2139696"/>
          </a:xfrm>
          <a:prstGeom prst="roundRect">
            <a:avLst>
              <a:gd name="adj" fmla="val 9000"/>
            </a:avLst>
          </a:prstGeom>
          <a:solidFill>
            <a:srgbClr val="0C2E40"/>
          </a:solidFill>
          <a:ln w="12700">
            <a:solidFill>
              <a:srgbClr val="1E4B5E"/>
            </a:solidFill>
          </a:ln>
          <a:effectLst>
            <a:outerShdw blurRad="330200" dist="110000" dir="5400000" algn="ctr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883664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00" b="1" i="0" spc="140">
                <a:solidFill>
                  <a:srgbClr val="6FB8B2"/>
                </a:solidFill>
                <a:latin typeface="Consolas"/>
              </a:rPr>
              <a:t>PROTOTYPE AND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396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5E828F"/>
                </a:solidFill>
                <a:latin typeface="Consolas"/>
              </a:rPr>
              <a:t>LIVE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2140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AFC2C7"/>
                </a:solidFill>
                <a:latin typeface="Consolas"/>
              </a:rPr>
              <a:t>hozier123.github.io/sdc-2026-team-project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5603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5E828F"/>
                </a:solidFill>
                <a:latin typeface="Consolas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4203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AFC2C7"/>
                </a:solidFill>
                <a:latin typeface="Consolas"/>
              </a:rPr>
              <a:t>kiraorder-api.replit.app/api/v1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98094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5E828F"/>
                </a:solidFill>
                <a:latin typeface="Consolas"/>
              </a:rP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62656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AFC2C7"/>
                </a:solidFill>
                <a:latin typeface="Consolas"/>
              </a:rPr>
              <a:t>github.com/Hozier123/sdc-2026-team-project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0156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680" b="1" i="0" spc="120">
                <a:solidFill>
                  <a:srgbClr val="5E828F"/>
                </a:solidFill>
                <a:latin typeface="Consolas"/>
              </a:rPr>
              <a:t>BACKUP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83279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819" b="0" i="0">
                <a:solidFill>
                  <a:srgbClr val="AFC2C7"/>
                </a:solidFill>
                <a:latin typeface="Consolas"/>
              </a:rPr>
              <a:t>recorded pitch + Local Demo (browser-only)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53712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960" b="0" i="0">
                <a:solidFill>
                  <a:srgbClr val="86A8B3"/>
                </a:solidFill>
                <a:latin typeface="Segoe UI"/>
              </a:rPr>
              <a:t>Falcons  ·  five members  ·  Xiamen University Malaysia  ·  SDC Hackathon 2026, Domain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5604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40" b="1" i="0">
                <a:solidFill>
                  <a:srgbClr val="ECAF52"/>
                </a:solidFill>
                <a:latin typeface="Segoe UI"/>
              </a:rPr>
              <a:t>Thank you — the next five minutes are yours.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36208"/>
            <a:ext cx="10874959" cy="9144"/>
          </a:xfrm>
          <a:prstGeom prst="rect">
            <a:avLst/>
          </a:prstGeom>
          <a:solidFill>
            <a:srgbClr val="1E4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345936"/>
            <a:ext cx="9352464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40" b="0" i="0" spc="40">
                <a:solidFill>
                  <a:srgbClr val="5E828F"/>
                </a:solidFill>
                <a:latin typeface="Consolas"/>
              </a:rPr>
              <a:t>All data in this deck is synthetic  ·  prepared 25 October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1727" y="63459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740" b="0" i="0" spc="40">
                <a:solidFill>
                  <a:srgbClr val="6FB8B2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KiraOrder for Orbyte — SDC Hackathon 2026 final pitch deck</dc:title>
  <dc:subject>SDC Hackathon 2026 · Domain 2 · Orbyte Smart SME Challenge</dc:subject>
  <dc:creator>Team Falcons · Xiamen University Malaysia</dc:creator>
  <cp:keywords>SDC Hackathon 2026; Domain 2; Orbyte; KiraOrder; SDG 8.2; SDG 8.3</cp:keywords>
  <dc:description>15 slides · 10:00 live pitch · dark tech system · speaker notes carry the timing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