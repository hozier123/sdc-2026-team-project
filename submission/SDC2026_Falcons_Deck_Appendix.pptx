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Submission / documentation deck. Not the 3-minute pitch: this one is meant to be read, and to answer every technical question a judge or an Orbyte reviewer might open the repository to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reader only has one minute, this is the page. The four quadrants map to the four sections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questions are the product's entire specification. Every design decision downstream exists to answer one of them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audience constraint is what makes the product narrow on purpose: no setup, no configuration, no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not language, not caution, and not speed. It is that the facts are held in the merchant's own catalogue, not in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rules, one sentence. Every section that follows is an implementation of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States are the contract. Approval is only reachable from READY_FOR_APPROVAL; a below-tier price diverts to PENDING_OWNER; both REJECTED and DISCARDED are terminal and leave no delivery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visibility difference is the product: the same delivery order renders three different documents for three different people, and the API enforces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direction of trust matters: the client is untrusted, the API decides identity, the domain decides facts, and the model is the only component allowed to be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tables, all pinned versions. If a judge asks 'why no ORM', the answer is on this slide: explicit SQL so the resolver's reads are inspectable and migrations can be hashed.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story is unusual and worth explaining: migrations are hashed and run through a real PostgreSQL parser, so the database state is reproducible rather than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absence of an extraction endpoint is a design decision: the model is not a public service, it is an internal dependency of one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Closed-set means the model chooses from the tenant's catalogue rather than writing a product name. The source span is kept as evidence, which is what makes the 'it asked me' claim 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layer is the part that can be audited. It is deterministic, it is tested, and its failures are visible as issue codes rather than as a plausible wrong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screens, one order. Left: the clerk cannot settle the line, so it becomes a card carrying the source span. Middle: the question is drafted for the customer, not sent automatically. Right: the warehouse sees four fields and no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least glamorous and most important engineering decision in the project: approval is transactional and version-bound, so 'who approved what' is always answerable.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privacy story is mostly about what is absent: no raw text storage, no free-form PII tokens, no client-side role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is deliberately boring: static frontend, one small API, one managed Postgres, one GPU endpoint that can be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strict scoring is a deliberate handicap. It makes our own number look worse and makes the claim impossible to inflate.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caveat before a judge says it. 8/23 is a small self-built set; 1.93 s is model time, not the clerk's handling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page calmly, without apology. It is the page that makes the other nineteen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commercial argument in one table: the marginal cost of the hundredth shop is configuration, not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price is unset. In a judged setting, a made-up price is a bigger liability than an honest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is ordered by risk: the measured pilot de-risks the only unmeasured number, and WhatsApp ingestion is deliberately last because it is the most external.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page. Each screenshot carries a claim exactly one line above it, and each was captured read-only. If a judge asks whether the 404 is real, this is the page that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a judge will test: is the timeout derived or picked, and is the console real. The terminal shows the p95 that produced 4.1 s; the console sits inside the same frame, showing one running worker on the same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page for a sceptical judge: it shows the set was defined before execution, and states plainly that execution has not happened. Never present the GREEN column as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sentence the whole deck supports, then stop. Do not add a feature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 spc="160">
                <a:solidFill>
                  <a:srgbClr val="9AA6B8"/>
                </a:solidFill>
                <a:latin typeface="Segoe UI"/>
              </a:rPr>
              <a:t>SDC HACKATHON 2026 · DOMAIN 2 · ORBYTE SMART SME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74959" cy="1159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59" b="1" i="0">
                <a:solidFill>
                  <a:srgbClr val="F0ECE3"/>
                </a:solidFill>
                <a:latin typeface="Georgia"/>
              </a:rPr>
              <a:t>KiraOrder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1">
                <a:solidFill>
                  <a:srgbClr val="C8A870"/>
                </a:solidFill>
                <a:latin typeface="Georgia"/>
              </a:rPr>
              <a:t>for Orbyte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352044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3703320"/>
            <a:ext cx="869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0" i="0">
                <a:solidFill>
                  <a:srgbClr val="9AA6B8"/>
                </a:solidFill>
                <a:latin typeface="Georgia"/>
              </a:rPr>
              <a:t>A complete solution dossier: the problem, the product, the architecture, the evidence, and the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06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 spc="160">
                <a:solidFill>
                  <a:srgbClr val="C8A870"/>
                </a:solidFill>
                <a:latin typeface="Segoe UI"/>
              </a:rPr>
              <a:t>FALCONS · XIAMEN UNIVERSITY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389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 spc="40">
                <a:solidFill>
                  <a:srgbClr val="9AA6B8"/>
                </a:solidFill>
                <a:latin typeface="Segoe UI"/>
              </a:rPr>
              <a:t>Zhou Jingxi · He Minghao · Xiong Peicheng · Ye Lianghui · Zhan Zhengrong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778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 spc="120">
                <a:solidFill>
                  <a:srgbClr val="9AA6B8"/>
                </a:solidFill>
                <a:latin typeface="Segoe UI"/>
              </a:rPr>
              <a:t>1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ONE PAGE, THE WHOLE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02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10" b="0" i="0">
                <a:solidFill>
                  <a:srgbClr val="F0ECE3"/>
                </a:solidFill>
                <a:latin typeface="Georgia"/>
              </a:rPr>
              <a:t>Everything in this deck, in four sentences.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965960"/>
            <a:ext cx="261586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057400"/>
            <a:ext cx="26158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01 ·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95144"/>
            <a:ext cx="2615869" cy="527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60" b="1" i="0">
                <a:solidFill>
                  <a:srgbClr val="F0ECE3"/>
                </a:solidFill>
                <a:latin typeface="Georgia"/>
              </a:rPr>
              <a:t>The order is not the hard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15768"/>
            <a:ext cx="2615869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 i="0">
                <a:solidFill>
                  <a:srgbClr val="9AA6B8"/>
                </a:solidFill>
                <a:latin typeface="Segoe UI"/>
              </a:rPr>
              <a:t>A WhatsApp-style message contains none of the six facts an order needs: pack size, tier price, stock, conditions, price floor, grade.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1397" y="1965960"/>
            <a:ext cx="261587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1397" y="2057400"/>
            <a:ext cx="26158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02 ·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1397" y="2295144"/>
            <a:ext cx="2615869" cy="527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60" b="1" i="0">
                <a:solidFill>
                  <a:srgbClr val="F0ECE3"/>
                </a:solidFill>
                <a:latin typeface="Georgia"/>
              </a:rPr>
              <a:t>Stop where a guess costs money.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1397" y="2715768"/>
            <a:ext cx="2615869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 i="0">
                <a:solidFill>
                  <a:srgbClr val="9AA6B8"/>
                </a:solidFill>
                <a:latin typeface="Segoe UI"/>
              </a:rPr>
              <a:t>The model proposes. Rules settle every number from the merchant's own catalogue. A named person approves. Anything unsettled blocks at a desk.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64427" y="1965960"/>
            <a:ext cx="261587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64427" y="2057400"/>
            <a:ext cx="26158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03 ·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4427" y="2295144"/>
            <a:ext cx="26158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60" b="1" i="0">
                <a:solidFill>
                  <a:srgbClr val="F0ECE3"/>
                </a:solidFill>
                <a:latin typeface="Georgia"/>
              </a:rPr>
              <a:t>Measured, and bounded.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4427" y="2715768"/>
            <a:ext cx="2615869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 i="0">
                <a:solidFill>
                  <a:srgbClr val="9AA6B8"/>
                </a:solidFill>
                <a:latin typeface="Segoe UI"/>
              </a:rPr>
              <a:t>23 development cases with an answer key we wrote; 8 pass all six fields. 24 of 31 units correct. 41 permission checks pass. Limits are named, not hidden.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7457" y="1965960"/>
            <a:ext cx="261587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17457" y="2057400"/>
            <a:ext cx="26158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04 ·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7457" y="2295144"/>
            <a:ext cx="26158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60" b="1" i="0">
                <a:solidFill>
                  <a:srgbClr val="F0ECE3"/>
                </a:solidFill>
                <a:latin typeface="Georgia"/>
              </a:rPr>
              <a:t>One codebase, many shops.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7457" y="2715768"/>
            <a:ext cx="2615869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 i="0">
                <a:solidFill>
                  <a:srgbClr val="9AA6B8"/>
                </a:solidFill>
                <a:latin typeface="Segoe UI"/>
              </a:rPr>
              <a:t>Changing merchant is configuration, not code. Charged per approved delivery order, never per seat. Cost side measured: about US$0.4 per 1,000 orders.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98348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5138928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80" b="0" i="0">
                <a:solidFill>
                  <a:srgbClr val="F0ECE3"/>
                </a:solidFill>
                <a:latin typeface="Georgia"/>
              </a:rPr>
              <a:t>A wrong delivery costs a wholesaler more trust than a slow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03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The order is not the hard part. The missing facts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 spc="120">
                <a:solidFill>
                  <a:srgbClr val="C8A870"/>
                </a:solidFill>
                <a:latin typeface="Segoe UI"/>
              </a:rPr>
              <a:t>18:04 — one message, on a wholesaler's 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4937760" cy="1143000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50" b="0">
                <a:solidFill>
                  <a:srgbClr val="F0ECE3"/>
                </a:solidFill>
                <a:latin typeface="Segoe UI"/>
              </a:rPr>
              <a:t>“2 bag Gula 1kg, telur 10 papan kalau ada”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Georgia"/>
              </a:rPr>
              <a:t>Malay, Chinese and English mixed. One line, four products, one condition. The text is complete as a message — and empty as an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600200"/>
            <a:ext cx="5479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SIX FACTS THAT MUST BE SETTLED BEFORE PICKING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3328" y="1965960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328" y="20756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057400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Which pack size — 1 kg or 2 kg?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53328" y="2532888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53328" y="26426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624328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Which tier price does this customer buy on?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8" y="3099815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53328" y="32095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191256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How much onion is actually in stock?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3328" y="3666744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53328" y="37764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758183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Does “kalau ada” reduce the line, or drop it?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4233672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53328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325112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Is RM2.80 below her tier price?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8" y="4800600"/>
            <a:ext cx="547999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53328" y="49103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C8A870"/>
                </a:solidFill>
                <a:latin typeface="Georg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892040"/>
            <a:ext cx="5022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Which egg grade — A, B or C?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53328" y="5577840"/>
            <a:ext cx="547999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53328" y="5687568"/>
            <a:ext cx="5479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F0ECE3"/>
                </a:solidFill>
                <a:latin typeface="Georgia"/>
              </a:rPr>
              <a:t>None of the six is in the text. The message is not the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02 · 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04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F0ECE3"/>
                </a:solidFill>
                <a:latin typeface="Georgia"/>
              </a:rPr>
              <a:t>One clerk. One owner. A phone.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74519"/>
            <a:ext cx="247870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93392"/>
            <a:ext cx="24787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14600"/>
            <a:ext cx="24787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Segoe UI"/>
              </a:rPr>
              <a:t>One clerk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0360"/>
            <a:ext cx="247870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Takes the order, resolves what she can, escalates the rest.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57117" y="1874519"/>
            <a:ext cx="2478710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57117" y="1993392"/>
            <a:ext cx="24787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7117" y="2514600"/>
            <a:ext cx="24787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Segoe UI"/>
              </a:rPr>
              <a:t>One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7117" y="2880360"/>
            <a:ext cx="247870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Holds the price floor. Signs every exception, in writing.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55867" y="1874519"/>
            <a:ext cx="2478710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55867" y="1993392"/>
            <a:ext cx="24787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867" y="2514600"/>
            <a:ext cx="24787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Segoe UI"/>
              </a:rPr>
              <a:t>One 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2880360"/>
            <a:ext cx="247870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message lands here — WhatsApp-shaped, three languages.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4617" y="1874519"/>
            <a:ext cx="2478710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54617" y="1993392"/>
            <a:ext cx="24787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4617" y="2514600"/>
            <a:ext cx="24787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Segoe UI"/>
              </a:rPr>
              <a:t>20–80 a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4617" y="2880360"/>
            <a:ext cx="247870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Orders per merchant. Six unsettled facts each.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393192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096512"/>
            <a:ext cx="103312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F0ECE3"/>
                </a:solidFill>
                <a:latin typeface="Georgia"/>
              </a:rPr>
              <a:t>No ERP. No integration. No IT person.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54880"/>
            <a:ext cx="97874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And no one to configure it. Every field the product asks her to fill is a reason to stop using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4068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WHAT THIS RULES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650992"/>
            <a:ext cx="103312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Georgia"/>
              </a:rPr>
              <a:t>Onboarding wizards. Seat licences. Per-field configuration. Any workflow that requires a second login to finish one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03 · WHY EXISTING ANSWERS ARE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05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All three optimise the message. The facts live somewhere else.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74519"/>
            <a:ext cx="325922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65960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31136"/>
            <a:ext cx="32592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24912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1">
                <a:solidFill>
                  <a:srgbClr val="C8A870"/>
                </a:solidFill>
                <a:latin typeface="Georgia"/>
              </a:rPr>
              <a:t>Accurate, and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72384"/>
            <a:ext cx="325922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Ask the customer, read the price file, walk to the whiteboard, type the delivery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1">
                <a:solidFill>
                  <a:srgbClr val="C8A870"/>
                </a:solidFill>
                <a:latin typeface="Georgia"/>
              </a:rPr>
              <a:t>Nothing is wrong except the time — and it collapses when eleven messages land at once.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19346" y="1874519"/>
            <a:ext cx="0" cy="4114801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20514" y="1874519"/>
            <a:ext cx="325922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20514" y="1965960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514" y="2231136"/>
            <a:ext cx="32592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A translating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0514" y="2724912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1">
                <a:solidFill>
                  <a:srgbClr val="C8A870"/>
                </a:solidFill>
                <a:latin typeface="Georgia"/>
              </a:rPr>
              <a:t>Fast, and still wrong.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0514" y="3072384"/>
            <a:ext cx="325922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Malay, Chinese and English become a clean, structured order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0514" y="4224528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1">
                <a:solidFill>
                  <a:srgbClr val="C8A870"/>
                </a:solidFill>
                <a:latin typeface="Georgia"/>
              </a:rPr>
              <a:t>The list looks perfect and the pack size is still wrong. Pack size is not a language problem.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81492" y="1874519"/>
            <a:ext cx="0" cy="4114801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82660" y="1874519"/>
            <a:ext cx="3259227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82660" y="1965960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2660" y="2231136"/>
            <a:ext cx="32592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A flag-everything checker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2660" y="2724912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1">
                <a:solidFill>
                  <a:srgbClr val="C8A870"/>
                </a:solidFill>
                <a:latin typeface="Georgia"/>
              </a:rPr>
              <a:t>Careful, and unfinished.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2660" y="3072384"/>
            <a:ext cx="325922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Suspicious lines turn red and the flow stops for a human.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660" y="4224528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1">
                <a:solidFill>
                  <a:srgbClr val="C8A870"/>
                </a:solidFill>
                <a:latin typeface="Georgia"/>
              </a:rPr>
              <a:t>A red flag is a question, not an answer. The work still ends with the same clerk.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580644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58978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0ECE3"/>
                </a:solidFill>
                <a:latin typeface="Georgia"/>
              </a:rPr>
              <a:t>Each one improves the sentence. None of them can supply a fact the sentence does not contain.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04 · THE PRODUCT, IN 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06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The model proposes. Rules settle. A named person decides.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8308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38528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01 ·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12848"/>
            <a:ext cx="325922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60" b="1" i="0">
                <a:solidFill>
                  <a:srgbClr val="F0ECE3"/>
                </a:solidFill>
                <a:latin typeface="Georgia"/>
              </a:rPr>
              <a:t>It proposes. It never prices.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325922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Product candidates, quantities, units, pack sizes, source spans — restricted to the tenant catalogue, or an explicit UNKNOWN.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26864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1">
                <a:solidFill>
                  <a:srgbClr val="C8A870"/>
                </a:solidFill>
                <a:latin typeface="Georgia"/>
              </a:rPr>
              <a:t>Cannot set a price. Cannot approve. Cannot issue a delivery order.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9346" y="1920240"/>
            <a:ext cx="0" cy="397764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20514" y="1938528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02 · THE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2212848"/>
            <a:ext cx="325922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60" b="1" i="0">
                <a:solidFill>
                  <a:srgbClr val="F0ECE3"/>
                </a:solidFill>
                <a:latin typeface="Georgia"/>
              </a:rPr>
              <a:t>Facts are computed, not generated.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0514" y="3108960"/>
            <a:ext cx="325922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Tier price, stock and pack size are read from the merchant's own catalogue and price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514" y="4626864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1">
                <a:solidFill>
                  <a:srgbClr val="C8A870"/>
                </a:solidFill>
                <a:latin typeface="Georgia"/>
              </a:rPr>
              <a:t>A field the data cannot evidence becomes a blocking issue, never a plausible guess.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1492" y="1920240"/>
            <a:ext cx="0" cy="397764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2660" y="1938528"/>
            <a:ext cx="32592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03 · THE 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2660" y="2212848"/>
            <a:ext cx="325922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60" b="1" i="0">
                <a:solidFill>
                  <a:srgbClr val="F0ECE3"/>
                </a:solidFill>
                <a:latin typeface="Georgia"/>
              </a:rPr>
              <a:t>A named person signs.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2660" y="3108960"/>
            <a:ext cx="325922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9AA6B8"/>
                </a:solidFill>
                <a:latin typeface="Segoe UI"/>
              </a:rPr>
              <a:t>A clerk clears the routine. The owner decides a below-tier price and can reject with a reason.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2660" y="4626864"/>
            <a:ext cx="325922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1">
                <a:solidFill>
                  <a:srgbClr val="C8A870"/>
                </a:solidFill>
                <a:latin typeface="Georgia"/>
              </a:rPr>
              <a:t>The warehouse sees picking detail with no prices and no contact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708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IN ONE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05 · ORDER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07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One order, five states, two exits.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DRAFT
clerk editing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9202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DISAMBIGUATION
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9202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READY FOR
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19202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2E3D5C"/>
          </a:solidFill>
          <a:ln w="9525">
            <a:solidFill>
              <a:srgbClr val="C8A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APPROVED
→ delivery order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62072" y="2276856"/>
            <a:ext cx="438912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59551" y="2276856"/>
            <a:ext cx="438913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57032" y="2276856"/>
            <a:ext cx="438912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53328" y="324612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PENDING
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324612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1C2644"/>
          </a:solidFill>
          <a:ln w="9525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REJECTED
order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324612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1C2644"/>
          </a:solidFill>
          <a:ln w="9525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DISCARDED
by clerk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27748" y="2679191"/>
            <a:ext cx="0" cy="521209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57032" y="3602736"/>
            <a:ext cx="438912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825228" y="2679191"/>
            <a:ext cx="0" cy="566929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30268" y="2679191"/>
            <a:ext cx="0" cy="521209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16168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C8A870"/>
                </a:solidFill>
                <a:latin typeface="Segoe UI"/>
              </a:rPr>
              <a:t>below tier price · discount · override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owner rejects, with a 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069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clerk ends the draft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526280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663440"/>
            <a:ext cx="52317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Every transition is version-bound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19472"/>
            <a:ext cx="52317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A stale tab cannot approve a newer draft.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4663440"/>
            <a:ext cx="52317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Approval writes a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1587" y="4919472"/>
            <a:ext cx="52317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The DO is issued from the approved version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440679"/>
            <a:ext cx="52317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One DO per approved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96712"/>
            <a:ext cx="52317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Six concurrent approval runs produced exactly six 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1587" y="5440679"/>
            <a:ext cx="52317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Audit and activity on every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696712"/>
            <a:ext cx="52317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Who did what, when — readable in the same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06 · ROLES AND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08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Three roles, three different truths about the same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32592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 spc="180">
                <a:solidFill>
                  <a:srgbClr val="C8A870"/>
                </a:solidFill>
                <a:latin typeface="Segoe UI"/>
              </a:rPr>
              <a:t>CLERK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76272"/>
            <a:ext cx="32592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Clears the routine.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43200"/>
            <a:ext cx="325922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Can: create drafts, resolve issues, pick candidates, approve a routine order, send an exception to the owner, discard with a reason.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24528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CANNOT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453128"/>
            <a:ext cx="325922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1">
                <a:solidFill>
                  <a:srgbClr val="C8A870"/>
                </a:solidFill>
                <a:latin typeface="Georgia"/>
              </a:rPr>
              <a:t>Cannot: price below tier, override stock, see another tenant.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9346" y="1874519"/>
            <a:ext cx="0" cy="3931921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20514" y="1874519"/>
            <a:ext cx="32592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 spc="180">
                <a:solidFill>
                  <a:srgbClr val="C8A870"/>
                </a:solidFill>
                <a:latin typeface="Segoe UI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2176272"/>
            <a:ext cx="32592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Holds the price floor.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0514" y="2743200"/>
            <a:ext cx="325922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Can: approve or reject a pending exception, with a mandatory reason; see every line's tier price and margin.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514" y="4224528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CANNOT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0514" y="4453128"/>
            <a:ext cx="325922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1">
                <a:solidFill>
                  <a:srgbClr val="C8A870"/>
                </a:solidFill>
                <a:latin typeface="Georgia"/>
              </a:rPr>
              <a:t>Cannot: approve an unresolved stock issue or an unsaved edit.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81492" y="1874519"/>
            <a:ext cx="0" cy="3931921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82660" y="1874519"/>
            <a:ext cx="32592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 spc="180">
                <a:solidFill>
                  <a:srgbClr val="C8A870"/>
                </a:solidFill>
                <a:latin typeface="Segoe UI"/>
              </a:rPr>
              <a:t>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2660" y="2176272"/>
            <a:ext cx="3259226" cy="598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1" i="0">
                <a:solidFill>
                  <a:srgbClr val="F0ECE3"/>
                </a:solidFill>
                <a:latin typeface="Georgia"/>
              </a:rPr>
              <a:t>Picks, and sees nothing else.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2660" y="2743200"/>
            <a:ext cx="325922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Can: find a delivery order by number; read four picking fields; print the 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2660" y="4224528"/>
            <a:ext cx="3259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1" i="0" spc="140">
                <a:solidFill>
                  <a:srgbClr val="C8A870"/>
                </a:solidFill>
                <a:latin typeface="Segoe UI"/>
              </a:rPr>
              <a:t>CANNOT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2660" y="4453128"/>
            <a:ext cx="325922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1">
                <a:solidFill>
                  <a:srgbClr val="C8A870"/>
                </a:solidFill>
                <a:latin typeface="Georgia"/>
              </a:rPr>
              <a:t>Cannot: see prices, totals, customer contact, or the message.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562356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57150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F0ECE3"/>
                </a:solidFill>
                <a:latin typeface="Georgia"/>
              </a:rPr>
              <a:t>Roles are enforced at the API, not on the page. A warehouse token asking for a price receives 403 FORBIDDEN_ACTION.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07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09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Four layers, one direction of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37943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C8A870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013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 spc="140">
                <a:solidFill>
                  <a:srgbClr val="F0ECE3"/>
                </a:solidFill>
                <a:latin typeface="Segoe U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57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AA6B8"/>
                </a:solidFill>
                <a:latin typeface="Segoe UI"/>
              </a:rPr>
              <a:t>React 19 SPA · GitHub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1783080"/>
            <a:ext cx="7903159" cy="932688"/>
          </a:xfrm>
          <a:prstGeom prst="roundRect">
            <a:avLst>
              <a:gd name="adj" fmla="val 8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040">
                <a:solidFill>
                  <a:srgbClr val="9AA6B8"/>
                </a:solidFill>
                <a:latin typeface="Segoe UI"/>
              </a:rPr>
              <a:t>Two modes: Local Demo (browser-only, synthetic, no backend) and API mode (Bearer session, real tenant).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55848" y="2724911"/>
            <a:ext cx="0" cy="9144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8803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C8A870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84378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 spc="140">
                <a:solidFill>
                  <a:srgbClr val="F0ECE3"/>
                </a:solidFill>
                <a:latin typeface="Segoe UI"/>
              </a:rP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099815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AA6B8"/>
                </a:solidFill>
                <a:latin typeface="Segoe UI"/>
              </a:rPr>
              <a:t>FastAPI · Bearer auth · role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825496"/>
            <a:ext cx="7903159" cy="932688"/>
          </a:xfrm>
          <a:prstGeom prst="roundRect">
            <a:avLst>
              <a:gd name="adj" fmla="val 8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040">
                <a:solidFill>
                  <a:srgbClr val="9AA6B8"/>
                </a:solidFill>
                <a:latin typeface="Segoe UI"/>
              </a:rPr>
              <a:t>Every request resolves identity → role → tenant before touching business logic. PII mask runs before anything leaves.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55848" y="3767327"/>
            <a:ext cx="0" cy="91441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9227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C8A870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8862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 spc="140">
                <a:solidFill>
                  <a:srgbClr val="F0ECE3"/>
                </a:solidFill>
                <a:latin typeface="Segoe UI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14223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AA6B8"/>
                </a:solidFill>
                <a:latin typeface="Segoe UI"/>
              </a:rPr>
              <a:t>Resolver · Checks · Approvals · 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3867912"/>
            <a:ext cx="7903159" cy="932688"/>
          </a:xfrm>
          <a:prstGeom prst="roundRect">
            <a:avLst>
              <a:gd name="adj" fmla="val 8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040">
                <a:solidFill>
                  <a:srgbClr val="9AA6B8"/>
                </a:solidFill>
                <a:latin typeface="Segoe UI"/>
              </a:rPr>
              <a:t>Pure business rules: resolve candidates, compute tier price and stock, raise blocking issues, bind approvals to versions.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55848" y="4809744"/>
            <a:ext cx="0" cy="9144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49651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C8A870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92861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1" i="0" spc="140">
                <a:solidFill>
                  <a:srgbClr val="F0ECE3"/>
                </a:solidFill>
                <a:latin typeface="Segoe UI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51846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AA6B8"/>
                </a:solidFill>
                <a:latin typeface="Segoe UI"/>
              </a:rPr>
              <a:t>PostgreSQL 17 · vLLM on RunPod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0168" y="4910328"/>
            <a:ext cx="7903159" cy="932688"/>
          </a:xfrm>
          <a:prstGeom prst="roundRect">
            <a:avLst>
              <a:gd name="adj" fmla="val 8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040">
                <a:solidFill>
                  <a:srgbClr val="9AA6B8"/>
                </a:solidFill>
                <a:latin typeface="Segoe UI"/>
              </a:rPr>
              <a:t>Postgres holds orders, drafts, DOs, audit. The model is a stateless dependency that can fail without stopping the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53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1">
                <a:solidFill>
                  <a:srgbClr val="C8A870"/>
                </a:solidFill>
                <a:latin typeface="Georgia"/>
              </a:rPr>
              <a:t>The model sits at the bottom of the trust stack: it can be removed and the order still closes.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08 ·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10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Every dependency, and why it is there.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511123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7"/>
                <a:gridCol w="3168963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C8A870"/>
                          </a:solidFill>
                          <a:latin typeface="Segoe UI"/>
                        </a:rPr>
                        <a:t>BACKEND / DATA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C8A870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Python 3.13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pinned; ruff targets py313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FastAPI 0.158.1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ASGI, OpenAPI as the contract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Pydantic 2.14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typed config, no secrets in code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PostgreSQL 17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Neon; 18 base tables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psycopg 3.3.6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raw SQL, explicit transactions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pglast 7.21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SQL statement splitting (migrations)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rapidfuzz 3.14.6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catalogue and alias matching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pytest 9.1 + ruff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CI gate on every PR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22096" y="1737360"/>
          <a:ext cx="511123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7"/>
                <a:gridCol w="3168963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C8A870"/>
                          </a:solidFill>
                          <a:latin typeface="Segoe UI"/>
                        </a:rPr>
                        <a:t>FRONTEND / AI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C8A870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React 19.1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three role views, one workspace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TypeScript 5.8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types generated from OpenAPI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Vite 6.4 + Tailwind 4.3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static build for GitHub Pages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three.js + GSAP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intro only; business UI is plain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openapi-typescript 7.6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contract drift caught at build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ajv 8.20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runtime schema validation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vLLM 0.32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OpenAI-compatible on RunPod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F0ECE3"/>
                          </a:solidFill>
                          <a:latin typeface="Segoe UI"/>
                        </a:rPr>
                        <a:t>Qwen2.5-7B-Instruct-AWQ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9AA6B8"/>
                          </a:solidFill>
                          <a:latin typeface="Segoe UI"/>
                        </a:rPr>
                        <a:t>24 GB, single worker</a:t>
                      </a:r>
                    </a:p>
                  </a:txBody>
                  <a:tcPr marL="73152" marR="45720" marT="9144" marB="9144" anchor="ctr">
                    <a:noFill/>
                    <a:lnB w="6350" cap="flat" cmpd="sng" algn="ctr">
                      <a:solidFill>
                        <a:srgbClr val="2E3D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74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DELIBERATE OMISSIONS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52199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No ORM. No Redis. No message queue. No Kubernetes. Each would add a failure mode the merchant cannot debug and the team cannot staff.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2096" y="5303520"/>
            <a:ext cx="51112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No auth provider. Sessions are Bearer tokens issued by the backend, so role and tenant are decided server-side, not in the token's claims.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09 · DATA LAYER AND MULTI-TENANCY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11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One build, many tenants — separated in the API, not the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80" b="0">
                <a:solidFill>
                  <a:srgbClr val="F0ECE3"/>
                </a:solidFill>
                <a:latin typeface="Segoe UI"/>
              </a:rPr>
              <a:t>public
18 base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21608" y="178308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60" b="0">
                <a:solidFill>
                  <a:srgbClr val="F0ECE3"/>
                </a:solidFill>
                <a:latin typeface="Segoe UI"/>
              </a:rPr>
              <a:t>kiraorder_meta
schema_migrations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4848" y="1783080"/>
            <a:ext cx="4748479" cy="1051560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6 trigger objects · 12 UPDATE/DELETE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MIGRATION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1868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C8A870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49574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Hash-pinned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49574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Original SQL bytes and the manifest are checked against a frozen SHA-256 before connecting.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321868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C8A870"/>
                </a:solidFill>
                <a:latin typeface="Segoe U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619" y="3218688"/>
            <a:ext cx="49574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Parser-split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619" y="3438144"/>
            <a:ext cx="49574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pglast splits the script at real statement boundaries; no hand-rolled semicolon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5993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C8A870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49574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Ledger-first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79392"/>
            <a:ext cx="49574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Creation, DDL and registration share one transaction and an advisory lock.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405993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C8A870"/>
                </a:solidFill>
                <a:latin typeface="Segoe U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7619" y="4059936"/>
            <a:ext cx="49574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Idempotent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7619" y="4279392"/>
            <a:ext cx="49574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First run returns applied; a repeat returns already_applied and changes nothing.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90118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C8A870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01184"/>
            <a:ext cx="49574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Refuses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49574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Tables without a ledger entry are never taken over automatically.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71500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F0ECE3"/>
                </a:solidFill>
                <a:latin typeface="Georgia"/>
              </a:rPr>
              <a:t>Tenant isolation is a 404, not a hidden button: a T2 token asking for a T1 delivery order receives RESOURCE_NOT_FOUND, with or without a tenant header.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10 · 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12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Six groups of endpoints. The order is one path through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55648"/>
            <a:ext cx="523173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847088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SESSION &amp;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GET /me · GET /healthz · GET /readyz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Identity, liveness, readiness.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1587" y="1755648"/>
            <a:ext cx="523174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1587" y="1847088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ORDER 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2103120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POST /orders/parse-draft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468880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Message in, draft out. CLERK/OWNER only; WAREHOUSE gets 403.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3236976"/>
            <a:ext cx="523173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3328416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84448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GET/PUT /orders/drafts/{id}/lines · POST discard · POST clarification-copied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50208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Version-bound edits; no silent overwrite.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1587" y="3236976"/>
            <a:ext cx="523174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1587" y="3328416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3584448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POST /orders/{id}/approve · GET /approvals · POST /approvals/{id}/decide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950208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Routine vs exception; rejection reason required.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718304"/>
            <a:ext cx="523173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809744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DELIVERY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65776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GET /delivery-orders/{do_number} · GET /orders/{do_number}/audit-detail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31536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Customer copy, change record, audit trail.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1587" y="4718304"/>
            <a:ext cx="5231740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1587" y="4809744"/>
            <a:ext cx="5231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WAREHOUSE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1587" y="5065776"/>
            <a:ext cx="52317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F0ECE3"/>
                </a:solidFill>
                <a:latin typeface="Consolas"/>
              </a:rPr>
              <a:t>GET /warehouse/delivery-orders/{do_number}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5431536"/>
            <a:ext cx="52317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Four fields. No price, no total, no contact.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053328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12648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There is no /extract endpoint. AI is called in-process by parse-draft, so no client can ask the model a question the rules did not authorise.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11 · THE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13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A closed-set extractor that is not allowed to finish the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F0ECE3"/>
                </a:solidFill>
                <a:latin typeface="Segoe UI"/>
              </a:rPr>
              <a:t>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masked 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19" y="2185416"/>
            <a:ext cx="146304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34056" y="1810512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F0ECE3"/>
                </a:solidFill>
                <a:latin typeface="Segoe UI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6151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LLM → candidate spans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36008" y="2185416"/>
            <a:ext cx="146304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9744" y="1810512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F0ECE3"/>
                </a:solidFill>
                <a:latin typeface="Segoe UI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6151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contract + catalogue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11696" y="2185416"/>
            <a:ext cx="146304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85432" y="1810512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F0ECE3"/>
                </a:solidFill>
                <a:latin typeface="Segoe UI"/>
              </a:rPr>
              <a:t>SETTLE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6151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rules compute facts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87384" y="2185416"/>
            <a:ext cx="146304" cy="0"/>
          </a:xfrm>
          <a:prstGeom prst="line">
            <a:avLst/>
          </a:prstGeom>
          <a:ln w="12700">
            <a:noFill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61120" y="1810512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F0ECE3"/>
                </a:solidFill>
                <a:latin typeface="Segoe UI"/>
              </a:rPr>
              <a:t>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151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lines or blocking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5468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WHEN THE MODEL IS UNAVAILABLE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01568"/>
            <a:ext cx="3200400" cy="658368"/>
          </a:xfrm>
          <a:prstGeom prst="roundRect">
            <a:avLst>
              <a:gd name="adj" fmla="val 10000"/>
            </a:avLst>
          </a:prstGeom>
          <a:solidFill>
            <a:srgbClr val="1C2644"/>
          </a:solidFill>
          <a:ln w="9525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40" b="0">
                <a:solidFill>
                  <a:srgbClr val="F0ECE3"/>
                </a:solidFill>
                <a:latin typeface="Segoe UI"/>
              </a:rPr>
              <a:t>rules path only — ai_mode =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3456432"/>
            <a:ext cx="7537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draft is still produced, and the interface states which mode produced it. A successful call is never reported as an accuracy figure.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315968"/>
            <a:ext cx="52199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THE MODEL MAY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511123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CE3"/>
                </a:solidFill>
                <a:latin typeface="Segoe UI"/>
              </a:rPr>
              <a:t>Product candidates (tenant-restricted) · quantity · unit · pack size · source span · conditions · an explicit UNKNOWN.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2096" y="4315968"/>
            <a:ext cx="5111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THE MODEL MAY NEVER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2096" y="4526280"/>
            <a:ext cx="511123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sku_id · price · tier price · stock · approval decision · delivery order number · customer contact.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5285232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535838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F0ECE3"/>
                </a:solidFill>
                <a:latin typeface="Georgia"/>
              </a:rPr>
              <a:t>The extracted span is kept, so a clerk can see which words the candidate came from — and disagree with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12 · THE RULES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14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Where an unsure answer becomes a blocking issue.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552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Candidates, not guesses.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Family and alias matching over the tenant catalogue with rapidfuzz; ties above a threshold still require a human pick.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95344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8A870"/>
                </a:solidFill>
                <a:latin typeface="Georgia"/>
              </a:rPr>
              <a:t>Output: NO_CANDIDATE when nothing clears the bar.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8809" y="1847088"/>
            <a:ext cx="0" cy="405079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997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977" y="2148840"/>
            <a:ext cx="23552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Every number is computed.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977" y="2834640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Tier price from the customer's tier, stock from inventory movements, pack size from the catalogue 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977" y="3895344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8A870"/>
                </a:solidFill>
                <a:latin typeface="Georgia"/>
              </a:rPr>
              <a:t>The model's opinion is never used for a number.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0419" y="1847088"/>
            <a:ext cx="0" cy="405079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158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2148840"/>
            <a:ext cx="23552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An issue is a stop, not a warning.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1587" y="2834640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Insufficient stock, below-tier price, ambiguous unit, missing pack size, same-day duplicate.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895344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8A870"/>
                </a:solidFill>
                <a:latin typeface="Georgia"/>
              </a:rPr>
              <a:t>Each issue carries a code and a reason a clerk can act 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2029" y="1847088"/>
            <a:ext cx="0" cy="405079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2319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3197" y="2148840"/>
            <a:ext cx="23552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A message back, in her language.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197" y="2834640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Clarification draft in ms / en / zh, listing only unresolved issue ids.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197" y="3895344"/>
            <a:ext cx="235526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8A870"/>
                </a:solidFill>
                <a:latin typeface="Georgia"/>
              </a:rPr>
              <a:t>No PII, no claimed price, no claimed SKU.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358384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54315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Seven known unit gaps still block rather than guess. Blocking stops a wrong order; it does not mean the model is fixed.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13 · THE INTERFACE, IN THREE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15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The same order, read by three different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100049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One line that will not settle, the question drafted back to the customer, and the warehouse view that carries no prices.</a:t>
            </a:r>
          </a:p>
        </p:txBody>
      </p:sp>
      <p:pic>
        <p:nvPicPr>
          <p:cNvPr id="8" name="Picture 7" descr="ye-01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16" y="2304288"/>
            <a:ext cx="3890385" cy="2980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4316" y="5340095"/>
            <a:ext cx="3890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01 · a line that will not settle</a:t>
            </a:r>
          </a:p>
        </p:txBody>
      </p:sp>
      <p:pic>
        <p:nvPicPr>
          <p:cNvPr id="10" name="Picture 9" descr="ye-02-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869" y="2304288"/>
            <a:ext cx="1620078" cy="2980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5869" y="5340095"/>
            <a:ext cx="16200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02 · the question, drafted</a:t>
            </a:r>
          </a:p>
        </p:txBody>
      </p:sp>
      <p:pic>
        <p:nvPicPr>
          <p:cNvPr id="12" name="Picture 11" descr="ye-03-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115" y="2304288"/>
            <a:ext cx="3830263" cy="2980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7115" y="5340095"/>
            <a:ext cx="3830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03 · warehouse, four fields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5870448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Each role sees only its half — and the API, not the page, decides which half that 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14 · APPROVAL AND DELIVERY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16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An approval is a fact about a version, not a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VERSION-BOUND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5526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Every write carries expected_version. A tab that has been open for ten minutes cannot approve a draft someone else changed.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78809" y="1847088"/>
            <a:ext cx="0" cy="277063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997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9977" y="2148840"/>
            <a:ext cx="235526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A below-tier price or an override diverts the draft to PENDING_OWNER and locks it. The clerk cannot approve past the owner.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0419" y="1847088"/>
            <a:ext cx="0" cy="277063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158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REASON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148840"/>
            <a:ext cx="235526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owner cannot reject without a non-empty reason. A rejection closes the order; there is no delivery order to recover.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2029" y="1847088"/>
            <a:ext cx="0" cy="277063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2319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3197" y="2148840"/>
            <a:ext cx="235526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delivery order is issued from the approved version's snapshot, so printing later cannot drift from what was signed.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10128"/>
            <a:ext cx="10874959" cy="2542032"/>
          </a:xfrm>
          <a:prstGeom prst="roundRect">
            <a:avLst>
              <a:gd name="adj" fmla="val 5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7" y="3520440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 spc="150">
                <a:solidFill>
                  <a:srgbClr val="C8A870"/>
                </a:solidFill>
                <a:latin typeface="Segoe UI"/>
              </a:rPr>
              <a:t>THE ONE TRANSACTION THAT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3858768"/>
            <a:ext cx="10234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F0ECE3"/>
                </a:solidFill>
                <a:latin typeface="Georgia"/>
              </a:rPr>
              <a:t>A legacy client may still post confirmed_items. The backend then saves a new version, revalidates stock and escalation, approves it — and rolls the whole thing back if any step fails.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4864608"/>
            <a:ext cx="10234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9AA6B8"/>
                </a:solidFill>
                <a:latin typeface="Georgia"/>
              </a:rPr>
              <a:t>The response names the version actually approved. Unsaved details are never silently approved, and the path is marked deprecated rather than quietly removed.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15 · SECURITY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17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Customer data never leaves the merchant's tenant.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47088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9339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PII MASKING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0428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Only three tokens exist: [REDACTED_PHONE], [REDACTED_MYKAD], [REDACTED_EMAIL]. Empty rejection, no others.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0514" y="1847088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20514" y="199339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NO RAW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0514" y="230428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message_text is not logged, not stored, and not sent to the provider. Only masked_text crosses the boundary.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2660" y="1847088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2660" y="199339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SIZE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2660" y="230428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A masked message over 4,000 code points is refused with 422 MESSAGE_TOO_LONG, before any model call.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493008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63931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5020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Bearer session resolved server-side; GET /me returns workspace and role. The page cannot grant a role.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20514" y="3493008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20514" y="363931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0514" y="395020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Every business row carries tenant_id. Cross-tenant reads return 404, indistinguishable from missing.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2660" y="3493008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2660" y="3639312"/>
            <a:ext cx="33506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2660" y="3950208"/>
            <a:ext cx="33506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Environment only. .env.example ships empty. No key appears in code, docs, screenshots, or responses.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5413248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5046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F0ECE3"/>
                </a:solidFill>
                <a:latin typeface="Georgia"/>
              </a:rPr>
              <a:t>All demonstration data is synthetic and written by the team. No real customer message appears in this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16 · DEPLOYMENT AND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18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Four managed services, one static frontend.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74519"/>
            <a:ext cx="2355265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93392"/>
            <a:ext cx="235526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20">
                <a:solidFill>
                  <a:srgbClr val="C8A870"/>
                </a:solidFill>
                <a:latin typeface="Segoe UI"/>
              </a:rPr>
              <a:t>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9424"/>
            <a:ext cx="23552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Georgia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78608"/>
            <a:ext cx="235526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Static React build. No server for the demo to fall over.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9977" y="1874519"/>
            <a:ext cx="2355266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9977" y="1993392"/>
            <a:ext cx="235526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20">
                <a:solidFill>
                  <a:srgbClr val="C8A870"/>
                </a:solidFill>
                <a:latin typeface="Segoe UI"/>
              </a:rPr>
              <a:t>REPLIT AUTOSCALE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977" y="2249424"/>
            <a:ext cx="23552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Georgia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977" y="2578608"/>
            <a:ext cx="235526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2 vCPU / 4 GiB, Asia region. Scales to zero when idle.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1587" y="1874519"/>
            <a:ext cx="2355266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1587" y="1993392"/>
            <a:ext cx="235526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20">
                <a:solidFill>
                  <a:srgbClr val="C8A870"/>
                </a:solidFill>
                <a:latin typeface="Segoe UI"/>
              </a:rPr>
              <a:t>NEON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2249424"/>
            <a:ext cx="23552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Georgia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2578608"/>
            <a:ext cx="235526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PostgreSQL 17. Branchable; credentials private.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23197" y="1874519"/>
            <a:ext cx="2355266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23197" y="1993392"/>
            <a:ext cx="235526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20">
                <a:solidFill>
                  <a:srgbClr val="C8A870"/>
                </a:solidFill>
                <a:latin typeface="Segoe UI"/>
              </a:rPr>
              <a:t>RUNPOD SERVERLESS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3197" y="2249424"/>
            <a:ext cx="23552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0">
                <a:solidFill>
                  <a:srgbClr val="F0ECE3"/>
                </a:solidFill>
                <a:latin typeface="Georgia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3197" y="2578608"/>
            <a:ext cx="235526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Segoe UI"/>
              </a:rPr>
              <a:t>vLLM + Qwen2.5-7B-AWQ on 24 GB. Zero workers when not recording.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61188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CONTINUOUS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40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F0ECE3"/>
                </a:solidFill>
                <a:latin typeface="Segoe UI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3822192"/>
            <a:ext cx="4266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GitHub Actions runs pytest against an isolated PostgreSQL 17.10 service, plus ruff lint and format checks.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4597" y="3840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F0ECE3"/>
                </a:solidFill>
                <a:latin typeface="Segoe U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9037" y="3822192"/>
            <a:ext cx="4266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types:check regenerates the client from OpenAPI and fails on drift; then tests and a production build.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800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F0ECE3"/>
                </a:solidFill>
                <a:latin typeface="Segoe UI"/>
              </a:rPr>
              <a:t>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4782312"/>
            <a:ext cx="4266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openapi-typescript and ajv mean a backend field rename breaks the build, not the demo.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4597" y="4800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F0ECE3"/>
                </a:solidFill>
                <a:latin typeface="Segoe UI"/>
              </a:rPr>
              <a:t>Recorded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9037" y="4782312"/>
            <a:ext cx="4266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307 non-integration tests and a 407-test full suite at the last checkpoint; both are re-runnable.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5559552"/>
            <a:ext cx="10874959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5632704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8A870"/>
                </a:solidFill>
                <a:latin typeface="Georgia"/>
              </a:rPr>
              <a:t>Nothing on stage depends on a laptop: the tab is pre-opened, and every claim has a recorded run behind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17 · HOW WE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19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0" b="0" i="0">
                <a:solidFill>
                  <a:srgbClr val="F0ECE3"/>
                </a:solidFill>
                <a:latin typeface="Georgia"/>
              </a:rPr>
              <a:t>The answer key was written against the business rules, not the model.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8308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1109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development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15768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Six fields each. Written and frozen by the team before scoring.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20514" y="178308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20514" y="191109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0514" y="2441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fields per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2715768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Product, pack size, unit, quantity, tier price, condition. All six or nothing.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2660" y="1783080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2660" y="191109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2441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unit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660" y="2715768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Official unit evaluation. 24 correct, 7 known gaps, each blocks.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3749039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87705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407407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permission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81727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Seven categories: read, write, cross-tenant, override, method matrix.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20514" y="3749039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20514" y="387705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0514" y="4407407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HTTPS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0514" y="4681727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Concurrency suite over six runs; five approvals each produced one DO.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82660" y="3749039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2660" y="3877055"/>
            <a:ext cx="33506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0" i="0">
                <a:solidFill>
                  <a:srgbClr val="C8A870"/>
                </a:solidFill>
                <a:latin typeface="Georgia"/>
              </a:rPr>
              <a:t>SHA-256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2660" y="4407407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per frozen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2660" y="4681727"/>
            <a:ext cx="335066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A re-run can be checked rather than trusted.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5715000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Scoring is strict by construction: a case that gets five fields right scores the same as one that gets none.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18 · RECORDED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20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0ECE3"/>
                </a:solidFill>
                <a:latin typeface="Georgia"/>
              </a:rPr>
              <a:t>Six numbers we measured. One we can only model.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8308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911095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8/23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1460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cases pass all six fields 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independent answer key, 23 cases, 2026-10-30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20514" y="178308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20514" y="1911095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24/31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0514" y="251460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lines with a correct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289864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7 known gaps; every one blocks instead of guessing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2660" y="1783080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2660" y="1911095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251460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permission checks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660" y="289864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seven categories, including cross-tenant and override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379476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922776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2628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real HTTPS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1032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6 concurrency runs, 5 approvals, exactly 5 delivery orders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20514" y="3794760"/>
            <a:ext cx="3350666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20514" y="3922776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1.93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0514" y="452628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p50 parse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0514" y="491032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p95 3.63 s · production run 2026-10-30; call success, not accuracy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82660" y="3794760"/>
            <a:ext cx="3350667" cy="0"/>
          </a:xfrm>
          <a:prstGeom prst="line">
            <a:avLst/>
          </a:prstGeom>
          <a:ln w="1524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2660" y="3922776"/>
            <a:ext cx="33506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C8A870"/>
                </a:solidFill>
                <a:latin typeface="Georgia"/>
              </a:rPr>
              <a:t>US$0.4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2660" y="4526280"/>
            <a:ext cx="33506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0ECE3"/>
                </a:solidFill>
                <a:latin typeface="Segoe UI"/>
              </a:rPr>
              <a:t>per 1,000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2660" y="4910328"/>
            <a:ext cx="33506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9AA6B8"/>
                </a:solidFill>
                <a:latin typeface="Segoe UI"/>
              </a:rPr>
              <a:t>model time only, at US$0.00019 per GPU-second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576072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8521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What these are not: not an accuracy percentage, not an end-to-end handling time, and not a user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19 ·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21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What is not finished, named before you find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37360"/>
            <a:ext cx="335066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883664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12 workflow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TEST32 cases remain NOT_RUN. We do not claim an end-to-end acceptance suite.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0514" y="1737360"/>
            <a:ext cx="335066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20514" y="1883664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No independent UAT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0514" y="2267712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No third-party user acceptance testing and no real merchant trial. We do not claim adoption.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2660" y="1737360"/>
            <a:ext cx="3350667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2660" y="1883664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No measured handling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2660" y="2267712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Net-minutes-per-day is a formula. t₀ and t₁ are unmeasured; the pilot fills them.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438144"/>
            <a:ext cx="335066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584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68496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C13 did not pass in test; C10 (AI unavailable) is partial.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20514" y="3438144"/>
            <a:ext cx="3350666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20514" y="3584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Seven unit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0514" y="3968496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Known and open. Each one blocks in the business layer rather than guessing.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2660" y="3438144"/>
            <a:ext cx="3350667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2660" y="3584448"/>
            <a:ext cx="33506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0ECE3"/>
                </a:solidFill>
                <a:latin typeface="Georgia"/>
              </a:rPr>
              <a:t>Cold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2660" y="3968496"/>
            <a:ext cx="335066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live model can cold-start into fallback. The interface says so when it happens.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5230368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34009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0ECE3"/>
                </a:solidFill>
                <a:latin typeface="Georgia"/>
              </a:rPr>
              <a:t>A team that cannot name its limits has not measured them. Every line above has a record behind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20 · COMMERCIAL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22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10" b="0" i="0">
                <a:solidFill>
                  <a:srgbClr val="F0ECE3"/>
                </a:solidFill>
                <a:latin typeface="Georgia"/>
              </a:rPr>
              <a:t>A different shop, the same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0049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Changing merchant means changing configuration — seed data, catalogue, aliases, policy. Not code. That is what lets one build sell to a hundred shops.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331720"/>
          <a:ext cx="10872216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  <a:gridCol w="3831336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C8A870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C8A870"/>
                          </a:solidFill>
                          <a:latin typeface="Segoe UI"/>
                        </a:rPr>
                        <a:t>SINARAN FOOD SUPPLY  (T1)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C8A870"/>
                          </a:solidFill>
                          <a:latin typeface="Segoe UI"/>
                        </a:rPr>
                        <a:t>KILAT HARDWARE &amp; CLEANING  (T2)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80" i="1">
                          <a:solidFill>
                            <a:srgbClr val="9AA6B8"/>
                          </a:solidFill>
                          <a:latin typeface="Georgia"/>
                        </a:rPr>
                        <a:t>Category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Food wholesale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Hardware and cleaning supplies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80" i="1">
                          <a:solidFill>
                            <a:srgbClr val="9AA6B8"/>
                          </a:solidFill>
                          <a:latin typeface="Georgia"/>
                        </a:rPr>
                        <a:t>Products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80" i="1">
                          <a:solidFill>
                            <a:srgbClr val="9AA6B8"/>
                          </a:solidFill>
                          <a:latin typeface="Georgia"/>
                        </a:rPr>
                        <a:t>Inventory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795 units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450 units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80" i="1">
                          <a:solidFill>
                            <a:srgbClr val="9AA6B8"/>
                          </a:solidFill>
                          <a:latin typeface="Georgia"/>
                        </a:rPr>
                        <a:t>Customers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80" i="1">
                          <a:solidFill>
                            <a:srgbClr val="9AA6B8"/>
                          </a:solidFill>
                          <a:latin typeface="Georgia"/>
                        </a:rPr>
                        <a:t>Application code changed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i="0">
                          <a:solidFill>
                            <a:srgbClr val="F0ECE3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91440" marR="54864" marT="18288" marB="18288" anchor="ctr">
                    <a:noFill/>
                    <a:lnB w="9525" cap="flat" cmpd="sng" algn="ctr">
                      <a:solidFill>
                        <a:srgbClr val="2E3D5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349240"/>
            <a:ext cx="52199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Same code path. Two catalogues, two alias sets, two policies, two price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2096" y="5349240"/>
            <a:ext cx="51112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A870"/>
                </a:solidFill>
                <a:latin typeface="Georgia"/>
              </a:rPr>
              <a:t>Tenant isolation is enforced at the API: a T2 token asking for a T1 delivery order receives 404.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21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23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10" b="0" i="0">
                <a:solidFill>
                  <a:srgbClr val="F0ECE3"/>
                </a:solidFill>
                <a:latin typeface="Georgia"/>
              </a:rPr>
              <a:t>Charged per approved order. Never per seat.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BILLING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5526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One approved delivery order. Parsing, fallback, rejection and discard are free — we charge only when the merchant got a delivery order she approved.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78809" y="1847088"/>
            <a:ext cx="0" cy="281635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997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FREE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9977" y="2148840"/>
            <a:ext cx="235526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Runs on the rules path with no model call. A merchant adopts the discipline of approval and audit before paying anything.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0419" y="1847088"/>
            <a:ext cx="0" cy="281635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158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COST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148840"/>
            <a:ext cx="235526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Measured, not estimated: US$0.00019 per GPU-second on one 24 GB card; at p50 1.93 s that is about US$0.4 per 1,000 orders, model time only.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2029" y="1847088"/>
            <a:ext cx="0" cy="2816352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23197" y="1874519"/>
            <a:ext cx="235526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40">
                <a:solidFill>
                  <a:srgbClr val="C8A870"/>
                </a:solidFill>
                <a:latin typeface="Segoe UI"/>
              </a:rP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3197" y="2148840"/>
            <a:ext cx="235526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Not set. Freemium — N free orders a month, then per order — to be validated by interview in the pilot. We will not print a number we cannot defend.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73552"/>
            <a:ext cx="10874959" cy="2578608"/>
          </a:xfrm>
          <a:prstGeom prst="roundRect">
            <a:avLst>
              <a:gd name="adj" fmla="val 5000"/>
            </a:avLst>
          </a:prstGeom>
          <a:solidFill>
            <a:srgbClr val="243057"/>
          </a:solidFill>
          <a:ln w="9525">
            <a:solidFill>
              <a:srgbClr val="2E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7" y="3493008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 spc="150">
                <a:solidFill>
                  <a:srgbClr val="C8A870"/>
                </a:solidFill>
                <a:latin typeface="Segoe UI"/>
              </a:rPr>
              <a:t>TWO PAYERS, ONE 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3840480"/>
            <a:ext cx="10234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F0ECE3"/>
                </a:solidFill>
                <a:latin typeface="Georgia"/>
              </a:rPr>
              <a:t>The merchant, per approved order — revenue follows work she actually accepted, not seats she hopes to fill.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4846320"/>
            <a:ext cx="10234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9AA6B8"/>
                </a:solidFill>
                <a:latin typeface="Georgia"/>
              </a:rPr>
              <a:t>Orbyte, as a channel: order intake becomes one more capability it could sell to the SMEs it already serves.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22 · NEXT TWELVE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24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20" b="0" i="0">
                <a:solidFill>
                  <a:srgbClr val="F0ECE3"/>
                </a:solidFill>
                <a:latin typeface="Georgia"/>
              </a:rPr>
              <a:t>Three things, in order.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737360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865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Recorded, not 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407" y="1847088"/>
            <a:ext cx="5982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Everything in this deck is reproducible; none of it is a third-party acceptance. The gap is evidence, not features.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798063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9260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Q1–Q2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889503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One measured merchant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7" y="2907791"/>
            <a:ext cx="5982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A real shop, a real week. It measures t₀ and t₁ and fills the net-minutes formula — the one number we currently only model.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3858768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398678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Q2–Q3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3950207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Finish the workflow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7" y="3968496"/>
            <a:ext cx="5982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The twelve NOT_RUN cases, plus independent UAT. Acceptance from someone who did not write the product.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4919471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50474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40">
                <a:solidFill>
                  <a:srgbClr val="C8A870"/>
                </a:solidFill>
                <a:latin typeface="Segoe UI"/>
              </a:rPr>
              <a:t>Q3–Q4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501091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0ECE3"/>
                </a:solidFill>
                <a:latin typeface="Georgia"/>
              </a:rPr>
              <a:t>WhatsApp ingestion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7" y="5029199"/>
            <a:ext cx="5982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Segoe UI"/>
              </a:rPr>
              <a:t>Business API and business verification. A real dependency, not a weekend job — today the message is pasted 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598932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053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1">
                <a:solidFill>
                  <a:srgbClr val="C8A870"/>
                </a:solidFill>
                <a:latin typeface="Georgia"/>
              </a:rPr>
              <a:t>We would rather ship the pilot than the feature list.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23 · EVIDENCE, CAPTURED READ-ONLY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25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Three screenshots, three claims we can defend.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0049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Captured 2026-11-01 at 02:34 MYT against the deployed API. Read-only: no write, no approve, no reset.</a:t>
            </a:r>
          </a:p>
        </p:txBody>
      </p:sp>
      <p:pic>
        <p:nvPicPr>
          <p:cNvPr id="8" name="Picture 7" descr="he-01-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38" y="2267712"/>
            <a:ext cx="3189427" cy="1993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0538" y="4315968"/>
            <a:ext cx="31894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01 · approval blocked, v1.4.0</a:t>
            </a:r>
          </a:p>
        </p:txBody>
      </p:sp>
      <p:pic>
        <p:nvPicPr>
          <p:cNvPr id="10" name="Picture 9" descr="he-02-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134" y="2267712"/>
            <a:ext cx="3189427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1134" y="4315968"/>
            <a:ext cx="31894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02 · T2 reads T1 · 404</a:t>
            </a:r>
          </a:p>
        </p:txBody>
      </p:sp>
      <p:pic>
        <p:nvPicPr>
          <p:cNvPr id="12" name="Picture 11" descr="he-03-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729" y="2267712"/>
            <a:ext cx="3189427" cy="1993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91729" y="4315968"/>
            <a:ext cx="31894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03 · 41 / 41 permission 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5138928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248656"/>
            <a:ext cx="52199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The 404 is a fresh run, not a reused 403 or 409. The same script shows a T1 session reading the same object and receiving 200.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2096" y="5248656"/>
            <a:ext cx="511123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Session tokens are redacted before printing. No password and no real customer record appears in any frame.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24 · EVIDENCE, THE MODEL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26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A 4.1-second timeout, derived from a measured p95.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0049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Endpoint benchmark, 2026-11-01: twenty warm calls, all LLM, zero fallbacks. The RunPod console is shown in the same frame — not as a standalone claim.</a:t>
            </a:r>
          </a:p>
        </p:txBody>
      </p:sp>
      <p:pic>
        <p:nvPicPr>
          <p:cNvPr id="8" name="Picture 7" descr="xiong-01-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33" y="2194560"/>
            <a:ext cx="3767614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5033" y="4306824"/>
            <a:ext cx="37676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live API · v1.5.2 · happy path</a:t>
            </a:r>
          </a:p>
        </p:txBody>
      </p:sp>
      <p:pic>
        <p:nvPicPr>
          <p:cNvPr id="10" name="Picture 9" descr="xiong-04-com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814" y="2194560"/>
            <a:ext cx="5232847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3814" y="4306824"/>
            <a:ext cx="52328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 spc="60">
                <a:solidFill>
                  <a:srgbClr val="9AA6B8"/>
                </a:solidFill>
                <a:latin typeface="Segoe UI"/>
              </a:rPr>
              <a:t>benchmark + console, one frame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70916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800600"/>
            <a:ext cx="32226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0" b="0" i="0">
                <a:solidFill>
                  <a:srgbClr val="C8A870"/>
                </a:solidFill>
                <a:latin typeface="Georgia"/>
              </a:rPr>
              <a:t>198.5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30368"/>
            <a:ext cx="3222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historical true cold start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65066" y="4800600"/>
            <a:ext cx="0" cy="68580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94250" y="4800600"/>
            <a:ext cx="32226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0" b="0" i="0">
                <a:solidFill>
                  <a:srgbClr val="C8A870"/>
                </a:solidFill>
                <a:latin typeface="Georgia"/>
              </a:rPr>
              <a:t>3.15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5230368"/>
            <a:ext cx="3222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warm p95 · timeout 4.1 = round(p95 + 1 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90052" y="4800600"/>
            <a:ext cx="0" cy="68580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19236" y="4800600"/>
            <a:ext cx="32226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0" b="0" i="0">
                <a:solidFill>
                  <a:srgbClr val="C8A870"/>
                </a:solidFill>
                <a:latin typeface="Georgia"/>
              </a:rPr>
              <a:t>20 ·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9236" y="5230368"/>
            <a:ext cx="3222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0" i="0">
                <a:solidFill>
                  <a:srgbClr val="9AA6B8"/>
                </a:solidFill>
                <a:latin typeface="Segoe UI"/>
              </a:rPr>
              <a:t>warm calls · fallbacks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15000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9AA6B8"/>
                </a:solidFill>
                <a:latin typeface="Georgia"/>
              </a:rPr>
              <a:t>198.5 s is the historical scale-from-zero cold start, kept apart from this twenty-call benchmark. Reliability, not accuracy.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25 · EVIDENCE, THE FROZEN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27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77824"/>
            <a:ext cx="10331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0ECE3"/>
                </a:solidFill>
                <a:latin typeface="Georgia"/>
              </a:rPr>
              <a:t>The evaluation set was frozen before anything 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0049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Twenty-three cases, each with an expected verdict written down first. The hash block shows the files did not change afterwards.</a:t>
            </a:r>
          </a:p>
        </p:txBody>
      </p:sp>
      <p:pic>
        <p:nvPicPr>
          <p:cNvPr id="8" name="Picture 7" descr="zhou-01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4932575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16168" y="1920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011680"/>
            <a:ext cx="4245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F0ECE3"/>
                </a:solidFill>
                <a:latin typeface="Segoe UI"/>
              </a:rPr>
              <a:t>cases, frozen with expected verdicts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7889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880360"/>
            <a:ext cx="4245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F0ECE3"/>
                </a:solidFill>
                <a:latin typeface="Segoe UI"/>
              </a:rPr>
              <a:t>expected to pass all six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36576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C8A870"/>
                </a:solidFill>
                <a:latin typeface="Georgia"/>
              </a:rPr>
              <a:t>40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3749039"/>
            <a:ext cx="4245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F0ECE3"/>
                </a:solidFill>
                <a:latin typeface="Segoe UI"/>
              </a:rPr>
              <a:t>SKUs on one codebase, two tenants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16168" y="4617720"/>
            <a:ext cx="56171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16168" y="4736592"/>
            <a:ext cx="5571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B8"/>
                </a:solidFill>
                <a:latin typeface="Georgia"/>
              </a:rPr>
              <a:t>Verdicts in the matrix are expected values, not executed results: every case is still NOT_RUN. This page is evidence of rigour, not of a pass — which is why the limits page exists.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9352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 spc="150">
                <a:solidFill>
                  <a:srgbClr val="C8A870"/>
                </a:solidFill>
                <a:latin typeface="Segoe U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4206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90" b="0" i="0" spc="120">
                <a:solidFill>
                  <a:srgbClr val="9AA6B8"/>
                </a:solidFill>
                <a:latin typeface="Segoe UI"/>
              </a:rPr>
              <a:t>28 /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713232"/>
            <a:ext cx="10874959" cy="0"/>
          </a:xfrm>
          <a:prstGeom prst="line">
            <a:avLst/>
          </a:prstGeom>
          <a:ln w="9525">
            <a:solidFill>
              <a:srgbClr val="2E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783080"/>
            <a:ext cx="10874959" cy="1406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160" b="1" i="0">
                <a:solidFill>
                  <a:srgbClr val="F0ECE3"/>
                </a:solidFill>
                <a:latin typeface="Georgia"/>
              </a:rPr>
              <a:t>A wrong delivery costs more trust than a slow 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154680"/>
            <a:ext cx="10874959" cy="0"/>
          </a:xfrm>
          <a:prstGeom prst="line">
            <a:avLst/>
          </a:prstGeom>
          <a:ln w="19050">
            <a:solidFill>
              <a:srgbClr val="C8A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3310128"/>
            <a:ext cx="92437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0" i="1">
                <a:solidFill>
                  <a:srgbClr val="C8A870"/>
                </a:solidFill>
                <a:latin typeface="Georgia"/>
              </a:rPr>
              <a:t>So the product stops where a guess would cost money — and shows exactly who it asked.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720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 spc="150">
                <a:solidFill>
                  <a:srgbClr val="C8A870"/>
                </a:solidFill>
                <a:latin typeface="Segoe UI"/>
              </a:rPr>
              <a:t>WHAT WE WOULD LIKE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00600"/>
            <a:ext cx="1000496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9AA6B8"/>
                </a:solidFill>
                <a:latin typeface="Georgia"/>
              </a:rPr>
              <a:t>One merchant week, measured. A judge willing to break the demo. An Orbyte reviewer who reads the rules layer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150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 spc="30">
                <a:solidFill>
                  <a:srgbClr val="F0ECE3"/>
                </a:solidFill>
                <a:latin typeface="Segoe UI"/>
              </a:rPr>
              <a:t>Demo  hozier123.github.io/sdc-2026-team-project      Code  github.com/Hozier123/sdc-2026-team-project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89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 spc="40">
                <a:solidFill>
                  <a:srgbClr val="9AA6B8"/>
                </a:solidFill>
                <a:latin typeface="Segoe UI"/>
              </a:rPr>
              <a:t>Zhou Jingxi · He Minghao · Xiong Peicheng · Ye Lianghui · Zhan Zhengrong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KiraOrder for Orbyte — complete solution dossier</dc:title>
  <dc:subject>Problem, product, architecture, technology stack, evidence, and business model</dc:subject>
  <dc:creator>Falcons — Xiamen University Malaysia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